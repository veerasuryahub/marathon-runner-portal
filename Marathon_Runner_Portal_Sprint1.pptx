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Marathon Runner Portal is a Core Java 17 console application. No database, no Spring Boot, no external libraries. Everything is in one Java file of 1505 lines. It has two user roles: Runners and Admins. Data lives in ArrayList and HashMap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four key pillars: Problem (need a portal), Objective (build it in Java), Why (showcase OOP and Java skills), Output (working console app with exports). Emphasise this is a backend-only app — no UI, no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of the 8 feature modules. Emphasise that all 8 are implemented as console interactions — no web UI. Each feature maps to a specific class or method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of 20 user stories fully implemented. US16 (email verification) adapted to admin manual verification because SMTP is a web feature. US18 (scheduler) adapted to automatic 48-hour cutoff calculation using ChronoUnit — no background thread needed in console 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zones: Green = fully done, Orange = done in a console-appropriate way, Red = web-only features intentionally excluded. This shows the team understands scope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Six-layer architecture from top to bottom: Presentation (menus), Authentication (login/roles), Business Logic (6 manager classes), Validation (all rules), Data Storage (collections), Entities (5 data classes). Each layer talks only to the layer below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flow: JVM starts main(), seed data is loaded, banner prints, then the infinite while loop keeps showing the main menu. Register goes to UserMgr, Login checks role and routes to Admin or Runner menu. Every user action calls a manager which validates, stores to a collection, then displays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MarathonPortal.java is divided into 7 clearly labelled sections using comment banners. Section 1 = entities (data classes). Section 2 = in-memory DB. Section 3 = all business rules. Sections 4-6 = all menus. Section 7 = input/output helpers. Each section has a clear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tree shows every method and which methods call which others. main() is the root. It branches into main menu → register, login, exit. Login branches to Runner Menu (10 methods) and Admin Menu (7 methods). Each leaf method calls a Manager class which handles validation and storage.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manager modules surround the central main() coordinator. All modules share the same static collections — no module has its own private storage. UserMgr handles auth, RaceMgr handles events, RegMgr handles signups, TrainingMgr handles workouts, ForumMgr handles posts, AnalyticsMgr handles exports.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user story traced to the exact Java method, the validations applied, and which collection stores the data. This demonstrates complete traceability from requirement to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groups of validations: Registration (6 rules), Race/Registration (10 rules), Training/Forum (10 rules). Every rule throws a typed Exception with a clear error message. The menu method catches it and displays with err(). User is prompted to retry.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collections: five ArrayLists (users, races, training, registrations, forum posts), one HashMap (email→user for O(1) login lookup), one HashSet (email set for O(1) duplicate check). ArrayList chosen for ordered, iterable storage. HashMap/HashSet chosen for constant-time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OOP/Java concepts: Encapsulation (classes group data+logic), Abstraction (layered calls), Polymorphism (lambda comparators), Static members (shared collections), Inner classes (single-file design), Exception Handling (all validation throws), File Handling (CSV+log), Java Time API (all date logic).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TestPortal.java contains 14 automated test cases covering all major business rules. Run with: javac TestPortal.java &amp;&amp; java TestPortal. All 14 pass including the fixed DA-001 defect where a LaTeX symbol was in an error message. Manual testing covered boundaries, role separation, and integration flows.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potential defect scenarios reviewed. 7 are actively prevented by existing code. DA-001 (LaTeX notation in error message) was the only real defect found during the review — it was identified and fixed before this presentation. Zero critical defects remain.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structure: src/ has the two Java files (main app + test suite). exports/ and logs/ are auto-created by the application on startup. Root contains 9 documentation markdown files covering every aspect of the project. .gitignore excludes .class files, exports/, and logs/ from version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Six-step data flow: Input → Menu → Manager Validates → Object Created → Collection Updated → Output. This cycle repeats for every user action. The key insight is that all data mutation happens in Step 5 and all output happens in Step 6 — clear separation of concerns even within a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most likely invigilator questions with model answers. Key points to emphasise: ArrayList for ordered lists, HashMap for O(1) lookup, HashSet for O(1) duplicate check, Exception handling for user safety, role-based routing for security, readInt() for crash prevention.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Key achievements: 18 user stories implemented, 14 automated tests all pass, 1505 lines of well-structured code, 9 documentation files, 0 critical defects. Learning outcomes: OOP, Collections, Exception Handling, File I/O, Java Time API, Agile. Future scope: leaderboard, forum export, race cancellation refund, admin audit trail.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2188952" cy="54864"/>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515600" cy="1005840"/>
          </a:xfrm>
          <a:prstGeom prst="rect">
            <a:avLst/>
          </a:prstGeom>
          <a:noFill/>
        </p:spPr>
        <p:txBody>
          <a:bodyPr wrap="square">
            <a:spAutoFit/>
          </a:bodyPr>
          <a:lstStyle/>
          <a:p>
            <a:pPr algn="ctr"/>
            <a:r>
              <a:rPr sz="4400" b="1" i="0">
                <a:solidFill>
                  <a:srgbClr val="FFFFFF"/>
                </a:solidFill>
              </a:rPr>
              <a:t>MARATHON RUNNER PORTAL</a:t>
            </a:r>
          </a:p>
        </p:txBody>
      </p:sp>
      <p:sp>
        <p:nvSpPr>
          <p:cNvPr id="5" name="TextBox 4"/>
          <p:cNvSpPr txBox="1"/>
          <p:nvPr/>
        </p:nvSpPr>
        <p:spPr>
          <a:xfrm>
            <a:off x="640080" y="2240280"/>
            <a:ext cx="10515600" cy="457200"/>
          </a:xfrm>
          <a:prstGeom prst="rect">
            <a:avLst/>
          </a:prstGeom>
          <a:noFill/>
        </p:spPr>
        <p:txBody>
          <a:bodyPr wrap="square">
            <a:spAutoFit/>
          </a:bodyPr>
          <a:lstStyle/>
          <a:p>
            <a:pPr algn="ctr"/>
            <a:r>
              <a:rPr sz="1700" b="0" i="0">
                <a:solidFill>
                  <a:srgbClr val="00BFD8"/>
                </a:solidFill>
              </a:rPr>
              <a:t>Sprint 1 Review  ·  Java Console Application  ·  Core Java 17</a:t>
            </a:r>
          </a:p>
        </p:txBody>
      </p:sp>
      <p:sp>
        <p:nvSpPr>
          <p:cNvPr id="6" name="Rectangle 5"/>
          <p:cNvSpPr/>
          <p:nvPr/>
        </p:nvSpPr>
        <p:spPr>
          <a:xfrm>
            <a:off x="1234440" y="2971800"/>
            <a:ext cx="1737360" cy="34747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9304" y="2999232"/>
            <a:ext cx="1645920" cy="292608"/>
          </a:xfrm>
          <a:prstGeom prst="rect">
            <a:avLst/>
          </a:prstGeom>
          <a:noFill/>
        </p:spPr>
        <p:txBody>
          <a:bodyPr wrap="square">
            <a:spAutoFit/>
          </a:bodyPr>
          <a:lstStyle/>
          <a:p>
            <a:pPr algn="ctr"/>
            <a:r>
              <a:rPr sz="1000" b="1" i="0">
                <a:solidFill>
                  <a:srgbClr val="FFFFFF"/>
                </a:solidFill>
              </a:rPr>
              <a:t>Core Java 17</a:t>
            </a:r>
          </a:p>
        </p:txBody>
      </p:sp>
      <p:sp>
        <p:nvSpPr>
          <p:cNvPr id="8" name="Rectangle 7"/>
          <p:cNvSpPr/>
          <p:nvPr/>
        </p:nvSpPr>
        <p:spPr>
          <a:xfrm>
            <a:off x="3108959" y="2971800"/>
            <a:ext cx="1737360" cy="34747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3823" y="2999232"/>
            <a:ext cx="1645920" cy="292608"/>
          </a:xfrm>
          <a:prstGeom prst="rect">
            <a:avLst/>
          </a:prstGeom>
          <a:noFill/>
        </p:spPr>
        <p:txBody>
          <a:bodyPr wrap="square">
            <a:spAutoFit/>
          </a:bodyPr>
          <a:lstStyle/>
          <a:p>
            <a:pPr algn="ctr"/>
            <a:r>
              <a:rPr sz="1000" b="1" i="0">
                <a:solidFill>
                  <a:srgbClr val="FFFFFF"/>
                </a:solidFill>
              </a:rPr>
              <a:t>ArrayList / HashMap</a:t>
            </a:r>
          </a:p>
        </p:txBody>
      </p:sp>
      <p:sp>
        <p:nvSpPr>
          <p:cNvPr id="10" name="Rectangle 9"/>
          <p:cNvSpPr/>
          <p:nvPr/>
        </p:nvSpPr>
        <p:spPr>
          <a:xfrm>
            <a:off x="4983478" y="2971800"/>
            <a:ext cx="1737360" cy="34747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38342" y="2999232"/>
            <a:ext cx="1645920" cy="292608"/>
          </a:xfrm>
          <a:prstGeom prst="rect">
            <a:avLst/>
          </a:prstGeom>
          <a:noFill/>
        </p:spPr>
        <p:txBody>
          <a:bodyPr wrap="square">
            <a:spAutoFit/>
          </a:bodyPr>
          <a:lstStyle/>
          <a:p>
            <a:pPr algn="ctr"/>
            <a:r>
              <a:rPr sz="1000" b="1" i="0">
                <a:solidFill>
                  <a:srgbClr val="FFFFFF"/>
                </a:solidFill>
              </a:rPr>
              <a:t>No DB / No Spring</a:t>
            </a:r>
          </a:p>
        </p:txBody>
      </p:sp>
      <p:sp>
        <p:nvSpPr>
          <p:cNvPr id="12" name="Rectangle 11"/>
          <p:cNvSpPr/>
          <p:nvPr/>
        </p:nvSpPr>
        <p:spPr>
          <a:xfrm>
            <a:off x="6857997" y="2971800"/>
            <a:ext cx="1737360" cy="34747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12861" y="2999232"/>
            <a:ext cx="1645920" cy="292608"/>
          </a:xfrm>
          <a:prstGeom prst="rect">
            <a:avLst/>
          </a:prstGeom>
          <a:noFill/>
        </p:spPr>
        <p:txBody>
          <a:bodyPr wrap="square">
            <a:spAutoFit/>
          </a:bodyPr>
          <a:lstStyle/>
          <a:p>
            <a:pPr algn="ctr"/>
            <a:r>
              <a:rPr sz="1000" b="1" i="0">
                <a:solidFill>
                  <a:srgbClr val="FFFFFF"/>
                </a:solidFill>
              </a:rPr>
              <a:t>Single Java File</a:t>
            </a:r>
          </a:p>
        </p:txBody>
      </p:sp>
      <p:sp>
        <p:nvSpPr>
          <p:cNvPr id="14" name="Rectangle 13"/>
          <p:cNvSpPr/>
          <p:nvPr/>
        </p:nvSpPr>
        <p:spPr>
          <a:xfrm>
            <a:off x="8732516" y="2971800"/>
            <a:ext cx="1737360" cy="34747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87380" y="2999232"/>
            <a:ext cx="1645920" cy="292608"/>
          </a:xfrm>
          <a:prstGeom prst="rect">
            <a:avLst/>
          </a:prstGeom>
          <a:noFill/>
        </p:spPr>
        <p:txBody>
          <a:bodyPr wrap="square">
            <a:spAutoFit/>
          </a:bodyPr>
          <a:lstStyle/>
          <a:p>
            <a:pPr algn="ctr"/>
            <a:r>
              <a:rPr sz="1000" b="1" i="0">
                <a:solidFill>
                  <a:srgbClr val="FFFFFF"/>
                </a:solidFill>
              </a:rPr>
              <a:t>1505 Lines</a:t>
            </a:r>
          </a:p>
        </p:txBody>
      </p:sp>
      <p:sp>
        <p:nvSpPr>
          <p:cNvPr id="16" name="TextBox 15"/>
          <p:cNvSpPr txBox="1"/>
          <p:nvPr/>
        </p:nvSpPr>
        <p:spPr>
          <a:xfrm>
            <a:off x="1371600" y="3794760"/>
            <a:ext cx="9326880" cy="914400"/>
          </a:xfrm>
          <a:prstGeom prst="rect">
            <a:avLst/>
          </a:prstGeom>
          <a:noFill/>
        </p:spPr>
        <p:txBody>
          <a:bodyPr wrap="square">
            <a:spAutoFit/>
          </a:bodyPr>
          <a:lstStyle/>
          <a:p>
            <a:pPr algn="ctr"/>
            <a:r>
              <a:rPr sz="1300" b="0" i="0">
                <a:solidFill>
                  <a:srgbClr val="CCDDFF"/>
                </a:solidFill>
              </a:rPr>
              <a:t>A role-based Java Console Application for marathon runners and administrators.
Runners manage race registrations, training logs, and community forums.
Admins control events, users, analytics, and CSV exports.</a:t>
            </a:r>
          </a:p>
        </p:txBody>
      </p:sp>
      <p:sp>
        <p:nvSpPr>
          <p:cNvPr id="17" name="TextBox 16"/>
          <p:cNvSpPr txBox="1"/>
          <p:nvPr/>
        </p:nvSpPr>
        <p:spPr>
          <a:xfrm>
            <a:off x="640080" y="5303520"/>
            <a:ext cx="10515600" cy="320040"/>
          </a:xfrm>
          <a:prstGeom prst="rect">
            <a:avLst/>
          </a:prstGeom>
          <a:noFill/>
        </p:spPr>
        <p:txBody>
          <a:bodyPr wrap="square">
            <a:spAutoFit/>
          </a:bodyPr>
          <a:lstStyle/>
          <a:p>
            <a:pPr algn="ctr"/>
            <a:r>
              <a:rPr sz="1200" b="0" i="0">
                <a:solidFill>
                  <a:srgbClr val="9E9E9E"/>
                </a:solidFill>
              </a:rPr>
              <a:t>TCS ILP  ·  Agile Sprint 1</a:t>
            </a:r>
          </a:p>
        </p:txBody>
      </p:sp>
      <p:sp>
        <p:nvSpPr>
          <p:cNvPr id="18" name="TextBox 1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Project Overview</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Problem → Objective → Output</a:t>
            </a:r>
          </a:p>
        </p:txBody>
      </p:sp>
      <p:sp>
        <p:nvSpPr>
          <p:cNvPr id="6" name="Rectangle 5"/>
          <p:cNvSpPr/>
          <p:nvPr/>
        </p:nvSpPr>
        <p:spPr>
          <a:xfrm>
            <a:off x="320040" y="1234440"/>
            <a:ext cx="2834640" cy="44805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307592"/>
            <a:ext cx="2615184" cy="274320"/>
          </a:xfrm>
          <a:prstGeom prst="rect">
            <a:avLst/>
          </a:prstGeom>
          <a:noFill/>
        </p:spPr>
        <p:txBody>
          <a:bodyPr wrap="square">
            <a:spAutoFit/>
          </a:bodyPr>
          <a:lstStyle/>
          <a:p>
            <a:pPr algn="l"/>
            <a:r>
              <a:rPr sz="1200" b="1" i="0">
                <a:solidFill>
                  <a:srgbClr val="1A73E8"/>
                </a:solidFill>
              </a:rPr>
              <a:t>🏃  Problem Statement</a:t>
            </a:r>
          </a:p>
        </p:txBody>
      </p:sp>
      <p:sp>
        <p:nvSpPr>
          <p:cNvPr id="8" name="TextBox 7"/>
          <p:cNvSpPr txBox="1"/>
          <p:nvPr/>
        </p:nvSpPr>
        <p:spPr>
          <a:xfrm>
            <a:off x="429768" y="1581912"/>
            <a:ext cx="2615184" cy="4069080"/>
          </a:xfrm>
          <a:prstGeom prst="rect">
            <a:avLst/>
          </a:prstGeom>
          <a:noFill/>
        </p:spPr>
        <p:txBody>
          <a:bodyPr wrap="square">
            <a:spAutoFit/>
          </a:bodyPr>
          <a:lstStyle/>
          <a:p>
            <a:pPr algn="l"/>
            <a:r>
              <a:rPr sz="1000" b="0" i="0">
                <a:solidFill>
                  <a:srgbClr val="0D2B55"/>
                </a:solidFill>
              </a:rPr>
              <a:t>Runners need a centralized system to register for events, log workouts, and communicate. Admins need tools to manage races and participants.</a:t>
            </a:r>
          </a:p>
        </p:txBody>
      </p:sp>
      <p:sp>
        <p:nvSpPr>
          <p:cNvPr id="9" name="Rectangle 8"/>
          <p:cNvSpPr/>
          <p:nvPr/>
        </p:nvSpPr>
        <p:spPr>
          <a:xfrm>
            <a:off x="3282696" y="1234440"/>
            <a:ext cx="2834640" cy="44805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92424" y="1307592"/>
            <a:ext cx="2615184" cy="274320"/>
          </a:xfrm>
          <a:prstGeom prst="rect">
            <a:avLst/>
          </a:prstGeom>
          <a:noFill/>
        </p:spPr>
        <p:txBody>
          <a:bodyPr wrap="square">
            <a:spAutoFit/>
          </a:bodyPr>
          <a:lstStyle/>
          <a:p>
            <a:pPr algn="l"/>
            <a:r>
              <a:rPr sz="1200" b="1" i="0">
                <a:solidFill>
                  <a:srgbClr val="1A73E8"/>
                </a:solidFill>
              </a:rPr>
              <a:t>🎯  Objective</a:t>
            </a:r>
          </a:p>
        </p:txBody>
      </p:sp>
      <p:sp>
        <p:nvSpPr>
          <p:cNvPr id="11" name="TextBox 10"/>
          <p:cNvSpPr txBox="1"/>
          <p:nvPr/>
        </p:nvSpPr>
        <p:spPr>
          <a:xfrm>
            <a:off x="3392424" y="1581912"/>
            <a:ext cx="2615184" cy="4069080"/>
          </a:xfrm>
          <a:prstGeom prst="rect">
            <a:avLst/>
          </a:prstGeom>
          <a:noFill/>
        </p:spPr>
        <p:txBody>
          <a:bodyPr wrap="square">
            <a:spAutoFit/>
          </a:bodyPr>
          <a:lstStyle/>
          <a:p>
            <a:pPr algn="l"/>
            <a:r>
              <a:rPr sz="1000" b="0" i="0">
                <a:solidFill>
                  <a:srgbClr val="0D2B55"/>
                </a:solidFill>
              </a:rPr>
              <a:t>Build a role-based Java console app covering user management, race registration, training tracking, forum, and CSV analytics.</a:t>
            </a:r>
          </a:p>
        </p:txBody>
      </p:sp>
      <p:sp>
        <p:nvSpPr>
          <p:cNvPr id="12" name="Rectangle 11"/>
          <p:cNvSpPr/>
          <p:nvPr/>
        </p:nvSpPr>
        <p:spPr>
          <a:xfrm>
            <a:off x="6245352" y="1234440"/>
            <a:ext cx="2834640" cy="44805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07592"/>
            <a:ext cx="2615184" cy="274320"/>
          </a:xfrm>
          <a:prstGeom prst="rect">
            <a:avLst/>
          </a:prstGeom>
          <a:noFill/>
        </p:spPr>
        <p:txBody>
          <a:bodyPr wrap="square">
            <a:spAutoFit/>
          </a:bodyPr>
          <a:lstStyle/>
          <a:p>
            <a:pPr algn="l"/>
            <a:r>
              <a:rPr sz="1200" b="1" i="0">
                <a:solidFill>
                  <a:srgbClr val="1A73E8"/>
                </a:solidFill>
              </a:rPr>
              <a:t>💡  Why This Project?</a:t>
            </a:r>
          </a:p>
        </p:txBody>
      </p:sp>
      <p:sp>
        <p:nvSpPr>
          <p:cNvPr id="14" name="TextBox 13"/>
          <p:cNvSpPr txBox="1"/>
          <p:nvPr/>
        </p:nvSpPr>
        <p:spPr>
          <a:xfrm>
            <a:off x="6355080" y="1581912"/>
            <a:ext cx="2615184" cy="4069080"/>
          </a:xfrm>
          <a:prstGeom prst="rect">
            <a:avLst/>
          </a:prstGeom>
          <a:noFill/>
        </p:spPr>
        <p:txBody>
          <a:bodyPr wrap="square">
            <a:spAutoFit/>
          </a:bodyPr>
          <a:lstStyle/>
          <a:p>
            <a:pPr algn="l"/>
            <a:r>
              <a:rPr sz="1000" b="0" i="0">
                <a:solidFill>
                  <a:srgbClr val="0D2B55"/>
                </a:solidFill>
              </a:rPr>
              <a:t>Demonstrates OOP, Java Collections, exception handling, validation, and layered architecture — all in Core Java with no frameworks.</a:t>
            </a:r>
          </a:p>
        </p:txBody>
      </p:sp>
      <p:sp>
        <p:nvSpPr>
          <p:cNvPr id="15" name="Rectangle 14"/>
          <p:cNvSpPr/>
          <p:nvPr/>
        </p:nvSpPr>
        <p:spPr>
          <a:xfrm>
            <a:off x="9208008" y="1234440"/>
            <a:ext cx="2834640" cy="44805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17736" y="1307592"/>
            <a:ext cx="2615184" cy="274320"/>
          </a:xfrm>
          <a:prstGeom prst="rect">
            <a:avLst/>
          </a:prstGeom>
          <a:noFill/>
        </p:spPr>
        <p:txBody>
          <a:bodyPr wrap="square">
            <a:spAutoFit/>
          </a:bodyPr>
          <a:lstStyle/>
          <a:p>
            <a:pPr algn="l"/>
            <a:r>
              <a:rPr sz="1200" b="1" i="0">
                <a:solidFill>
                  <a:srgbClr val="1A73E8"/>
                </a:solidFill>
              </a:rPr>
              <a:t>📊  Expected Output</a:t>
            </a:r>
          </a:p>
        </p:txBody>
      </p:sp>
      <p:sp>
        <p:nvSpPr>
          <p:cNvPr id="17" name="TextBox 16"/>
          <p:cNvSpPr txBox="1"/>
          <p:nvPr/>
        </p:nvSpPr>
        <p:spPr>
          <a:xfrm>
            <a:off x="9317736" y="1581912"/>
            <a:ext cx="2615184" cy="4069080"/>
          </a:xfrm>
          <a:prstGeom prst="rect">
            <a:avLst/>
          </a:prstGeom>
          <a:noFill/>
        </p:spPr>
        <p:txBody>
          <a:bodyPr wrap="square">
            <a:spAutoFit/>
          </a:bodyPr>
          <a:lstStyle/>
          <a:p>
            <a:pPr algn="l"/>
            <a:r>
              <a:rPr sz="1000" b="0" i="0">
                <a:solidFill>
                  <a:srgbClr val="0D2B55"/>
                </a:solidFill>
              </a:rPr>
              <a:t>A fully working console application where runners and admins can log in, manage data, and export reports to CSV files.</a:t>
            </a:r>
          </a:p>
        </p:txBody>
      </p:sp>
      <p:sp>
        <p:nvSpPr>
          <p:cNvPr id="18" name="TextBox 1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Project Features</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8 Core Feature Modules</a:t>
            </a:r>
          </a:p>
        </p:txBody>
      </p:sp>
      <p:sp>
        <p:nvSpPr>
          <p:cNvPr id="6" name="Rectangle 5"/>
          <p:cNvSpPr/>
          <p:nvPr/>
        </p:nvSpPr>
        <p:spPr>
          <a:xfrm>
            <a:off x="274320" y="123444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07592"/>
            <a:ext cx="2615184" cy="274320"/>
          </a:xfrm>
          <a:prstGeom prst="rect">
            <a:avLst/>
          </a:prstGeom>
          <a:noFill/>
        </p:spPr>
        <p:txBody>
          <a:bodyPr wrap="square">
            <a:spAutoFit/>
          </a:bodyPr>
          <a:lstStyle/>
          <a:p>
            <a:pPr algn="l"/>
            <a:r>
              <a:rPr sz="1200" b="1" i="0">
                <a:solidFill>
                  <a:srgbClr val="1A73E8"/>
                </a:solidFill>
              </a:rPr>
              <a:t>👤  User Registration</a:t>
            </a:r>
          </a:p>
        </p:txBody>
      </p:sp>
      <p:sp>
        <p:nvSpPr>
          <p:cNvPr id="8" name="TextBox 7"/>
          <p:cNvSpPr txBox="1"/>
          <p:nvPr/>
        </p:nvSpPr>
        <p:spPr>
          <a:xfrm>
            <a:off x="384048" y="1581912"/>
            <a:ext cx="2615184" cy="2011680"/>
          </a:xfrm>
          <a:prstGeom prst="rect">
            <a:avLst/>
          </a:prstGeom>
          <a:noFill/>
        </p:spPr>
        <p:txBody>
          <a:bodyPr wrap="square">
            <a:spAutoFit/>
          </a:bodyPr>
          <a:lstStyle/>
          <a:p>
            <a:pPr algn="l"/>
            <a:r>
              <a:rPr sz="1000" b="0" i="0">
                <a:solidFill>
                  <a:srgbClr val="0D2B55"/>
                </a:solidFill>
              </a:rPr>
              <a:t>Email/password/age validation.
PENDING status until admin verifies.</a:t>
            </a:r>
          </a:p>
        </p:txBody>
      </p:sp>
      <p:sp>
        <p:nvSpPr>
          <p:cNvPr id="9" name="Rectangle 8"/>
          <p:cNvSpPr/>
          <p:nvPr/>
        </p:nvSpPr>
        <p:spPr>
          <a:xfrm>
            <a:off x="3246120" y="123444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307592"/>
            <a:ext cx="2615184" cy="274320"/>
          </a:xfrm>
          <a:prstGeom prst="rect">
            <a:avLst/>
          </a:prstGeom>
          <a:noFill/>
        </p:spPr>
        <p:txBody>
          <a:bodyPr wrap="square">
            <a:spAutoFit/>
          </a:bodyPr>
          <a:lstStyle/>
          <a:p>
            <a:pPr algn="l"/>
            <a:r>
              <a:rPr sz="1200" b="1" i="0">
                <a:solidFill>
                  <a:srgbClr val="1A73E8"/>
                </a:solidFill>
              </a:rPr>
              <a:t>🔐  Login &amp; Auth</a:t>
            </a:r>
          </a:p>
        </p:txBody>
      </p:sp>
      <p:sp>
        <p:nvSpPr>
          <p:cNvPr id="11" name="TextBox 10"/>
          <p:cNvSpPr txBox="1"/>
          <p:nvPr/>
        </p:nvSpPr>
        <p:spPr>
          <a:xfrm>
            <a:off x="3355848" y="1581912"/>
            <a:ext cx="2615184" cy="2011680"/>
          </a:xfrm>
          <a:prstGeom prst="rect">
            <a:avLst/>
          </a:prstGeom>
          <a:noFill/>
        </p:spPr>
        <p:txBody>
          <a:bodyPr wrap="square">
            <a:spAutoFit/>
          </a:bodyPr>
          <a:lstStyle/>
          <a:p>
            <a:pPr algn="l"/>
            <a:r>
              <a:rPr sz="1000" b="0" i="0">
                <a:solidFill>
                  <a:srgbClr val="0D2B55"/>
                </a:solidFill>
              </a:rPr>
              <a:t>Role-based dashboard.
5-attempt lockout for 30 minutes.</a:t>
            </a:r>
          </a:p>
        </p:txBody>
      </p:sp>
      <p:sp>
        <p:nvSpPr>
          <p:cNvPr id="12" name="Rectangle 11"/>
          <p:cNvSpPr/>
          <p:nvPr/>
        </p:nvSpPr>
        <p:spPr>
          <a:xfrm>
            <a:off x="6217920" y="123444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1307592"/>
            <a:ext cx="2615184" cy="274320"/>
          </a:xfrm>
          <a:prstGeom prst="rect">
            <a:avLst/>
          </a:prstGeom>
          <a:noFill/>
        </p:spPr>
        <p:txBody>
          <a:bodyPr wrap="square">
            <a:spAutoFit/>
          </a:bodyPr>
          <a:lstStyle/>
          <a:p>
            <a:pPr algn="l"/>
            <a:r>
              <a:rPr sz="1200" b="1" i="0">
                <a:solidFill>
                  <a:srgbClr val="1A73E8"/>
                </a:solidFill>
              </a:rPr>
              <a:t>🏁  Race Management</a:t>
            </a:r>
          </a:p>
        </p:txBody>
      </p:sp>
      <p:sp>
        <p:nvSpPr>
          <p:cNvPr id="14" name="TextBox 13"/>
          <p:cNvSpPr txBox="1"/>
          <p:nvPr/>
        </p:nvSpPr>
        <p:spPr>
          <a:xfrm>
            <a:off x="6327648" y="1581912"/>
            <a:ext cx="2615184" cy="2011680"/>
          </a:xfrm>
          <a:prstGeom prst="rect">
            <a:avLst/>
          </a:prstGeom>
          <a:noFill/>
        </p:spPr>
        <p:txBody>
          <a:bodyPr wrap="square">
            <a:spAutoFit/>
          </a:bodyPr>
          <a:lstStyle/>
          <a:p>
            <a:pPr algn="l"/>
            <a:r>
              <a:rPr sz="1000" b="0" i="0">
                <a:solidFill>
                  <a:srgbClr val="0D2B55"/>
                </a:solidFill>
              </a:rPr>
              <a:t>Admin creates/edits/deactivates races.
7-day future rule, unique names.</a:t>
            </a:r>
          </a:p>
        </p:txBody>
      </p:sp>
      <p:sp>
        <p:nvSpPr>
          <p:cNvPr id="15" name="Rectangle 14"/>
          <p:cNvSpPr/>
          <p:nvPr/>
        </p:nvSpPr>
        <p:spPr>
          <a:xfrm>
            <a:off x="9189720" y="123444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448" y="1307592"/>
            <a:ext cx="2615184" cy="274320"/>
          </a:xfrm>
          <a:prstGeom prst="rect">
            <a:avLst/>
          </a:prstGeom>
          <a:noFill/>
        </p:spPr>
        <p:txBody>
          <a:bodyPr wrap="square">
            <a:spAutoFit/>
          </a:bodyPr>
          <a:lstStyle/>
          <a:p>
            <a:pPr algn="l"/>
            <a:r>
              <a:rPr sz="1200" b="1" i="0">
                <a:solidFill>
                  <a:srgbClr val="1A73E8"/>
                </a:solidFill>
              </a:rPr>
              <a:t>📝  Training Logs</a:t>
            </a:r>
          </a:p>
        </p:txBody>
      </p:sp>
      <p:sp>
        <p:nvSpPr>
          <p:cNvPr id="17" name="TextBox 16"/>
          <p:cNvSpPr txBox="1"/>
          <p:nvPr/>
        </p:nvSpPr>
        <p:spPr>
          <a:xfrm>
            <a:off x="9299448" y="1581912"/>
            <a:ext cx="2615184" cy="2011680"/>
          </a:xfrm>
          <a:prstGeom prst="rect">
            <a:avLst/>
          </a:prstGeom>
          <a:noFill/>
        </p:spPr>
        <p:txBody>
          <a:bodyPr wrap="square">
            <a:spAutoFit/>
          </a:bodyPr>
          <a:lstStyle/>
          <a:p>
            <a:pPr algn="l"/>
            <a:r>
              <a:rPr sz="1000" b="0" i="0">
                <a:solidFill>
                  <a:srgbClr val="0D2B55"/>
                </a:solidFill>
              </a:rPr>
              <a:t>Log workouts with pace calc.
Pace &amp; outlier validations.</a:t>
            </a:r>
          </a:p>
        </p:txBody>
      </p:sp>
      <p:sp>
        <p:nvSpPr>
          <p:cNvPr id="18" name="Rectangle 17"/>
          <p:cNvSpPr/>
          <p:nvPr/>
        </p:nvSpPr>
        <p:spPr>
          <a:xfrm>
            <a:off x="274320" y="384048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913632"/>
            <a:ext cx="2615184" cy="274320"/>
          </a:xfrm>
          <a:prstGeom prst="rect">
            <a:avLst/>
          </a:prstGeom>
          <a:noFill/>
        </p:spPr>
        <p:txBody>
          <a:bodyPr wrap="square">
            <a:spAutoFit/>
          </a:bodyPr>
          <a:lstStyle/>
          <a:p>
            <a:pPr algn="l"/>
            <a:r>
              <a:rPr sz="1200" b="1" i="0">
                <a:solidFill>
                  <a:srgbClr val="1A73E8"/>
                </a:solidFill>
              </a:rPr>
              <a:t>💬  Community Forum</a:t>
            </a:r>
          </a:p>
        </p:txBody>
      </p:sp>
      <p:sp>
        <p:nvSpPr>
          <p:cNvPr id="20" name="TextBox 19"/>
          <p:cNvSpPr txBox="1"/>
          <p:nvPr/>
        </p:nvSpPr>
        <p:spPr>
          <a:xfrm>
            <a:off x="384048" y="4187952"/>
            <a:ext cx="2615184" cy="2011680"/>
          </a:xfrm>
          <a:prstGeom prst="rect">
            <a:avLst/>
          </a:prstGeom>
          <a:noFill/>
        </p:spPr>
        <p:txBody>
          <a:bodyPr wrap="square">
            <a:spAutoFit/>
          </a:bodyPr>
          <a:lstStyle/>
          <a:p>
            <a:pPr algn="l"/>
            <a:r>
              <a:rPr sz="1000" b="0" i="0">
                <a:solidFill>
                  <a:srgbClr val="0D2B55"/>
                </a:solidFill>
              </a:rPr>
              <a:t>Post, flag spam, URL review.
Admin approve / reject.</a:t>
            </a:r>
          </a:p>
        </p:txBody>
      </p:sp>
      <p:sp>
        <p:nvSpPr>
          <p:cNvPr id="21" name="Rectangle 20"/>
          <p:cNvSpPr/>
          <p:nvPr/>
        </p:nvSpPr>
        <p:spPr>
          <a:xfrm>
            <a:off x="3246120" y="384048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55848" y="3913632"/>
            <a:ext cx="2615184" cy="274320"/>
          </a:xfrm>
          <a:prstGeom prst="rect">
            <a:avLst/>
          </a:prstGeom>
          <a:noFill/>
        </p:spPr>
        <p:txBody>
          <a:bodyPr wrap="square">
            <a:spAutoFit/>
          </a:bodyPr>
          <a:lstStyle/>
          <a:p>
            <a:pPr algn="l"/>
            <a:r>
              <a:rPr sz="1200" b="1" i="0">
                <a:solidFill>
                  <a:srgbClr val="1A73E8"/>
                </a:solidFill>
              </a:rPr>
              <a:t>📊  Analytics</a:t>
            </a:r>
          </a:p>
        </p:txBody>
      </p:sp>
      <p:sp>
        <p:nvSpPr>
          <p:cNvPr id="23" name="TextBox 22"/>
          <p:cNvSpPr txBox="1"/>
          <p:nvPr/>
        </p:nvSpPr>
        <p:spPr>
          <a:xfrm>
            <a:off x="3355848" y="4187952"/>
            <a:ext cx="2615184" cy="2011680"/>
          </a:xfrm>
          <a:prstGeom prst="rect">
            <a:avLst/>
          </a:prstGeom>
          <a:noFill/>
        </p:spPr>
        <p:txBody>
          <a:bodyPr wrap="square">
            <a:spAutoFit/>
          </a:bodyPr>
          <a:lstStyle/>
          <a:p>
            <a:pPr algn="l"/>
            <a:r>
              <a:rPr sz="1000" b="0" i="0">
                <a:solidFill>
                  <a:srgbClr val="0D2B55"/>
                </a:solidFill>
              </a:rPr>
              <a:t>Dashboard stats for admin &amp; runner.
Runner training trends.</a:t>
            </a:r>
          </a:p>
        </p:txBody>
      </p:sp>
      <p:sp>
        <p:nvSpPr>
          <p:cNvPr id="24" name="Rectangle 23"/>
          <p:cNvSpPr/>
          <p:nvPr/>
        </p:nvSpPr>
        <p:spPr>
          <a:xfrm>
            <a:off x="6217920" y="384048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7648" y="3913632"/>
            <a:ext cx="2615184" cy="274320"/>
          </a:xfrm>
          <a:prstGeom prst="rect">
            <a:avLst/>
          </a:prstGeom>
          <a:noFill/>
        </p:spPr>
        <p:txBody>
          <a:bodyPr wrap="square">
            <a:spAutoFit/>
          </a:bodyPr>
          <a:lstStyle/>
          <a:p>
            <a:pPr algn="l"/>
            <a:r>
              <a:rPr sz="1200" b="1" i="0">
                <a:solidFill>
                  <a:srgbClr val="1A73E8"/>
                </a:solidFill>
              </a:rPr>
              <a:t>📁  CSV Reports</a:t>
            </a:r>
          </a:p>
        </p:txBody>
      </p:sp>
      <p:sp>
        <p:nvSpPr>
          <p:cNvPr id="26" name="TextBox 25"/>
          <p:cNvSpPr txBox="1"/>
          <p:nvPr/>
        </p:nvSpPr>
        <p:spPr>
          <a:xfrm>
            <a:off x="6327648" y="4187952"/>
            <a:ext cx="2615184" cy="2011680"/>
          </a:xfrm>
          <a:prstGeom prst="rect">
            <a:avLst/>
          </a:prstGeom>
          <a:noFill/>
        </p:spPr>
        <p:txBody>
          <a:bodyPr wrap="square">
            <a:spAutoFit/>
          </a:bodyPr>
          <a:lstStyle/>
          <a:p>
            <a:pPr algn="l"/>
            <a:r>
              <a:rPr sz="1000" b="0" i="0">
                <a:solidFill>
                  <a:srgbClr val="0D2B55"/>
                </a:solidFill>
              </a:rPr>
              <a:t>Export users, races, training logs.
Timestamped CSV files.</a:t>
            </a:r>
          </a:p>
        </p:txBody>
      </p:sp>
      <p:sp>
        <p:nvSpPr>
          <p:cNvPr id="27" name="Rectangle 26"/>
          <p:cNvSpPr/>
          <p:nvPr/>
        </p:nvSpPr>
        <p:spPr>
          <a:xfrm>
            <a:off x="9189720" y="3840480"/>
            <a:ext cx="2834640" cy="242316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99448" y="3913632"/>
            <a:ext cx="2615184" cy="274320"/>
          </a:xfrm>
          <a:prstGeom prst="rect">
            <a:avLst/>
          </a:prstGeom>
          <a:noFill/>
        </p:spPr>
        <p:txBody>
          <a:bodyPr wrap="square">
            <a:spAutoFit/>
          </a:bodyPr>
          <a:lstStyle/>
          <a:p>
            <a:pPr algn="l"/>
            <a:r>
              <a:rPr sz="1200" b="1" i="0">
                <a:solidFill>
                  <a:srgbClr val="1A73E8"/>
                </a:solidFill>
              </a:rPr>
              <a:t>👤  User Profile</a:t>
            </a:r>
          </a:p>
        </p:txBody>
      </p:sp>
      <p:sp>
        <p:nvSpPr>
          <p:cNvPr id="29" name="TextBox 28"/>
          <p:cNvSpPr txBox="1"/>
          <p:nvPr/>
        </p:nvSpPr>
        <p:spPr>
          <a:xfrm>
            <a:off x="9299448" y="4187952"/>
            <a:ext cx="2615184" cy="2011680"/>
          </a:xfrm>
          <a:prstGeom prst="rect">
            <a:avLst/>
          </a:prstGeom>
          <a:noFill/>
        </p:spPr>
        <p:txBody>
          <a:bodyPr wrap="square">
            <a:spAutoFit/>
          </a:bodyPr>
          <a:lstStyle/>
          <a:p>
            <a:pPr algn="l"/>
            <a:r>
              <a:rPr sz="1000" b="0" i="0">
                <a:solidFill>
                  <a:srgbClr val="0D2B55"/>
                </a:solidFill>
              </a:rPr>
              <a:t>View completed races, personal best.
Edit age &amp; phone only.</a:t>
            </a:r>
          </a:p>
        </p:txBody>
      </p:sp>
      <p:sp>
        <p:nvSpPr>
          <p:cNvPr id="30" name="TextBox 29"/>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Agile User Stories (US01 – US20)</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Sprint 1 Coverage</a:t>
            </a:r>
          </a:p>
        </p:txBody>
      </p:sp>
      <p:sp>
        <p:nvSpPr>
          <p:cNvPr id="6" name="Rectangle 5"/>
          <p:cNvSpPr/>
          <p:nvPr/>
        </p:nvSpPr>
        <p:spPr>
          <a:xfrm>
            <a:off x="228600" y="1143000"/>
            <a:ext cx="50292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70432"/>
            <a:ext cx="448056" cy="210312"/>
          </a:xfrm>
          <a:prstGeom prst="rect">
            <a:avLst/>
          </a:prstGeom>
          <a:noFill/>
        </p:spPr>
        <p:txBody>
          <a:bodyPr wrap="square">
            <a:spAutoFit/>
          </a:bodyPr>
          <a:lstStyle/>
          <a:p>
            <a:pPr algn="l"/>
            <a:r>
              <a:rPr sz="900" b="1" i="0">
                <a:solidFill>
                  <a:srgbClr val="FFFFFF"/>
                </a:solidFill>
              </a:rPr>
              <a:t>#</a:t>
            </a:r>
          </a:p>
        </p:txBody>
      </p:sp>
      <p:sp>
        <p:nvSpPr>
          <p:cNvPr id="8" name="Rectangle 7"/>
          <p:cNvSpPr/>
          <p:nvPr/>
        </p:nvSpPr>
        <p:spPr>
          <a:xfrm>
            <a:off x="731520" y="1143000"/>
            <a:ext cx="201168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70432"/>
            <a:ext cx="1956816" cy="210312"/>
          </a:xfrm>
          <a:prstGeom prst="rect">
            <a:avLst/>
          </a:prstGeom>
          <a:noFill/>
        </p:spPr>
        <p:txBody>
          <a:bodyPr wrap="square">
            <a:spAutoFit/>
          </a:bodyPr>
          <a:lstStyle/>
          <a:p>
            <a:pPr algn="l"/>
            <a:r>
              <a:rPr sz="900" b="1" i="0">
                <a:solidFill>
                  <a:srgbClr val="FFFFFF"/>
                </a:solidFill>
              </a:rPr>
              <a:t>User Story</a:t>
            </a:r>
          </a:p>
        </p:txBody>
      </p:sp>
      <p:sp>
        <p:nvSpPr>
          <p:cNvPr id="10" name="Rectangle 9"/>
          <p:cNvSpPr/>
          <p:nvPr/>
        </p:nvSpPr>
        <p:spPr>
          <a:xfrm>
            <a:off x="2743200" y="1143000"/>
            <a:ext cx="137160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170432"/>
            <a:ext cx="1316736" cy="210312"/>
          </a:xfrm>
          <a:prstGeom prst="rect">
            <a:avLst/>
          </a:prstGeom>
          <a:noFill/>
        </p:spPr>
        <p:txBody>
          <a:bodyPr wrap="square">
            <a:spAutoFit/>
          </a:bodyPr>
          <a:lstStyle/>
          <a:p>
            <a:pPr algn="l"/>
            <a:r>
              <a:rPr sz="900" b="1" i="0">
                <a:solidFill>
                  <a:srgbClr val="FFFFFF"/>
                </a:solidFill>
              </a:rPr>
              <a:t>Status</a:t>
            </a:r>
          </a:p>
        </p:txBody>
      </p:sp>
      <p:sp>
        <p:nvSpPr>
          <p:cNvPr id="12" name="Rectangle 11"/>
          <p:cNvSpPr/>
          <p:nvPr/>
        </p:nvSpPr>
        <p:spPr>
          <a:xfrm>
            <a:off x="4114800" y="1143000"/>
            <a:ext cx="173736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60520" y="1170432"/>
            <a:ext cx="1682496" cy="210312"/>
          </a:xfrm>
          <a:prstGeom prst="rect">
            <a:avLst/>
          </a:prstGeom>
          <a:noFill/>
        </p:spPr>
        <p:txBody>
          <a:bodyPr wrap="square">
            <a:spAutoFit/>
          </a:bodyPr>
          <a:lstStyle/>
          <a:p>
            <a:pPr algn="l"/>
            <a:r>
              <a:rPr sz="900" b="1" i="0">
                <a:solidFill>
                  <a:srgbClr val="FFFFFF"/>
                </a:solidFill>
              </a:rPr>
              <a:t>Method</a:t>
            </a:r>
          </a:p>
        </p:txBody>
      </p:sp>
      <p:sp>
        <p:nvSpPr>
          <p:cNvPr id="14" name="Rectangle 13"/>
          <p:cNvSpPr/>
          <p:nvPr/>
        </p:nvSpPr>
        <p:spPr>
          <a:xfrm>
            <a:off x="228600" y="1399032"/>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1417320"/>
            <a:ext cx="448056" cy="210312"/>
          </a:xfrm>
          <a:prstGeom prst="rect">
            <a:avLst/>
          </a:prstGeom>
          <a:noFill/>
        </p:spPr>
        <p:txBody>
          <a:bodyPr wrap="square">
            <a:spAutoFit/>
          </a:bodyPr>
          <a:lstStyle/>
          <a:p>
            <a:pPr algn="l"/>
            <a:r>
              <a:rPr sz="850" b="0" i="0">
                <a:solidFill>
                  <a:srgbClr val="0D2B55"/>
                </a:solidFill>
              </a:rPr>
              <a:t>US01</a:t>
            </a:r>
          </a:p>
        </p:txBody>
      </p:sp>
      <p:sp>
        <p:nvSpPr>
          <p:cNvPr id="16" name="Rectangle 15"/>
          <p:cNvSpPr/>
          <p:nvPr/>
        </p:nvSpPr>
        <p:spPr>
          <a:xfrm>
            <a:off x="731520" y="1399032"/>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417320"/>
            <a:ext cx="1956816" cy="210312"/>
          </a:xfrm>
          <a:prstGeom prst="rect">
            <a:avLst/>
          </a:prstGeom>
          <a:noFill/>
        </p:spPr>
        <p:txBody>
          <a:bodyPr wrap="square">
            <a:spAutoFit/>
          </a:bodyPr>
          <a:lstStyle/>
          <a:p>
            <a:pPr algn="l"/>
            <a:r>
              <a:rPr sz="850" b="0" i="0">
                <a:solidFill>
                  <a:srgbClr val="0D2B55"/>
                </a:solidFill>
              </a:rPr>
              <a:t>User Registration</a:t>
            </a:r>
          </a:p>
        </p:txBody>
      </p:sp>
      <p:sp>
        <p:nvSpPr>
          <p:cNvPr id="18" name="Rectangle 17"/>
          <p:cNvSpPr/>
          <p:nvPr/>
        </p:nvSpPr>
        <p:spPr>
          <a:xfrm>
            <a:off x="2743200" y="1399032"/>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1417320"/>
            <a:ext cx="1316736" cy="210312"/>
          </a:xfrm>
          <a:prstGeom prst="rect">
            <a:avLst/>
          </a:prstGeom>
          <a:noFill/>
        </p:spPr>
        <p:txBody>
          <a:bodyPr wrap="square">
            <a:spAutoFit/>
          </a:bodyPr>
          <a:lstStyle/>
          <a:p>
            <a:pPr algn="l"/>
            <a:r>
              <a:rPr sz="850" b="0" i="0">
                <a:solidFill>
                  <a:srgbClr val="34A853"/>
                </a:solidFill>
              </a:rPr>
              <a:t>✅ Implemented</a:t>
            </a:r>
          </a:p>
        </p:txBody>
      </p:sp>
      <p:sp>
        <p:nvSpPr>
          <p:cNvPr id="20" name="Rectangle 19"/>
          <p:cNvSpPr/>
          <p:nvPr/>
        </p:nvSpPr>
        <p:spPr>
          <a:xfrm>
            <a:off x="4114800" y="1399032"/>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60520" y="1417320"/>
            <a:ext cx="1682496" cy="210312"/>
          </a:xfrm>
          <a:prstGeom prst="rect">
            <a:avLst/>
          </a:prstGeom>
          <a:noFill/>
        </p:spPr>
        <p:txBody>
          <a:bodyPr wrap="square">
            <a:spAutoFit/>
          </a:bodyPr>
          <a:lstStyle/>
          <a:p>
            <a:pPr algn="l"/>
            <a:r>
              <a:rPr sz="850" b="0" i="0">
                <a:solidFill>
                  <a:srgbClr val="0D2B55"/>
                </a:solidFill>
              </a:rPr>
              <a:t>UserMgr.register()</a:t>
            </a:r>
          </a:p>
        </p:txBody>
      </p:sp>
      <p:sp>
        <p:nvSpPr>
          <p:cNvPr id="22" name="Rectangle 21"/>
          <p:cNvSpPr/>
          <p:nvPr/>
        </p:nvSpPr>
        <p:spPr>
          <a:xfrm>
            <a:off x="228600" y="1645920"/>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1664208"/>
            <a:ext cx="448056" cy="210312"/>
          </a:xfrm>
          <a:prstGeom prst="rect">
            <a:avLst/>
          </a:prstGeom>
          <a:noFill/>
        </p:spPr>
        <p:txBody>
          <a:bodyPr wrap="square">
            <a:spAutoFit/>
          </a:bodyPr>
          <a:lstStyle/>
          <a:p>
            <a:pPr algn="l"/>
            <a:r>
              <a:rPr sz="850" b="0" i="0">
                <a:solidFill>
                  <a:srgbClr val="0D2B55"/>
                </a:solidFill>
              </a:rPr>
              <a:t>US02</a:t>
            </a:r>
          </a:p>
        </p:txBody>
      </p:sp>
      <p:sp>
        <p:nvSpPr>
          <p:cNvPr id="24" name="Rectangle 23"/>
          <p:cNvSpPr/>
          <p:nvPr/>
        </p:nvSpPr>
        <p:spPr>
          <a:xfrm>
            <a:off x="731520" y="1645920"/>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1664208"/>
            <a:ext cx="1956816" cy="210312"/>
          </a:xfrm>
          <a:prstGeom prst="rect">
            <a:avLst/>
          </a:prstGeom>
          <a:noFill/>
        </p:spPr>
        <p:txBody>
          <a:bodyPr wrap="square">
            <a:spAutoFit/>
          </a:bodyPr>
          <a:lstStyle/>
          <a:p>
            <a:pPr algn="l"/>
            <a:r>
              <a:rPr sz="850" b="0" i="0">
                <a:solidFill>
                  <a:srgbClr val="0D2B55"/>
                </a:solidFill>
              </a:rPr>
              <a:t>Login &amp; Role Dashboard</a:t>
            </a:r>
          </a:p>
        </p:txBody>
      </p:sp>
      <p:sp>
        <p:nvSpPr>
          <p:cNvPr id="26" name="Rectangle 25"/>
          <p:cNvSpPr/>
          <p:nvPr/>
        </p:nvSpPr>
        <p:spPr>
          <a:xfrm>
            <a:off x="2743200" y="1645920"/>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8920" y="1664208"/>
            <a:ext cx="1316736" cy="210312"/>
          </a:xfrm>
          <a:prstGeom prst="rect">
            <a:avLst/>
          </a:prstGeom>
          <a:noFill/>
        </p:spPr>
        <p:txBody>
          <a:bodyPr wrap="square">
            <a:spAutoFit/>
          </a:bodyPr>
          <a:lstStyle/>
          <a:p>
            <a:pPr algn="l"/>
            <a:r>
              <a:rPr sz="850" b="0" i="0">
                <a:solidFill>
                  <a:srgbClr val="34A853"/>
                </a:solidFill>
              </a:rPr>
              <a:t>✅ Implemented</a:t>
            </a:r>
          </a:p>
        </p:txBody>
      </p:sp>
      <p:sp>
        <p:nvSpPr>
          <p:cNvPr id="28" name="Rectangle 27"/>
          <p:cNvSpPr/>
          <p:nvPr/>
        </p:nvSpPr>
        <p:spPr>
          <a:xfrm>
            <a:off x="4114800" y="1645920"/>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0520" y="1664208"/>
            <a:ext cx="1682496" cy="210312"/>
          </a:xfrm>
          <a:prstGeom prst="rect">
            <a:avLst/>
          </a:prstGeom>
          <a:noFill/>
        </p:spPr>
        <p:txBody>
          <a:bodyPr wrap="square">
            <a:spAutoFit/>
          </a:bodyPr>
          <a:lstStyle/>
          <a:p>
            <a:pPr algn="l"/>
            <a:r>
              <a:rPr sz="850" b="0" i="0">
                <a:solidFill>
                  <a:srgbClr val="0D2B55"/>
                </a:solidFill>
              </a:rPr>
              <a:t>UserMgr.login()</a:t>
            </a:r>
          </a:p>
        </p:txBody>
      </p:sp>
      <p:sp>
        <p:nvSpPr>
          <p:cNvPr id="30" name="Rectangle 29"/>
          <p:cNvSpPr/>
          <p:nvPr/>
        </p:nvSpPr>
        <p:spPr>
          <a:xfrm>
            <a:off x="228600" y="1892808"/>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1911096"/>
            <a:ext cx="448056" cy="210312"/>
          </a:xfrm>
          <a:prstGeom prst="rect">
            <a:avLst/>
          </a:prstGeom>
          <a:noFill/>
        </p:spPr>
        <p:txBody>
          <a:bodyPr wrap="square">
            <a:spAutoFit/>
          </a:bodyPr>
          <a:lstStyle/>
          <a:p>
            <a:pPr algn="l"/>
            <a:r>
              <a:rPr sz="850" b="0" i="0">
                <a:solidFill>
                  <a:srgbClr val="0D2B55"/>
                </a:solidFill>
              </a:rPr>
              <a:t>US03</a:t>
            </a:r>
          </a:p>
        </p:txBody>
      </p:sp>
      <p:sp>
        <p:nvSpPr>
          <p:cNvPr id="32" name="Rectangle 31"/>
          <p:cNvSpPr/>
          <p:nvPr/>
        </p:nvSpPr>
        <p:spPr>
          <a:xfrm>
            <a:off x="731520" y="1892808"/>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1911096"/>
            <a:ext cx="1956816" cy="210312"/>
          </a:xfrm>
          <a:prstGeom prst="rect">
            <a:avLst/>
          </a:prstGeom>
          <a:noFill/>
        </p:spPr>
        <p:txBody>
          <a:bodyPr wrap="square">
            <a:spAutoFit/>
          </a:bodyPr>
          <a:lstStyle/>
          <a:p>
            <a:pPr algn="l"/>
            <a:r>
              <a:rPr sz="850" b="0" i="0">
                <a:solidFill>
                  <a:srgbClr val="0D2B55"/>
                </a:solidFill>
              </a:rPr>
              <a:t>Race Listing &amp; Filter</a:t>
            </a:r>
          </a:p>
        </p:txBody>
      </p:sp>
      <p:sp>
        <p:nvSpPr>
          <p:cNvPr id="34" name="Rectangle 33"/>
          <p:cNvSpPr/>
          <p:nvPr/>
        </p:nvSpPr>
        <p:spPr>
          <a:xfrm>
            <a:off x="2743200" y="1892808"/>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1911096"/>
            <a:ext cx="1316736" cy="210312"/>
          </a:xfrm>
          <a:prstGeom prst="rect">
            <a:avLst/>
          </a:prstGeom>
          <a:noFill/>
        </p:spPr>
        <p:txBody>
          <a:bodyPr wrap="square">
            <a:spAutoFit/>
          </a:bodyPr>
          <a:lstStyle/>
          <a:p>
            <a:pPr algn="l"/>
            <a:r>
              <a:rPr sz="850" b="0" i="0">
                <a:solidFill>
                  <a:srgbClr val="34A853"/>
                </a:solidFill>
              </a:rPr>
              <a:t>✅ Implemented</a:t>
            </a:r>
          </a:p>
        </p:txBody>
      </p:sp>
      <p:sp>
        <p:nvSpPr>
          <p:cNvPr id="36" name="Rectangle 35"/>
          <p:cNvSpPr/>
          <p:nvPr/>
        </p:nvSpPr>
        <p:spPr>
          <a:xfrm>
            <a:off x="4114800" y="1892808"/>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60520" y="1911096"/>
            <a:ext cx="1682496" cy="210312"/>
          </a:xfrm>
          <a:prstGeom prst="rect">
            <a:avLst/>
          </a:prstGeom>
          <a:noFill/>
        </p:spPr>
        <p:txBody>
          <a:bodyPr wrap="square">
            <a:spAutoFit/>
          </a:bodyPr>
          <a:lstStyle/>
          <a:p>
            <a:pPr algn="l"/>
            <a:r>
              <a:rPr sz="850" b="0" i="0">
                <a:solidFill>
                  <a:srgbClr val="0D2B55"/>
                </a:solidFill>
              </a:rPr>
              <a:t>viewRaces()</a:t>
            </a:r>
          </a:p>
        </p:txBody>
      </p:sp>
      <p:sp>
        <p:nvSpPr>
          <p:cNvPr id="38" name="Rectangle 37"/>
          <p:cNvSpPr/>
          <p:nvPr/>
        </p:nvSpPr>
        <p:spPr>
          <a:xfrm>
            <a:off x="228600" y="2139696"/>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2157984"/>
            <a:ext cx="448056" cy="210312"/>
          </a:xfrm>
          <a:prstGeom prst="rect">
            <a:avLst/>
          </a:prstGeom>
          <a:noFill/>
        </p:spPr>
        <p:txBody>
          <a:bodyPr wrap="square">
            <a:spAutoFit/>
          </a:bodyPr>
          <a:lstStyle/>
          <a:p>
            <a:pPr algn="l"/>
            <a:r>
              <a:rPr sz="850" b="0" i="0">
                <a:solidFill>
                  <a:srgbClr val="0D2B55"/>
                </a:solidFill>
              </a:rPr>
              <a:t>US04</a:t>
            </a:r>
          </a:p>
        </p:txBody>
      </p:sp>
      <p:sp>
        <p:nvSpPr>
          <p:cNvPr id="40" name="Rectangle 39"/>
          <p:cNvSpPr/>
          <p:nvPr/>
        </p:nvSpPr>
        <p:spPr>
          <a:xfrm>
            <a:off x="731520" y="2139696"/>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2157984"/>
            <a:ext cx="1956816" cy="210312"/>
          </a:xfrm>
          <a:prstGeom prst="rect">
            <a:avLst/>
          </a:prstGeom>
          <a:noFill/>
        </p:spPr>
        <p:txBody>
          <a:bodyPr wrap="square">
            <a:spAutoFit/>
          </a:bodyPr>
          <a:lstStyle/>
          <a:p>
            <a:pPr algn="l"/>
            <a:r>
              <a:rPr sz="850" b="0" i="0">
                <a:solidFill>
                  <a:srgbClr val="0D2B55"/>
                </a:solidFill>
              </a:rPr>
              <a:t>Race Registration</a:t>
            </a:r>
          </a:p>
        </p:txBody>
      </p:sp>
      <p:sp>
        <p:nvSpPr>
          <p:cNvPr id="42" name="Rectangle 41"/>
          <p:cNvSpPr/>
          <p:nvPr/>
        </p:nvSpPr>
        <p:spPr>
          <a:xfrm>
            <a:off x="2743200" y="2139696"/>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88920" y="2157984"/>
            <a:ext cx="1316736" cy="210312"/>
          </a:xfrm>
          <a:prstGeom prst="rect">
            <a:avLst/>
          </a:prstGeom>
          <a:noFill/>
        </p:spPr>
        <p:txBody>
          <a:bodyPr wrap="square">
            <a:spAutoFit/>
          </a:bodyPr>
          <a:lstStyle/>
          <a:p>
            <a:pPr algn="l"/>
            <a:r>
              <a:rPr sz="850" b="0" i="0">
                <a:solidFill>
                  <a:srgbClr val="34A853"/>
                </a:solidFill>
              </a:rPr>
              <a:t>✅ Implemented</a:t>
            </a:r>
          </a:p>
        </p:txBody>
      </p:sp>
      <p:sp>
        <p:nvSpPr>
          <p:cNvPr id="44" name="Rectangle 43"/>
          <p:cNvSpPr/>
          <p:nvPr/>
        </p:nvSpPr>
        <p:spPr>
          <a:xfrm>
            <a:off x="4114800" y="2139696"/>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60520" y="2157984"/>
            <a:ext cx="1682496" cy="210312"/>
          </a:xfrm>
          <a:prstGeom prst="rect">
            <a:avLst/>
          </a:prstGeom>
          <a:noFill/>
        </p:spPr>
        <p:txBody>
          <a:bodyPr wrap="square">
            <a:spAutoFit/>
          </a:bodyPr>
          <a:lstStyle/>
          <a:p>
            <a:pPr algn="l"/>
            <a:r>
              <a:rPr sz="850" b="0" i="0">
                <a:solidFill>
                  <a:srgbClr val="0D2B55"/>
                </a:solidFill>
              </a:rPr>
              <a:t>RegMgr.register()</a:t>
            </a:r>
          </a:p>
        </p:txBody>
      </p:sp>
      <p:sp>
        <p:nvSpPr>
          <p:cNvPr id="46" name="Rectangle 45"/>
          <p:cNvSpPr/>
          <p:nvPr/>
        </p:nvSpPr>
        <p:spPr>
          <a:xfrm>
            <a:off x="228600" y="2386584"/>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4320" y="2404872"/>
            <a:ext cx="448056" cy="210312"/>
          </a:xfrm>
          <a:prstGeom prst="rect">
            <a:avLst/>
          </a:prstGeom>
          <a:noFill/>
        </p:spPr>
        <p:txBody>
          <a:bodyPr wrap="square">
            <a:spAutoFit/>
          </a:bodyPr>
          <a:lstStyle/>
          <a:p>
            <a:pPr algn="l"/>
            <a:r>
              <a:rPr sz="850" b="0" i="0">
                <a:solidFill>
                  <a:srgbClr val="0D2B55"/>
                </a:solidFill>
              </a:rPr>
              <a:t>US05</a:t>
            </a:r>
          </a:p>
        </p:txBody>
      </p:sp>
      <p:sp>
        <p:nvSpPr>
          <p:cNvPr id="48" name="Rectangle 47"/>
          <p:cNvSpPr/>
          <p:nvPr/>
        </p:nvSpPr>
        <p:spPr>
          <a:xfrm>
            <a:off x="731520" y="2386584"/>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2404872"/>
            <a:ext cx="1956816" cy="210312"/>
          </a:xfrm>
          <a:prstGeom prst="rect">
            <a:avLst/>
          </a:prstGeom>
          <a:noFill/>
        </p:spPr>
        <p:txBody>
          <a:bodyPr wrap="square">
            <a:spAutoFit/>
          </a:bodyPr>
          <a:lstStyle/>
          <a:p>
            <a:pPr algn="l"/>
            <a:r>
              <a:rPr sz="850" b="0" i="0">
                <a:solidFill>
                  <a:srgbClr val="0D2B55"/>
                </a:solidFill>
              </a:rPr>
              <a:t>Training Log</a:t>
            </a:r>
          </a:p>
        </p:txBody>
      </p:sp>
      <p:sp>
        <p:nvSpPr>
          <p:cNvPr id="50" name="Rectangle 49"/>
          <p:cNvSpPr/>
          <p:nvPr/>
        </p:nvSpPr>
        <p:spPr>
          <a:xfrm>
            <a:off x="2743200" y="2386584"/>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88920" y="2404872"/>
            <a:ext cx="1316736" cy="210312"/>
          </a:xfrm>
          <a:prstGeom prst="rect">
            <a:avLst/>
          </a:prstGeom>
          <a:noFill/>
        </p:spPr>
        <p:txBody>
          <a:bodyPr wrap="square">
            <a:spAutoFit/>
          </a:bodyPr>
          <a:lstStyle/>
          <a:p>
            <a:pPr algn="l"/>
            <a:r>
              <a:rPr sz="850" b="0" i="0">
                <a:solidFill>
                  <a:srgbClr val="34A853"/>
                </a:solidFill>
              </a:rPr>
              <a:t>✅ Implemented</a:t>
            </a:r>
          </a:p>
        </p:txBody>
      </p:sp>
      <p:sp>
        <p:nvSpPr>
          <p:cNvPr id="52" name="Rectangle 51"/>
          <p:cNvSpPr/>
          <p:nvPr/>
        </p:nvSpPr>
        <p:spPr>
          <a:xfrm>
            <a:off x="4114800" y="2386584"/>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60520" y="2404872"/>
            <a:ext cx="1682496" cy="210312"/>
          </a:xfrm>
          <a:prstGeom prst="rect">
            <a:avLst/>
          </a:prstGeom>
          <a:noFill/>
        </p:spPr>
        <p:txBody>
          <a:bodyPr wrap="square">
            <a:spAutoFit/>
          </a:bodyPr>
          <a:lstStyle/>
          <a:p>
            <a:pPr algn="l"/>
            <a:r>
              <a:rPr sz="850" b="0" i="0">
                <a:solidFill>
                  <a:srgbClr val="0D2B55"/>
                </a:solidFill>
              </a:rPr>
              <a:t>TrainingMgr.addLog()</a:t>
            </a:r>
          </a:p>
        </p:txBody>
      </p:sp>
      <p:sp>
        <p:nvSpPr>
          <p:cNvPr id="54" name="Rectangle 53"/>
          <p:cNvSpPr/>
          <p:nvPr/>
        </p:nvSpPr>
        <p:spPr>
          <a:xfrm>
            <a:off x="228600" y="2633472"/>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2651760"/>
            <a:ext cx="448056" cy="210312"/>
          </a:xfrm>
          <a:prstGeom prst="rect">
            <a:avLst/>
          </a:prstGeom>
          <a:noFill/>
        </p:spPr>
        <p:txBody>
          <a:bodyPr wrap="square">
            <a:spAutoFit/>
          </a:bodyPr>
          <a:lstStyle/>
          <a:p>
            <a:pPr algn="l"/>
            <a:r>
              <a:rPr sz="850" b="0" i="0">
                <a:solidFill>
                  <a:srgbClr val="0D2B55"/>
                </a:solidFill>
              </a:rPr>
              <a:t>US06</a:t>
            </a:r>
          </a:p>
        </p:txBody>
      </p:sp>
      <p:sp>
        <p:nvSpPr>
          <p:cNvPr id="56" name="Rectangle 55"/>
          <p:cNvSpPr/>
          <p:nvPr/>
        </p:nvSpPr>
        <p:spPr>
          <a:xfrm>
            <a:off x="731520" y="2633472"/>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2651760"/>
            <a:ext cx="1956816" cy="210312"/>
          </a:xfrm>
          <a:prstGeom prst="rect">
            <a:avLst/>
          </a:prstGeom>
          <a:noFill/>
        </p:spPr>
        <p:txBody>
          <a:bodyPr wrap="square">
            <a:spAutoFit/>
          </a:bodyPr>
          <a:lstStyle/>
          <a:p>
            <a:pPr algn="l"/>
            <a:r>
              <a:rPr sz="850" b="0" i="0">
                <a:solidFill>
                  <a:srgbClr val="0D2B55"/>
                </a:solidFill>
              </a:rPr>
              <a:t>Training Dashboard</a:t>
            </a:r>
          </a:p>
        </p:txBody>
      </p:sp>
      <p:sp>
        <p:nvSpPr>
          <p:cNvPr id="58" name="Rectangle 57"/>
          <p:cNvSpPr/>
          <p:nvPr/>
        </p:nvSpPr>
        <p:spPr>
          <a:xfrm>
            <a:off x="2743200" y="2633472"/>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88920" y="2651760"/>
            <a:ext cx="1316736" cy="210312"/>
          </a:xfrm>
          <a:prstGeom prst="rect">
            <a:avLst/>
          </a:prstGeom>
          <a:noFill/>
        </p:spPr>
        <p:txBody>
          <a:bodyPr wrap="square">
            <a:spAutoFit/>
          </a:bodyPr>
          <a:lstStyle/>
          <a:p>
            <a:pPr algn="l"/>
            <a:r>
              <a:rPr sz="850" b="0" i="0">
                <a:solidFill>
                  <a:srgbClr val="34A853"/>
                </a:solidFill>
              </a:rPr>
              <a:t>✅ Implemented</a:t>
            </a:r>
          </a:p>
        </p:txBody>
      </p:sp>
      <p:sp>
        <p:nvSpPr>
          <p:cNvPr id="60" name="Rectangle 59"/>
          <p:cNvSpPr/>
          <p:nvPr/>
        </p:nvSpPr>
        <p:spPr>
          <a:xfrm>
            <a:off x="4114800" y="2633472"/>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60520" y="2651760"/>
            <a:ext cx="1682496" cy="210312"/>
          </a:xfrm>
          <a:prstGeom prst="rect">
            <a:avLst/>
          </a:prstGeom>
          <a:noFill/>
        </p:spPr>
        <p:txBody>
          <a:bodyPr wrap="square">
            <a:spAutoFit/>
          </a:bodyPr>
          <a:lstStyle/>
          <a:p>
            <a:pPr algn="l"/>
            <a:r>
              <a:rPr sz="850" b="0" i="0">
                <a:solidFill>
                  <a:srgbClr val="0D2B55"/>
                </a:solidFill>
              </a:rPr>
              <a:t>viewTrainingDashboard()</a:t>
            </a:r>
          </a:p>
        </p:txBody>
      </p:sp>
      <p:sp>
        <p:nvSpPr>
          <p:cNvPr id="62" name="Rectangle 61"/>
          <p:cNvSpPr/>
          <p:nvPr/>
        </p:nvSpPr>
        <p:spPr>
          <a:xfrm>
            <a:off x="228600" y="2880360"/>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4320" y="2898648"/>
            <a:ext cx="448056" cy="210312"/>
          </a:xfrm>
          <a:prstGeom prst="rect">
            <a:avLst/>
          </a:prstGeom>
          <a:noFill/>
        </p:spPr>
        <p:txBody>
          <a:bodyPr wrap="square">
            <a:spAutoFit/>
          </a:bodyPr>
          <a:lstStyle/>
          <a:p>
            <a:pPr algn="l"/>
            <a:r>
              <a:rPr sz="850" b="0" i="0">
                <a:solidFill>
                  <a:srgbClr val="0D2B55"/>
                </a:solidFill>
              </a:rPr>
              <a:t>US07</a:t>
            </a:r>
          </a:p>
        </p:txBody>
      </p:sp>
      <p:sp>
        <p:nvSpPr>
          <p:cNvPr id="64" name="Rectangle 63"/>
          <p:cNvSpPr/>
          <p:nvPr/>
        </p:nvSpPr>
        <p:spPr>
          <a:xfrm>
            <a:off x="731520" y="2880360"/>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7240" y="2898648"/>
            <a:ext cx="1956816" cy="210312"/>
          </a:xfrm>
          <a:prstGeom prst="rect">
            <a:avLst/>
          </a:prstGeom>
          <a:noFill/>
        </p:spPr>
        <p:txBody>
          <a:bodyPr wrap="square">
            <a:spAutoFit/>
          </a:bodyPr>
          <a:lstStyle/>
          <a:p>
            <a:pPr algn="l"/>
            <a:r>
              <a:rPr sz="850" b="0" i="0">
                <a:solidFill>
                  <a:srgbClr val="0D2B55"/>
                </a:solidFill>
              </a:rPr>
              <a:t>Community Forum</a:t>
            </a:r>
          </a:p>
        </p:txBody>
      </p:sp>
      <p:sp>
        <p:nvSpPr>
          <p:cNvPr id="66" name="Rectangle 65"/>
          <p:cNvSpPr/>
          <p:nvPr/>
        </p:nvSpPr>
        <p:spPr>
          <a:xfrm>
            <a:off x="2743200" y="2880360"/>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88920" y="2898648"/>
            <a:ext cx="1316736" cy="210312"/>
          </a:xfrm>
          <a:prstGeom prst="rect">
            <a:avLst/>
          </a:prstGeom>
          <a:noFill/>
        </p:spPr>
        <p:txBody>
          <a:bodyPr wrap="square">
            <a:spAutoFit/>
          </a:bodyPr>
          <a:lstStyle/>
          <a:p>
            <a:pPr algn="l"/>
            <a:r>
              <a:rPr sz="850" b="0" i="0">
                <a:solidFill>
                  <a:srgbClr val="34A853"/>
                </a:solidFill>
              </a:rPr>
              <a:t>✅ Implemented</a:t>
            </a:r>
          </a:p>
        </p:txBody>
      </p:sp>
      <p:sp>
        <p:nvSpPr>
          <p:cNvPr id="68" name="Rectangle 67"/>
          <p:cNvSpPr/>
          <p:nvPr/>
        </p:nvSpPr>
        <p:spPr>
          <a:xfrm>
            <a:off x="4114800" y="2880360"/>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160520" y="2898648"/>
            <a:ext cx="1682496" cy="210312"/>
          </a:xfrm>
          <a:prstGeom prst="rect">
            <a:avLst/>
          </a:prstGeom>
          <a:noFill/>
        </p:spPr>
        <p:txBody>
          <a:bodyPr wrap="square">
            <a:spAutoFit/>
          </a:bodyPr>
          <a:lstStyle/>
          <a:p>
            <a:pPr algn="l"/>
            <a:r>
              <a:rPr sz="850" b="0" i="0">
                <a:solidFill>
                  <a:srgbClr val="0D2B55"/>
                </a:solidFill>
              </a:rPr>
              <a:t>ForumMgr.submit()</a:t>
            </a:r>
          </a:p>
        </p:txBody>
      </p:sp>
      <p:sp>
        <p:nvSpPr>
          <p:cNvPr id="70" name="Rectangle 69"/>
          <p:cNvSpPr/>
          <p:nvPr/>
        </p:nvSpPr>
        <p:spPr>
          <a:xfrm>
            <a:off x="228600" y="3127248"/>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74320" y="3145536"/>
            <a:ext cx="448056" cy="210312"/>
          </a:xfrm>
          <a:prstGeom prst="rect">
            <a:avLst/>
          </a:prstGeom>
          <a:noFill/>
        </p:spPr>
        <p:txBody>
          <a:bodyPr wrap="square">
            <a:spAutoFit/>
          </a:bodyPr>
          <a:lstStyle/>
          <a:p>
            <a:pPr algn="l"/>
            <a:r>
              <a:rPr sz="850" b="0" i="0">
                <a:solidFill>
                  <a:srgbClr val="0D2B55"/>
                </a:solidFill>
              </a:rPr>
              <a:t>US08</a:t>
            </a:r>
          </a:p>
        </p:txBody>
      </p:sp>
      <p:sp>
        <p:nvSpPr>
          <p:cNvPr id="72" name="Rectangle 71"/>
          <p:cNvSpPr/>
          <p:nvPr/>
        </p:nvSpPr>
        <p:spPr>
          <a:xfrm>
            <a:off x="731520" y="3127248"/>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7240" y="3145536"/>
            <a:ext cx="1956816" cy="210312"/>
          </a:xfrm>
          <a:prstGeom prst="rect">
            <a:avLst/>
          </a:prstGeom>
          <a:noFill/>
        </p:spPr>
        <p:txBody>
          <a:bodyPr wrap="square">
            <a:spAutoFit/>
          </a:bodyPr>
          <a:lstStyle/>
          <a:p>
            <a:pPr algn="l"/>
            <a:r>
              <a:rPr sz="850" b="0" i="0">
                <a:solidFill>
                  <a:srgbClr val="0D2B55"/>
                </a:solidFill>
              </a:rPr>
              <a:t>User Profile</a:t>
            </a:r>
          </a:p>
        </p:txBody>
      </p:sp>
      <p:sp>
        <p:nvSpPr>
          <p:cNvPr id="74" name="Rectangle 73"/>
          <p:cNvSpPr/>
          <p:nvPr/>
        </p:nvSpPr>
        <p:spPr>
          <a:xfrm>
            <a:off x="2743200" y="3127248"/>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788920" y="3145536"/>
            <a:ext cx="1316736" cy="210312"/>
          </a:xfrm>
          <a:prstGeom prst="rect">
            <a:avLst/>
          </a:prstGeom>
          <a:noFill/>
        </p:spPr>
        <p:txBody>
          <a:bodyPr wrap="square">
            <a:spAutoFit/>
          </a:bodyPr>
          <a:lstStyle/>
          <a:p>
            <a:pPr algn="l"/>
            <a:r>
              <a:rPr sz="850" b="0" i="0">
                <a:solidFill>
                  <a:srgbClr val="34A853"/>
                </a:solidFill>
              </a:rPr>
              <a:t>✅ Implemented</a:t>
            </a:r>
          </a:p>
        </p:txBody>
      </p:sp>
      <p:sp>
        <p:nvSpPr>
          <p:cNvPr id="76" name="Rectangle 75"/>
          <p:cNvSpPr/>
          <p:nvPr/>
        </p:nvSpPr>
        <p:spPr>
          <a:xfrm>
            <a:off x="4114800" y="3127248"/>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60520" y="3145536"/>
            <a:ext cx="1682496" cy="210312"/>
          </a:xfrm>
          <a:prstGeom prst="rect">
            <a:avLst/>
          </a:prstGeom>
          <a:noFill/>
        </p:spPr>
        <p:txBody>
          <a:bodyPr wrap="square">
            <a:spAutoFit/>
          </a:bodyPr>
          <a:lstStyle/>
          <a:p>
            <a:pPr algn="l"/>
            <a:r>
              <a:rPr sz="850" b="0" i="0">
                <a:solidFill>
                  <a:srgbClr val="0D2B55"/>
                </a:solidFill>
              </a:rPr>
              <a:t>viewProfile()</a:t>
            </a:r>
          </a:p>
        </p:txBody>
      </p:sp>
      <p:sp>
        <p:nvSpPr>
          <p:cNvPr id="78" name="Rectangle 77"/>
          <p:cNvSpPr/>
          <p:nvPr/>
        </p:nvSpPr>
        <p:spPr>
          <a:xfrm>
            <a:off x="228600" y="3374136"/>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74320" y="3392424"/>
            <a:ext cx="448056" cy="210312"/>
          </a:xfrm>
          <a:prstGeom prst="rect">
            <a:avLst/>
          </a:prstGeom>
          <a:noFill/>
        </p:spPr>
        <p:txBody>
          <a:bodyPr wrap="square">
            <a:spAutoFit/>
          </a:bodyPr>
          <a:lstStyle/>
          <a:p>
            <a:pPr algn="l"/>
            <a:r>
              <a:rPr sz="850" b="0" i="0">
                <a:solidFill>
                  <a:srgbClr val="0D2B55"/>
                </a:solidFill>
              </a:rPr>
              <a:t>US09</a:t>
            </a:r>
          </a:p>
        </p:txBody>
      </p:sp>
      <p:sp>
        <p:nvSpPr>
          <p:cNvPr id="80" name="Rectangle 79"/>
          <p:cNvSpPr/>
          <p:nvPr/>
        </p:nvSpPr>
        <p:spPr>
          <a:xfrm>
            <a:off x="731520" y="3374136"/>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77240" y="3392424"/>
            <a:ext cx="1956816" cy="210312"/>
          </a:xfrm>
          <a:prstGeom prst="rect">
            <a:avLst/>
          </a:prstGeom>
          <a:noFill/>
        </p:spPr>
        <p:txBody>
          <a:bodyPr wrap="square">
            <a:spAutoFit/>
          </a:bodyPr>
          <a:lstStyle/>
          <a:p>
            <a:pPr algn="l"/>
            <a:r>
              <a:rPr sz="850" b="0" i="0">
                <a:solidFill>
                  <a:srgbClr val="0D2B55"/>
                </a:solidFill>
              </a:rPr>
              <a:t>Admin Race Management</a:t>
            </a:r>
          </a:p>
        </p:txBody>
      </p:sp>
      <p:sp>
        <p:nvSpPr>
          <p:cNvPr id="82" name="Rectangle 81"/>
          <p:cNvSpPr/>
          <p:nvPr/>
        </p:nvSpPr>
        <p:spPr>
          <a:xfrm>
            <a:off x="2743200" y="3374136"/>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788920" y="3392424"/>
            <a:ext cx="1316736" cy="210312"/>
          </a:xfrm>
          <a:prstGeom prst="rect">
            <a:avLst/>
          </a:prstGeom>
          <a:noFill/>
        </p:spPr>
        <p:txBody>
          <a:bodyPr wrap="square">
            <a:spAutoFit/>
          </a:bodyPr>
          <a:lstStyle/>
          <a:p>
            <a:pPr algn="l"/>
            <a:r>
              <a:rPr sz="850" b="0" i="0">
                <a:solidFill>
                  <a:srgbClr val="34A853"/>
                </a:solidFill>
              </a:rPr>
              <a:t>✅ Implemented</a:t>
            </a:r>
          </a:p>
        </p:txBody>
      </p:sp>
      <p:sp>
        <p:nvSpPr>
          <p:cNvPr id="84" name="Rectangle 83"/>
          <p:cNvSpPr/>
          <p:nvPr/>
        </p:nvSpPr>
        <p:spPr>
          <a:xfrm>
            <a:off x="4114800" y="3374136"/>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160520" y="3392424"/>
            <a:ext cx="1682496" cy="210312"/>
          </a:xfrm>
          <a:prstGeom prst="rect">
            <a:avLst/>
          </a:prstGeom>
          <a:noFill/>
        </p:spPr>
        <p:txBody>
          <a:bodyPr wrap="square">
            <a:spAutoFit/>
          </a:bodyPr>
          <a:lstStyle/>
          <a:p>
            <a:pPr algn="l"/>
            <a:r>
              <a:rPr sz="850" b="0" i="0">
                <a:solidFill>
                  <a:srgbClr val="0D2B55"/>
                </a:solidFill>
              </a:rPr>
              <a:t>adminRaces()</a:t>
            </a:r>
          </a:p>
        </p:txBody>
      </p:sp>
      <p:sp>
        <p:nvSpPr>
          <p:cNvPr id="86" name="Rectangle 85"/>
          <p:cNvSpPr/>
          <p:nvPr/>
        </p:nvSpPr>
        <p:spPr>
          <a:xfrm>
            <a:off x="228600" y="3621024"/>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74320" y="3639312"/>
            <a:ext cx="448056" cy="210312"/>
          </a:xfrm>
          <a:prstGeom prst="rect">
            <a:avLst/>
          </a:prstGeom>
          <a:noFill/>
        </p:spPr>
        <p:txBody>
          <a:bodyPr wrap="square">
            <a:spAutoFit/>
          </a:bodyPr>
          <a:lstStyle/>
          <a:p>
            <a:pPr algn="l"/>
            <a:r>
              <a:rPr sz="850" b="0" i="0">
                <a:solidFill>
                  <a:srgbClr val="0D2B55"/>
                </a:solidFill>
              </a:rPr>
              <a:t>US10</a:t>
            </a:r>
          </a:p>
        </p:txBody>
      </p:sp>
      <p:sp>
        <p:nvSpPr>
          <p:cNvPr id="88" name="Rectangle 87"/>
          <p:cNvSpPr/>
          <p:nvPr/>
        </p:nvSpPr>
        <p:spPr>
          <a:xfrm>
            <a:off x="731520" y="3621024"/>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77240" y="3639312"/>
            <a:ext cx="1956816" cy="210312"/>
          </a:xfrm>
          <a:prstGeom prst="rect">
            <a:avLst/>
          </a:prstGeom>
          <a:noFill/>
        </p:spPr>
        <p:txBody>
          <a:bodyPr wrap="square">
            <a:spAutoFit/>
          </a:bodyPr>
          <a:lstStyle/>
          <a:p>
            <a:pPr algn="l"/>
            <a:r>
              <a:rPr sz="850" b="0" i="0">
                <a:solidFill>
                  <a:srgbClr val="0D2B55"/>
                </a:solidFill>
              </a:rPr>
              <a:t>Admin Analytics</a:t>
            </a:r>
          </a:p>
        </p:txBody>
      </p:sp>
      <p:sp>
        <p:nvSpPr>
          <p:cNvPr id="90" name="Rectangle 89"/>
          <p:cNvSpPr/>
          <p:nvPr/>
        </p:nvSpPr>
        <p:spPr>
          <a:xfrm>
            <a:off x="2743200" y="3621024"/>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88920" y="3639312"/>
            <a:ext cx="1316736" cy="210312"/>
          </a:xfrm>
          <a:prstGeom prst="rect">
            <a:avLst/>
          </a:prstGeom>
          <a:noFill/>
        </p:spPr>
        <p:txBody>
          <a:bodyPr wrap="square">
            <a:spAutoFit/>
          </a:bodyPr>
          <a:lstStyle/>
          <a:p>
            <a:pPr algn="l"/>
            <a:r>
              <a:rPr sz="850" b="0" i="0">
                <a:solidFill>
                  <a:srgbClr val="34A853"/>
                </a:solidFill>
              </a:rPr>
              <a:t>✅ Implemented</a:t>
            </a:r>
          </a:p>
        </p:txBody>
      </p:sp>
      <p:sp>
        <p:nvSpPr>
          <p:cNvPr id="92" name="Rectangle 91"/>
          <p:cNvSpPr/>
          <p:nvPr/>
        </p:nvSpPr>
        <p:spPr>
          <a:xfrm>
            <a:off x="4114800" y="3621024"/>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160520" y="3639312"/>
            <a:ext cx="1682496" cy="210312"/>
          </a:xfrm>
          <a:prstGeom prst="rect">
            <a:avLst/>
          </a:prstGeom>
          <a:noFill/>
        </p:spPr>
        <p:txBody>
          <a:bodyPr wrap="square">
            <a:spAutoFit/>
          </a:bodyPr>
          <a:lstStyle/>
          <a:p>
            <a:pPr algn="l"/>
            <a:r>
              <a:rPr sz="850" b="0" i="0">
                <a:solidFill>
                  <a:srgbClr val="0D2B55"/>
                </a:solidFill>
              </a:rPr>
              <a:t>adminAnalytics()</a:t>
            </a:r>
          </a:p>
        </p:txBody>
      </p:sp>
      <p:sp>
        <p:nvSpPr>
          <p:cNvPr id="94" name="Rectangle 93"/>
          <p:cNvSpPr/>
          <p:nvPr/>
        </p:nvSpPr>
        <p:spPr>
          <a:xfrm>
            <a:off x="6217920" y="1143000"/>
            <a:ext cx="50292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263640" y="1170432"/>
            <a:ext cx="448056" cy="210312"/>
          </a:xfrm>
          <a:prstGeom prst="rect">
            <a:avLst/>
          </a:prstGeom>
          <a:noFill/>
        </p:spPr>
        <p:txBody>
          <a:bodyPr wrap="square">
            <a:spAutoFit/>
          </a:bodyPr>
          <a:lstStyle/>
          <a:p>
            <a:pPr algn="l"/>
            <a:r>
              <a:rPr sz="900" b="1" i="0">
                <a:solidFill>
                  <a:srgbClr val="FFFFFF"/>
                </a:solidFill>
              </a:rPr>
              <a:t>#</a:t>
            </a:r>
          </a:p>
        </p:txBody>
      </p:sp>
      <p:sp>
        <p:nvSpPr>
          <p:cNvPr id="96" name="Rectangle 95"/>
          <p:cNvSpPr/>
          <p:nvPr/>
        </p:nvSpPr>
        <p:spPr>
          <a:xfrm>
            <a:off x="6720840" y="1143000"/>
            <a:ext cx="201168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66560" y="1170432"/>
            <a:ext cx="1956816" cy="210312"/>
          </a:xfrm>
          <a:prstGeom prst="rect">
            <a:avLst/>
          </a:prstGeom>
          <a:noFill/>
        </p:spPr>
        <p:txBody>
          <a:bodyPr wrap="square">
            <a:spAutoFit/>
          </a:bodyPr>
          <a:lstStyle/>
          <a:p>
            <a:pPr algn="l"/>
            <a:r>
              <a:rPr sz="900" b="1" i="0">
                <a:solidFill>
                  <a:srgbClr val="FFFFFF"/>
                </a:solidFill>
              </a:rPr>
              <a:t>User Story</a:t>
            </a:r>
          </a:p>
        </p:txBody>
      </p:sp>
      <p:sp>
        <p:nvSpPr>
          <p:cNvPr id="98" name="Rectangle 97"/>
          <p:cNvSpPr/>
          <p:nvPr/>
        </p:nvSpPr>
        <p:spPr>
          <a:xfrm>
            <a:off x="8732520" y="1143000"/>
            <a:ext cx="137160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78240" y="1170432"/>
            <a:ext cx="1316736" cy="210312"/>
          </a:xfrm>
          <a:prstGeom prst="rect">
            <a:avLst/>
          </a:prstGeom>
          <a:noFill/>
        </p:spPr>
        <p:txBody>
          <a:bodyPr wrap="square">
            <a:spAutoFit/>
          </a:bodyPr>
          <a:lstStyle/>
          <a:p>
            <a:pPr algn="l"/>
            <a:r>
              <a:rPr sz="900" b="1" i="0">
                <a:solidFill>
                  <a:srgbClr val="FFFFFF"/>
                </a:solidFill>
              </a:rPr>
              <a:t>Status</a:t>
            </a:r>
          </a:p>
        </p:txBody>
      </p:sp>
      <p:sp>
        <p:nvSpPr>
          <p:cNvPr id="100" name="Rectangle 99"/>
          <p:cNvSpPr/>
          <p:nvPr/>
        </p:nvSpPr>
        <p:spPr>
          <a:xfrm>
            <a:off x="10104120" y="1143000"/>
            <a:ext cx="173736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149840" y="1170432"/>
            <a:ext cx="1682496" cy="210312"/>
          </a:xfrm>
          <a:prstGeom prst="rect">
            <a:avLst/>
          </a:prstGeom>
          <a:noFill/>
        </p:spPr>
        <p:txBody>
          <a:bodyPr wrap="square">
            <a:spAutoFit/>
          </a:bodyPr>
          <a:lstStyle/>
          <a:p>
            <a:pPr algn="l"/>
            <a:r>
              <a:rPr sz="900" b="1" i="0">
                <a:solidFill>
                  <a:srgbClr val="FFFFFF"/>
                </a:solidFill>
              </a:rPr>
              <a:t>Method</a:t>
            </a:r>
          </a:p>
        </p:txBody>
      </p:sp>
      <p:sp>
        <p:nvSpPr>
          <p:cNvPr id="102" name="Rectangle 101"/>
          <p:cNvSpPr/>
          <p:nvPr/>
        </p:nvSpPr>
        <p:spPr>
          <a:xfrm>
            <a:off x="6217920" y="1399032"/>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63640" y="1417320"/>
            <a:ext cx="448056" cy="210312"/>
          </a:xfrm>
          <a:prstGeom prst="rect">
            <a:avLst/>
          </a:prstGeom>
          <a:noFill/>
        </p:spPr>
        <p:txBody>
          <a:bodyPr wrap="square">
            <a:spAutoFit/>
          </a:bodyPr>
          <a:lstStyle/>
          <a:p>
            <a:pPr algn="l"/>
            <a:r>
              <a:rPr sz="850" b="0" i="0">
                <a:solidFill>
                  <a:srgbClr val="0D2B55"/>
                </a:solidFill>
              </a:rPr>
              <a:t>US11</a:t>
            </a:r>
          </a:p>
        </p:txBody>
      </p:sp>
      <p:sp>
        <p:nvSpPr>
          <p:cNvPr id="104" name="Rectangle 103"/>
          <p:cNvSpPr/>
          <p:nvPr/>
        </p:nvSpPr>
        <p:spPr>
          <a:xfrm>
            <a:off x="6720840" y="1399032"/>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766560" y="1417320"/>
            <a:ext cx="1956816" cy="210312"/>
          </a:xfrm>
          <a:prstGeom prst="rect">
            <a:avLst/>
          </a:prstGeom>
          <a:noFill/>
        </p:spPr>
        <p:txBody>
          <a:bodyPr wrap="square">
            <a:spAutoFit/>
          </a:bodyPr>
          <a:lstStyle/>
          <a:p>
            <a:pPr algn="l"/>
            <a:r>
              <a:rPr sz="850" b="0" i="0">
                <a:solidFill>
                  <a:srgbClr val="0D2B55"/>
                </a:solidFill>
              </a:rPr>
              <a:t>Auth Audit Log</a:t>
            </a:r>
          </a:p>
        </p:txBody>
      </p:sp>
      <p:sp>
        <p:nvSpPr>
          <p:cNvPr id="106" name="Rectangle 105"/>
          <p:cNvSpPr/>
          <p:nvPr/>
        </p:nvSpPr>
        <p:spPr>
          <a:xfrm>
            <a:off x="8732520" y="1399032"/>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778240" y="1417320"/>
            <a:ext cx="1316736" cy="210312"/>
          </a:xfrm>
          <a:prstGeom prst="rect">
            <a:avLst/>
          </a:prstGeom>
          <a:noFill/>
        </p:spPr>
        <p:txBody>
          <a:bodyPr wrap="square">
            <a:spAutoFit/>
          </a:bodyPr>
          <a:lstStyle/>
          <a:p>
            <a:pPr algn="l"/>
            <a:r>
              <a:rPr sz="850" b="0" i="0">
                <a:solidFill>
                  <a:srgbClr val="34A853"/>
                </a:solidFill>
              </a:rPr>
              <a:t>✅ Implemented</a:t>
            </a:r>
          </a:p>
        </p:txBody>
      </p:sp>
      <p:sp>
        <p:nvSpPr>
          <p:cNvPr id="108" name="Rectangle 107"/>
          <p:cNvSpPr/>
          <p:nvPr/>
        </p:nvSpPr>
        <p:spPr>
          <a:xfrm>
            <a:off x="10104120" y="1399032"/>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149840" y="1417320"/>
            <a:ext cx="1682496" cy="210312"/>
          </a:xfrm>
          <a:prstGeom prst="rect">
            <a:avLst/>
          </a:prstGeom>
          <a:noFill/>
        </p:spPr>
        <p:txBody>
          <a:bodyPr wrap="square">
            <a:spAutoFit/>
          </a:bodyPr>
          <a:lstStyle/>
          <a:p>
            <a:pPr algn="l"/>
            <a:r>
              <a:rPr sz="850" b="0" i="0">
                <a:solidFill>
                  <a:srgbClr val="0D2B55"/>
                </a:solidFill>
              </a:rPr>
              <a:t>logFailedAttempt()</a:t>
            </a:r>
          </a:p>
        </p:txBody>
      </p:sp>
      <p:sp>
        <p:nvSpPr>
          <p:cNvPr id="110" name="Rectangle 109"/>
          <p:cNvSpPr/>
          <p:nvPr/>
        </p:nvSpPr>
        <p:spPr>
          <a:xfrm>
            <a:off x="6217920" y="1645920"/>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263640" y="1664208"/>
            <a:ext cx="448056" cy="210312"/>
          </a:xfrm>
          <a:prstGeom prst="rect">
            <a:avLst/>
          </a:prstGeom>
          <a:noFill/>
        </p:spPr>
        <p:txBody>
          <a:bodyPr wrap="square">
            <a:spAutoFit/>
          </a:bodyPr>
          <a:lstStyle/>
          <a:p>
            <a:pPr algn="l"/>
            <a:r>
              <a:rPr sz="850" b="0" i="0">
                <a:solidFill>
                  <a:srgbClr val="0D2B55"/>
                </a:solidFill>
              </a:rPr>
              <a:t>US12</a:t>
            </a:r>
          </a:p>
        </p:txBody>
      </p:sp>
      <p:sp>
        <p:nvSpPr>
          <p:cNvPr id="112" name="Rectangle 111"/>
          <p:cNvSpPr/>
          <p:nvPr/>
        </p:nvSpPr>
        <p:spPr>
          <a:xfrm>
            <a:off x="6720840" y="1645920"/>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766560" y="1664208"/>
            <a:ext cx="1956816" cy="210312"/>
          </a:xfrm>
          <a:prstGeom prst="rect">
            <a:avLst/>
          </a:prstGeom>
          <a:noFill/>
        </p:spPr>
        <p:txBody>
          <a:bodyPr wrap="square">
            <a:spAutoFit/>
          </a:bodyPr>
          <a:lstStyle/>
          <a:p>
            <a:pPr algn="l"/>
            <a:r>
              <a:rPr sz="850" b="0" i="0">
                <a:solidFill>
                  <a:srgbClr val="0D2B55"/>
                </a:solidFill>
              </a:rPr>
              <a:t>Race CRUD Validation</a:t>
            </a:r>
          </a:p>
        </p:txBody>
      </p:sp>
      <p:sp>
        <p:nvSpPr>
          <p:cNvPr id="114" name="Rectangle 113"/>
          <p:cNvSpPr/>
          <p:nvPr/>
        </p:nvSpPr>
        <p:spPr>
          <a:xfrm>
            <a:off x="8732520" y="1645920"/>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778240" y="1664208"/>
            <a:ext cx="1316736" cy="210312"/>
          </a:xfrm>
          <a:prstGeom prst="rect">
            <a:avLst/>
          </a:prstGeom>
          <a:noFill/>
        </p:spPr>
        <p:txBody>
          <a:bodyPr wrap="square">
            <a:spAutoFit/>
          </a:bodyPr>
          <a:lstStyle/>
          <a:p>
            <a:pPr algn="l"/>
            <a:r>
              <a:rPr sz="850" b="0" i="0">
                <a:solidFill>
                  <a:srgbClr val="34A853"/>
                </a:solidFill>
              </a:rPr>
              <a:t>✅ Implemented</a:t>
            </a:r>
          </a:p>
        </p:txBody>
      </p:sp>
      <p:sp>
        <p:nvSpPr>
          <p:cNvPr id="116" name="Rectangle 115"/>
          <p:cNvSpPr/>
          <p:nvPr/>
        </p:nvSpPr>
        <p:spPr>
          <a:xfrm>
            <a:off x="10104120" y="1645920"/>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149840" y="1664208"/>
            <a:ext cx="1682496" cy="210312"/>
          </a:xfrm>
          <a:prstGeom prst="rect">
            <a:avLst/>
          </a:prstGeom>
          <a:noFill/>
        </p:spPr>
        <p:txBody>
          <a:bodyPr wrap="square">
            <a:spAutoFit/>
          </a:bodyPr>
          <a:lstStyle/>
          <a:p>
            <a:pPr algn="l"/>
            <a:r>
              <a:rPr sz="850" b="0" i="0">
                <a:solidFill>
                  <a:srgbClr val="0D2B55"/>
                </a:solidFill>
              </a:rPr>
              <a:t>RaceMgr.create/edit()</a:t>
            </a:r>
          </a:p>
        </p:txBody>
      </p:sp>
      <p:sp>
        <p:nvSpPr>
          <p:cNvPr id="118" name="Rectangle 117"/>
          <p:cNvSpPr/>
          <p:nvPr/>
        </p:nvSpPr>
        <p:spPr>
          <a:xfrm>
            <a:off x="6217920" y="1892808"/>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63640" y="1911096"/>
            <a:ext cx="448056" cy="210312"/>
          </a:xfrm>
          <a:prstGeom prst="rect">
            <a:avLst/>
          </a:prstGeom>
          <a:noFill/>
        </p:spPr>
        <p:txBody>
          <a:bodyPr wrap="square">
            <a:spAutoFit/>
          </a:bodyPr>
          <a:lstStyle/>
          <a:p>
            <a:pPr algn="l"/>
            <a:r>
              <a:rPr sz="850" b="0" i="0">
                <a:solidFill>
                  <a:srgbClr val="0D2B55"/>
                </a:solidFill>
              </a:rPr>
              <a:t>US13</a:t>
            </a:r>
          </a:p>
        </p:txBody>
      </p:sp>
      <p:sp>
        <p:nvSpPr>
          <p:cNvPr id="120" name="Rectangle 119"/>
          <p:cNvSpPr/>
          <p:nvPr/>
        </p:nvSpPr>
        <p:spPr>
          <a:xfrm>
            <a:off x="6720840" y="1892808"/>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766560" y="1911096"/>
            <a:ext cx="1956816" cy="210312"/>
          </a:xfrm>
          <a:prstGeom prst="rect">
            <a:avLst/>
          </a:prstGeom>
          <a:noFill/>
        </p:spPr>
        <p:txBody>
          <a:bodyPr wrap="square">
            <a:spAutoFit/>
          </a:bodyPr>
          <a:lstStyle/>
          <a:p>
            <a:pPr algn="l"/>
            <a:r>
              <a:rPr sz="850" b="0" i="0">
                <a:solidFill>
                  <a:srgbClr val="0D2B55"/>
                </a:solidFill>
              </a:rPr>
              <a:t>Registration Validation</a:t>
            </a:r>
          </a:p>
        </p:txBody>
      </p:sp>
      <p:sp>
        <p:nvSpPr>
          <p:cNvPr id="122" name="Rectangle 121"/>
          <p:cNvSpPr/>
          <p:nvPr/>
        </p:nvSpPr>
        <p:spPr>
          <a:xfrm>
            <a:off x="8732520" y="1892808"/>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778240" y="1911096"/>
            <a:ext cx="1316736" cy="210312"/>
          </a:xfrm>
          <a:prstGeom prst="rect">
            <a:avLst/>
          </a:prstGeom>
          <a:noFill/>
        </p:spPr>
        <p:txBody>
          <a:bodyPr wrap="square">
            <a:spAutoFit/>
          </a:bodyPr>
          <a:lstStyle/>
          <a:p>
            <a:pPr algn="l"/>
            <a:r>
              <a:rPr sz="850" b="0" i="0">
                <a:solidFill>
                  <a:srgbClr val="34A853"/>
                </a:solidFill>
              </a:rPr>
              <a:t>✅ Implemented</a:t>
            </a:r>
          </a:p>
        </p:txBody>
      </p:sp>
      <p:sp>
        <p:nvSpPr>
          <p:cNvPr id="124" name="Rectangle 123"/>
          <p:cNvSpPr/>
          <p:nvPr/>
        </p:nvSpPr>
        <p:spPr>
          <a:xfrm>
            <a:off x="10104120" y="1892808"/>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149840" y="1911096"/>
            <a:ext cx="1682496" cy="210312"/>
          </a:xfrm>
          <a:prstGeom prst="rect">
            <a:avLst/>
          </a:prstGeom>
          <a:noFill/>
        </p:spPr>
        <p:txBody>
          <a:bodyPr wrap="square">
            <a:spAutoFit/>
          </a:bodyPr>
          <a:lstStyle/>
          <a:p>
            <a:pPr algn="l"/>
            <a:r>
              <a:rPr sz="850" b="0" i="0">
                <a:solidFill>
                  <a:srgbClr val="0D2B55"/>
                </a:solidFill>
              </a:rPr>
              <a:t>RegMgr.register()</a:t>
            </a:r>
          </a:p>
        </p:txBody>
      </p:sp>
      <p:sp>
        <p:nvSpPr>
          <p:cNvPr id="126" name="Rectangle 125"/>
          <p:cNvSpPr/>
          <p:nvPr/>
        </p:nvSpPr>
        <p:spPr>
          <a:xfrm>
            <a:off x="6217920" y="2139696"/>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263640" y="2157984"/>
            <a:ext cx="448056" cy="210312"/>
          </a:xfrm>
          <a:prstGeom prst="rect">
            <a:avLst/>
          </a:prstGeom>
          <a:noFill/>
        </p:spPr>
        <p:txBody>
          <a:bodyPr wrap="square">
            <a:spAutoFit/>
          </a:bodyPr>
          <a:lstStyle/>
          <a:p>
            <a:pPr algn="l"/>
            <a:r>
              <a:rPr sz="850" b="0" i="0">
                <a:solidFill>
                  <a:srgbClr val="0D2B55"/>
                </a:solidFill>
              </a:rPr>
              <a:t>US14</a:t>
            </a:r>
          </a:p>
        </p:txBody>
      </p:sp>
      <p:sp>
        <p:nvSpPr>
          <p:cNvPr id="128" name="Rectangle 127"/>
          <p:cNvSpPr/>
          <p:nvPr/>
        </p:nvSpPr>
        <p:spPr>
          <a:xfrm>
            <a:off x="6720840" y="2139696"/>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766560" y="2157984"/>
            <a:ext cx="1956816" cy="210312"/>
          </a:xfrm>
          <a:prstGeom prst="rect">
            <a:avLst/>
          </a:prstGeom>
          <a:noFill/>
        </p:spPr>
        <p:txBody>
          <a:bodyPr wrap="square">
            <a:spAutoFit/>
          </a:bodyPr>
          <a:lstStyle/>
          <a:p>
            <a:pPr algn="l"/>
            <a:r>
              <a:rPr sz="850" b="0" i="0">
                <a:solidFill>
                  <a:srgbClr val="0D2B55"/>
                </a:solidFill>
              </a:rPr>
              <a:t>Training Validation</a:t>
            </a:r>
          </a:p>
        </p:txBody>
      </p:sp>
      <p:sp>
        <p:nvSpPr>
          <p:cNvPr id="130" name="Rectangle 129"/>
          <p:cNvSpPr/>
          <p:nvPr/>
        </p:nvSpPr>
        <p:spPr>
          <a:xfrm>
            <a:off x="8732520" y="2139696"/>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8778240" y="2157984"/>
            <a:ext cx="1316736" cy="210312"/>
          </a:xfrm>
          <a:prstGeom prst="rect">
            <a:avLst/>
          </a:prstGeom>
          <a:noFill/>
        </p:spPr>
        <p:txBody>
          <a:bodyPr wrap="square">
            <a:spAutoFit/>
          </a:bodyPr>
          <a:lstStyle/>
          <a:p>
            <a:pPr algn="l"/>
            <a:r>
              <a:rPr sz="850" b="0" i="0">
                <a:solidFill>
                  <a:srgbClr val="34A853"/>
                </a:solidFill>
              </a:rPr>
              <a:t>✅ Implemented</a:t>
            </a:r>
          </a:p>
        </p:txBody>
      </p:sp>
      <p:sp>
        <p:nvSpPr>
          <p:cNvPr id="132" name="Rectangle 131"/>
          <p:cNvSpPr/>
          <p:nvPr/>
        </p:nvSpPr>
        <p:spPr>
          <a:xfrm>
            <a:off x="10104120" y="2139696"/>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0149840" y="2157984"/>
            <a:ext cx="1682496" cy="210312"/>
          </a:xfrm>
          <a:prstGeom prst="rect">
            <a:avLst/>
          </a:prstGeom>
          <a:noFill/>
        </p:spPr>
        <p:txBody>
          <a:bodyPr wrap="square">
            <a:spAutoFit/>
          </a:bodyPr>
          <a:lstStyle/>
          <a:p>
            <a:pPr algn="l"/>
            <a:r>
              <a:rPr sz="850" b="0" i="0">
                <a:solidFill>
                  <a:srgbClr val="0D2B55"/>
                </a:solidFill>
              </a:rPr>
              <a:t>TrainingMgr.addLog()</a:t>
            </a:r>
          </a:p>
        </p:txBody>
      </p:sp>
      <p:sp>
        <p:nvSpPr>
          <p:cNvPr id="134" name="Rectangle 133"/>
          <p:cNvSpPr/>
          <p:nvPr/>
        </p:nvSpPr>
        <p:spPr>
          <a:xfrm>
            <a:off x="6217920" y="2386584"/>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63640" y="2404872"/>
            <a:ext cx="448056" cy="210312"/>
          </a:xfrm>
          <a:prstGeom prst="rect">
            <a:avLst/>
          </a:prstGeom>
          <a:noFill/>
        </p:spPr>
        <p:txBody>
          <a:bodyPr wrap="square">
            <a:spAutoFit/>
          </a:bodyPr>
          <a:lstStyle/>
          <a:p>
            <a:pPr algn="l"/>
            <a:r>
              <a:rPr sz="850" b="0" i="0">
                <a:solidFill>
                  <a:srgbClr val="0D2B55"/>
                </a:solidFill>
              </a:rPr>
              <a:t>US15</a:t>
            </a:r>
          </a:p>
        </p:txBody>
      </p:sp>
      <p:sp>
        <p:nvSpPr>
          <p:cNvPr id="136" name="Rectangle 135"/>
          <p:cNvSpPr/>
          <p:nvPr/>
        </p:nvSpPr>
        <p:spPr>
          <a:xfrm>
            <a:off x="6720840" y="2386584"/>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766560" y="2404872"/>
            <a:ext cx="1956816" cy="210312"/>
          </a:xfrm>
          <a:prstGeom prst="rect">
            <a:avLst/>
          </a:prstGeom>
          <a:noFill/>
        </p:spPr>
        <p:txBody>
          <a:bodyPr wrap="square">
            <a:spAutoFit/>
          </a:bodyPr>
          <a:lstStyle/>
          <a:p>
            <a:pPr algn="l"/>
            <a:r>
              <a:rPr sz="850" b="0" i="0">
                <a:solidFill>
                  <a:srgbClr val="0D2B55"/>
                </a:solidFill>
              </a:rPr>
              <a:t>Forum Moderation</a:t>
            </a:r>
          </a:p>
        </p:txBody>
      </p:sp>
      <p:sp>
        <p:nvSpPr>
          <p:cNvPr id="138" name="Rectangle 137"/>
          <p:cNvSpPr/>
          <p:nvPr/>
        </p:nvSpPr>
        <p:spPr>
          <a:xfrm>
            <a:off x="8732520" y="2386584"/>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8778240" y="2404872"/>
            <a:ext cx="1316736" cy="210312"/>
          </a:xfrm>
          <a:prstGeom prst="rect">
            <a:avLst/>
          </a:prstGeom>
          <a:noFill/>
        </p:spPr>
        <p:txBody>
          <a:bodyPr wrap="square">
            <a:spAutoFit/>
          </a:bodyPr>
          <a:lstStyle/>
          <a:p>
            <a:pPr algn="l"/>
            <a:r>
              <a:rPr sz="850" b="0" i="0">
                <a:solidFill>
                  <a:srgbClr val="34A853"/>
                </a:solidFill>
              </a:rPr>
              <a:t>✅ Implemented</a:t>
            </a:r>
          </a:p>
        </p:txBody>
      </p:sp>
      <p:sp>
        <p:nvSpPr>
          <p:cNvPr id="140" name="Rectangle 139"/>
          <p:cNvSpPr/>
          <p:nvPr/>
        </p:nvSpPr>
        <p:spPr>
          <a:xfrm>
            <a:off x="10104120" y="2386584"/>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149840" y="2404872"/>
            <a:ext cx="1682496" cy="210312"/>
          </a:xfrm>
          <a:prstGeom prst="rect">
            <a:avLst/>
          </a:prstGeom>
          <a:noFill/>
        </p:spPr>
        <p:txBody>
          <a:bodyPr wrap="square">
            <a:spAutoFit/>
          </a:bodyPr>
          <a:lstStyle/>
          <a:p>
            <a:pPr algn="l"/>
            <a:r>
              <a:rPr sz="850" b="0" i="0">
                <a:solidFill>
                  <a:srgbClr val="0D2B55"/>
                </a:solidFill>
              </a:rPr>
              <a:t>adminForum()</a:t>
            </a:r>
          </a:p>
        </p:txBody>
      </p:sp>
      <p:sp>
        <p:nvSpPr>
          <p:cNvPr id="142" name="Rectangle 141"/>
          <p:cNvSpPr/>
          <p:nvPr/>
        </p:nvSpPr>
        <p:spPr>
          <a:xfrm>
            <a:off x="6217920" y="2633472"/>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263640" y="2651760"/>
            <a:ext cx="448056" cy="210312"/>
          </a:xfrm>
          <a:prstGeom prst="rect">
            <a:avLst/>
          </a:prstGeom>
          <a:noFill/>
        </p:spPr>
        <p:txBody>
          <a:bodyPr wrap="square">
            <a:spAutoFit/>
          </a:bodyPr>
          <a:lstStyle/>
          <a:p>
            <a:pPr algn="l"/>
            <a:r>
              <a:rPr sz="850" b="0" i="0">
                <a:solidFill>
                  <a:srgbClr val="0D2B55"/>
                </a:solidFill>
              </a:rPr>
              <a:t>US16</a:t>
            </a:r>
          </a:p>
        </p:txBody>
      </p:sp>
      <p:sp>
        <p:nvSpPr>
          <p:cNvPr id="144" name="Rectangle 143"/>
          <p:cNvSpPr/>
          <p:nvPr/>
        </p:nvSpPr>
        <p:spPr>
          <a:xfrm>
            <a:off x="6720840" y="2633472"/>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766560" y="2651760"/>
            <a:ext cx="1956816" cy="210312"/>
          </a:xfrm>
          <a:prstGeom prst="rect">
            <a:avLst/>
          </a:prstGeom>
          <a:noFill/>
        </p:spPr>
        <p:txBody>
          <a:bodyPr wrap="square">
            <a:spAutoFit/>
          </a:bodyPr>
          <a:lstStyle/>
          <a:p>
            <a:pPr algn="l"/>
            <a:r>
              <a:rPr sz="850" b="0" i="0">
                <a:solidFill>
                  <a:srgbClr val="0D2B55"/>
                </a:solidFill>
              </a:rPr>
              <a:t>Email Verification</a:t>
            </a:r>
          </a:p>
        </p:txBody>
      </p:sp>
      <p:sp>
        <p:nvSpPr>
          <p:cNvPr id="146" name="Rectangle 145"/>
          <p:cNvSpPr/>
          <p:nvPr/>
        </p:nvSpPr>
        <p:spPr>
          <a:xfrm>
            <a:off x="8732520" y="2633472"/>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778240" y="2651760"/>
            <a:ext cx="1316736" cy="210312"/>
          </a:xfrm>
          <a:prstGeom prst="rect">
            <a:avLst/>
          </a:prstGeom>
          <a:noFill/>
        </p:spPr>
        <p:txBody>
          <a:bodyPr wrap="square">
            <a:spAutoFit/>
          </a:bodyPr>
          <a:lstStyle/>
          <a:p>
            <a:pPr algn="l"/>
            <a:r>
              <a:rPr sz="850" b="0" i="0">
                <a:solidFill>
                  <a:srgbClr val="FF6D00"/>
                </a:solidFill>
              </a:rPr>
              <a:t>⚠️ Console-Adapted</a:t>
            </a:r>
          </a:p>
        </p:txBody>
      </p:sp>
      <p:sp>
        <p:nvSpPr>
          <p:cNvPr id="148" name="Rectangle 147"/>
          <p:cNvSpPr/>
          <p:nvPr/>
        </p:nvSpPr>
        <p:spPr>
          <a:xfrm>
            <a:off x="10104120" y="2633472"/>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0149840" y="2651760"/>
            <a:ext cx="1682496" cy="210312"/>
          </a:xfrm>
          <a:prstGeom prst="rect">
            <a:avLst/>
          </a:prstGeom>
          <a:noFill/>
        </p:spPr>
        <p:txBody>
          <a:bodyPr wrap="square">
            <a:spAutoFit/>
          </a:bodyPr>
          <a:lstStyle/>
          <a:p>
            <a:pPr algn="l"/>
            <a:r>
              <a:rPr sz="850" b="0" i="0">
                <a:solidFill>
                  <a:srgbClr val="0D2B55"/>
                </a:solidFill>
              </a:rPr>
              <a:t>Admin manual verify</a:t>
            </a:r>
          </a:p>
        </p:txBody>
      </p:sp>
      <p:sp>
        <p:nvSpPr>
          <p:cNvPr id="150" name="Rectangle 149"/>
          <p:cNvSpPr/>
          <p:nvPr/>
        </p:nvSpPr>
        <p:spPr>
          <a:xfrm>
            <a:off x="6217920" y="2880360"/>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263640" y="2898648"/>
            <a:ext cx="448056" cy="210312"/>
          </a:xfrm>
          <a:prstGeom prst="rect">
            <a:avLst/>
          </a:prstGeom>
          <a:noFill/>
        </p:spPr>
        <p:txBody>
          <a:bodyPr wrap="square">
            <a:spAutoFit/>
          </a:bodyPr>
          <a:lstStyle/>
          <a:p>
            <a:pPr algn="l"/>
            <a:r>
              <a:rPr sz="850" b="0" i="0">
                <a:solidFill>
                  <a:srgbClr val="0D2B55"/>
                </a:solidFill>
              </a:rPr>
              <a:t>US17</a:t>
            </a:r>
          </a:p>
        </p:txBody>
      </p:sp>
      <p:sp>
        <p:nvSpPr>
          <p:cNvPr id="152" name="Rectangle 151"/>
          <p:cNvSpPr/>
          <p:nvPr/>
        </p:nvSpPr>
        <p:spPr>
          <a:xfrm>
            <a:off x="6720840" y="2880360"/>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766560" y="2898648"/>
            <a:ext cx="1956816" cy="210312"/>
          </a:xfrm>
          <a:prstGeom prst="rect">
            <a:avLst/>
          </a:prstGeom>
          <a:noFill/>
        </p:spPr>
        <p:txBody>
          <a:bodyPr wrap="square">
            <a:spAutoFit/>
          </a:bodyPr>
          <a:lstStyle/>
          <a:p>
            <a:pPr algn="l"/>
            <a:r>
              <a:rPr sz="850" b="0" i="0">
                <a:solidFill>
                  <a:srgbClr val="0D2B55"/>
                </a:solidFill>
              </a:rPr>
              <a:t>Analytics Reports</a:t>
            </a:r>
          </a:p>
        </p:txBody>
      </p:sp>
      <p:sp>
        <p:nvSpPr>
          <p:cNvPr id="154" name="Rectangle 153"/>
          <p:cNvSpPr/>
          <p:nvPr/>
        </p:nvSpPr>
        <p:spPr>
          <a:xfrm>
            <a:off x="8732520" y="2880360"/>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8778240" y="2898648"/>
            <a:ext cx="1316736" cy="210312"/>
          </a:xfrm>
          <a:prstGeom prst="rect">
            <a:avLst/>
          </a:prstGeom>
          <a:noFill/>
        </p:spPr>
        <p:txBody>
          <a:bodyPr wrap="square">
            <a:spAutoFit/>
          </a:bodyPr>
          <a:lstStyle/>
          <a:p>
            <a:pPr algn="l"/>
            <a:r>
              <a:rPr sz="850" b="0" i="0">
                <a:solidFill>
                  <a:srgbClr val="34A853"/>
                </a:solidFill>
              </a:rPr>
              <a:t>✅ Implemented</a:t>
            </a:r>
          </a:p>
        </p:txBody>
      </p:sp>
      <p:sp>
        <p:nvSpPr>
          <p:cNvPr id="156" name="Rectangle 155"/>
          <p:cNvSpPr/>
          <p:nvPr/>
        </p:nvSpPr>
        <p:spPr>
          <a:xfrm>
            <a:off x="10104120" y="2880360"/>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149840" y="2898648"/>
            <a:ext cx="1682496" cy="210312"/>
          </a:xfrm>
          <a:prstGeom prst="rect">
            <a:avLst/>
          </a:prstGeom>
          <a:noFill/>
        </p:spPr>
        <p:txBody>
          <a:bodyPr wrap="square">
            <a:spAutoFit/>
          </a:bodyPr>
          <a:lstStyle/>
          <a:p>
            <a:pPr algn="l"/>
            <a:r>
              <a:rPr sz="850" b="0" i="0">
                <a:solidFill>
                  <a:srgbClr val="0D2B55"/>
                </a:solidFill>
              </a:rPr>
              <a:t>adminAnalytics()</a:t>
            </a:r>
          </a:p>
        </p:txBody>
      </p:sp>
      <p:sp>
        <p:nvSpPr>
          <p:cNvPr id="158" name="Rectangle 157"/>
          <p:cNvSpPr/>
          <p:nvPr/>
        </p:nvSpPr>
        <p:spPr>
          <a:xfrm>
            <a:off x="6217920" y="3127248"/>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263640" y="3145536"/>
            <a:ext cx="448056" cy="210312"/>
          </a:xfrm>
          <a:prstGeom prst="rect">
            <a:avLst/>
          </a:prstGeom>
          <a:noFill/>
        </p:spPr>
        <p:txBody>
          <a:bodyPr wrap="square">
            <a:spAutoFit/>
          </a:bodyPr>
          <a:lstStyle/>
          <a:p>
            <a:pPr algn="l"/>
            <a:r>
              <a:rPr sz="850" b="0" i="0">
                <a:solidFill>
                  <a:srgbClr val="0D2B55"/>
                </a:solidFill>
              </a:rPr>
              <a:t>US18</a:t>
            </a:r>
          </a:p>
        </p:txBody>
      </p:sp>
      <p:sp>
        <p:nvSpPr>
          <p:cNvPr id="160" name="Rectangle 159"/>
          <p:cNvSpPr/>
          <p:nvPr/>
        </p:nvSpPr>
        <p:spPr>
          <a:xfrm>
            <a:off x="6720840" y="3127248"/>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766560" y="3145536"/>
            <a:ext cx="1956816" cy="210312"/>
          </a:xfrm>
          <a:prstGeom prst="rect">
            <a:avLst/>
          </a:prstGeom>
          <a:noFill/>
        </p:spPr>
        <p:txBody>
          <a:bodyPr wrap="square">
            <a:spAutoFit/>
          </a:bodyPr>
          <a:lstStyle/>
          <a:p>
            <a:pPr algn="l"/>
            <a:r>
              <a:rPr sz="850" b="0" i="0">
                <a:solidFill>
                  <a:srgbClr val="0D2B55"/>
                </a:solidFill>
              </a:rPr>
              <a:t>Registration Scheduler</a:t>
            </a:r>
          </a:p>
        </p:txBody>
      </p:sp>
      <p:sp>
        <p:nvSpPr>
          <p:cNvPr id="162" name="Rectangle 161"/>
          <p:cNvSpPr/>
          <p:nvPr/>
        </p:nvSpPr>
        <p:spPr>
          <a:xfrm>
            <a:off x="8732520" y="3127248"/>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778240" y="3145536"/>
            <a:ext cx="1316736" cy="210312"/>
          </a:xfrm>
          <a:prstGeom prst="rect">
            <a:avLst/>
          </a:prstGeom>
          <a:noFill/>
        </p:spPr>
        <p:txBody>
          <a:bodyPr wrap="square">
            <a:spAutoFit/>
          </a:bodyPr>
          <a:lstStyle/>
          <a:p>
            <a:pPr algn="l"/>
            <a:r>
              <a:rPr sz="850" b="0" i="0">
                <a:solidFill>
                  <a:srgbClr val="FF6D00"/>
                </a:solidFill>
              </a:rPr>
              <a:t>⚠️ Console-Adapted</a:t>
            </a:r>
          </a:p>
        </p:txBody>
      </p:sp>
      <p:sp>
        <p:nvSpPr>
          <p:cNvPr id="164" name="Rectangle 163"/>
          <p:cNvSpPr/>
          <p:nvPr/>
        </p:nvSpPr>
        <p:spPr>
          <a:xfrm>
            <a:off x="10104120" y="3127248"/>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0149840" y="3145536"/>
            <a:ext cx="1682496" cy="210312"/>
          </a:xfrm>
          <a:prstGeom prst="rect">
            <a:avLst/>
          </a:prstGeom>
          <a:noFill/>
        </p:spPr>
        <p:txBody>
          <a:bodyPr wrap="square">
            <a:spAutoFit/>
          </a:bodyPr>
          <a:lstStyle/>
          <a:p>
            <a:pPr algn="l"/>
            <a:r>
              <a:rPr sz="850" b="0" i="0">
                <a:solidFill>
                  <a:srgbClr val="0D2B55"/>
                </a:solidFill>
              </a:rPr>
              <a:t>Auto 48h cutoff</a:t>
            </a:r>
          </a:p>
        </p:txBody>
      </p:sp>
      <p:sp>
        <p:nvSpPr>
          <p:cNvPr id="166" name="Rectangle 165"/>
          <p:cNvSpPr/>
          <p:nvPr/>
        </p:nvSpPr>
        <p:spPr>
          <a:xfrm>
            <a:off x="6217920" y="3374136"/>
            <a:ext cx="50292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263640" y="3392424"/>
            <a:ext cx="448056" cy="210312"/>
          </a:xfrm>
          <a:prstGeom prst="rect">
            <a:avLst/>
          </a:prstGeom>
          <a:noFill/>
        </p:spPr>
        <p:txBody>
          <a:bodyPr wrap="square">
            <a:spAutoFit/>
          </a:bodyPr>
          <a:lstStyle/>
          <a:p>
            <a:pPr algn="l"/>
            <a:r>
              <a:rPr sz="850" b="0" i="0">
                <a:solidFill>
                  <a:srgbClr val="0D2B55"/>
                </a:solidFill>
              </a:rPr>
              <a:t>US19</a:t>
            </a:r>
          </a:p>
        </p:txBody>
      </p:sp>
      <p:sp>
        <p:nvSpPr>
          <p:cNvPr id="168" name="Rectangle 167"/>
          <p:cNvSpPr/>
          <p:nvPr/>
        </p:nvSpPr>
        <p:spPr>
          <a:xfrm>
            <a:off x="6720840" y="3374136"/>
            <a:ext cx="201168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766560" y="3392424"/>
            <a:ext cx="1956816" cy="210312"/>
          </a:xfrm>
          <a:prstGeom prst="rect">
            <a:avLst/>
          </a:prstGeom>
          <a:noFill/>
        </p:spPr>
        <p:txBody>
          <a:bodyPr wrap="square">
            <a:spAutoFit/>
          </a:bodyPr>
          <a:lstStyle/>
          <a:p>
            <a:pPr algn="l"/>
            <a:r>
              <a:rPr sz="850" b="0" i="0">
                <a:solidFill>
                  <a:srgbClr val="0D2B55"/>
                </a:solidFill>
              </a:rPr>
              <a:t>Role-Based Auth</a:t>
            </a:r>
          </a:p>
        </p:txBody>
      </p:sp>
      <p:sp>
        <p:nvSpPr>
          <p:cNvPr id="170" name="Rectangle 169"/>
          <p:cNvSpPr/>
          <p:nvPr/>
        </p:nvSpPr>
        <p:spPr>
          <a:xfrm>
            <a:off x="8732520" y="3374136"/>
            <a:ext cx="137160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8778240" y="3392424"/>
            <a:ext cx="1316736" cy="210312"/>
          </a:xfrm>
          <a:prstGeom prst="rect">
            <a:avLst/>
          </a:prstGeom>
          <a:noFill/>
        </p:spPr>
        <p:txBody>
          <a:bodyPr wrap="square">
            <a:spAutoFit/>
          </a:bodyPr>
          <a:lstStyle/>
          <a:p>
            <a:pPr algn="l"/>
            <a:r>
              <a:rPr sz="850" b="0" i="0">
                <a:solidFill>
                  <a:srgbClr val="34A853"/>
                </a:solidFill>
              </a:rPr>
              <a:t>✅ Implemented</a:t>
            </a:r>
          </a:p>
        </p:txBody>
      </p:sp>
      <p:sp>
        <p:nvSpPr>
          <p:cNvPr id="172" name="Rectangle 171"/>
          <p:cNvSpPr/>
          <p:nvPr/>
        </p:nvSpPr>
        <p:spPr>
          <a:xfrm>
            <a:off x="10104120" y="3374136"/>
            <a:ext cx="1737360" cy="2468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149840" y="3392424"/>
            <a:ext cx="1682496" cy="210312"/>
          </a:xfrm>
          <a:prstGeom prst="rect">
            <a:avLst/>
          </a:prstGeom>
          <a:noFill/>
        </p:spPr>
        <p:txBody>
          <a:bodyPr wrap="square">
            <a:spAutoFit/>
          </a:bodyPr>
          <a:lstStyle/>
          <a:p>
            <a:pPr algn="l"/>
            <a:r>
              <a:rPr sz="850" b="0" i="0">
                <a:solidFill>
                  <a:srgbClr val="0D2B55"/>
                </a:solidFill>
              </a:rPr>
              <a:t>handleLogin() role check</a:t>
            </a:r>
          </a:p>
        </p:txBody>
      </p:sp>
      <p:sp>
        <p:nvSpPr>
          <p:cNvPr id="174" name="Rectangle 173"/>
          <p:cNvSpPr/>
          <p:nvPr/>
        </p:nvSpPr>
        <p:spPr>
          <a:xfrm>
            <a:off x="6217920" y="3621024"/>
            <a:ext cx="50292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263640" y="3639312"/>
            <a:ext cx="448056" cy="210312"/>
          </a:xfrm>
          <a:prstGeom prst="rect">
            <a:avLst/>
          </a:prstGeom>
          <a:noFill/>
        </p:spPr>
        <p:txBody>
          <a:bodyPr wrap="square">
            <a:spAutoFit/>
          </a:bodyPr>
          <a:lstStyle/>
          <a:p>
            <a:pPr algn="l"/>
            <a:r>
              <a:rPr sz="850" b="0" i="0">
                <a:solidFill>
                  <a:srgbClr val="0D2B55"/>
                </a:solidFill>
              </a:rPr>
              <a:t>US20</a:t>
            </a:r>
          </a:p>
        </p:txBody>
      </p:sp>
      <p:sp>
        <p:nvSpPr>
          <p:cNvPr id="176" name="Rectangle 175"/>
          <p:cNvSpPr/>
          <p:nvPr/>
        </p:nvSpPr>
        <p:spPr>
          <a:xfrm>
            <a:off x="6720840" y="3621024"/>
            <a:ext cx="201168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766560" y="3639312"/>
            <a:ext cx="1956816" cy="210312"/>
          </a:xfrm>
          <a:prstGeom prst="rect">
            <a:avLst/>
          </a:prstGeom>
          <a:noFill/>
        </p:spPr>
        <p:txBody>
          <a:bodyPr wrap="square">
            <a:spAutoFit/>
          </a:bodyPr>
          <a:lstStyle/>
          <a:p>
            <a:pPr algn="l"/>
            <a:r>
              <a:rPr sz="850" b="0" i="0">
                <a:solidFill>
                  <a:srgbClr val="0D2B55"/>
                </a:solidFill>
              </a:rPr>
              <a:t>Data Export</a:t>
            </a:r>
          </a:p>
        </p:txBody>
      </p:sp>
      <p:sp>
        <p:nvSpPr>
          <p:cNvPr id="178" name="Rectangle 177"/>
          <p:cNvSpPr/>
          <p:nvPr/>
        </p:nvSpPr>
        <p:spPr>
          <a:xfrm>
            <a:off x="8732520" y="3621024"/>
            <a:ext cx="137160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8778240" y="3639312"/>
            <a:ext cx="1316736" cy="210312"/>
          </a:xfrm>
          <a:prstGeom prst="rect">
            <a:avLst/>
          </a:prstGeom>
          <a:noFill/>
        </p:spPr>
        <p:txBody>
          <a:bodyPr wrap="square">
            <a:spAutoFit/>
          </a:bodyPr>
          <a:lstStyle/>
          <a:p>
            <a:pPr algn="l"/>
            <a:r>
              <a:rPr sz="850" b="0" i="0">
                <a:solidFill>
                  <a:srgbClr val="34A853"/>
                </a:solidFill>
              </a:rPr>
              <a:t>✅ Implemented</a:t>
            </a:r>
          </a:p>
        </p:txBody>
      </p:sp>
      <p:sp>
        <p:nvSpPr>
          <p:cNvPr id="180" name="Rectangle 179"/>
          <p:cNvSpPr/>
          <p:nvPr/>
        </p:nvSpPr>
        <p:spPr>
          <a:xfrm>
            <a:off x="10104120" y="3621024"/>
            <a:ext cx="1737360" cy="246888"/>
          </a:xfrm>
          <a:prstGeom prst="rect">
            <a:avLst/>
          </a:prstGeom>
          <a:solidFill>
            <a:srgbClr val="E8F0F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10149840" y="3639312"/>
            <a:ext cx="1682496" cy="210312"/>
          </a:xfrm>
          <a:prstGeom prst="rect">
            <a:avLst/>
          </a:prstGeom>
          <a:noFill/>
        </p:spPr>
        <p:txBody>
          <a:bodyPr wrap="square">
            <a:spAutoFit/>
          </a:bodyPr>
          <a:lstStyle/>
          <a:p>
            <a:pPr algn="l"/>
            <a:r>
              <a:rPr sz="850" b="0" i="0">
                <a:solidFill>
                  <a:srgbClr val="0D2B55"/>
                </a:solidFill>
              </a:rPr>
              <a:t>AnalyticsMgr.*</a:t>
            </a:r>
          </a:p>
        </p:txBody>
      </p:sp>
      <p:sp>
        <p:nvSpPr>
          <p:cNvPr id="182" name="TextBox 181"/>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Sprint Scope</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What's In · What's Out · Why</a:t>
            </a:r>
          </a:p>
        </p:txBody>
      </p:sp>
      <p:sp>
        <p:nvSpPr>
          <p:cNvPr id="6" name="Rectangle 5"/>
          <p:cNvSpPr/>
          <p:nvPr/>
        </p:nvSpPr>
        <p:spPr>
          <a:xfrm>
            <a:off x="228600" y="1188720"/>
            <a:ext cx="3749039" cy="5349240"/>
          </a:xfrm>
          <a:prstGeom prst="rect">
            <a:avLst/>
          </a:prstGeom>
          <a:solidFill>
            <a:srgbClr val="FFFFFF"/>
          </a:solidFill>
          <a:ln>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261872"/>
            <a:ext cx="3566160" cy="292608"/>
          </a:xfrm>
          <a:prstGeom prst="rect">
            <a:avLst/>
          </a:prstGeom>
          <a:noFill/>
        </p:spPr>
        <p:txBody>
          <a:bodyPr wrap="square">
            <a:spAutoFit/>
          </a:bodyPr>
          <a:lstStyle/>
          <a:p>
            <a:pPr algn="l"/>
            <a:r>
              <a:rPr sz="1200" b="1" i="0">
                <a:solidFill>
                  <a:srgbClr val="34A853"/>
                </a:solidFill>
              </a:rPr>
              <a:t>✅  IMPLEMENTED</a:t>
            </a:r>
          </a:p>
        </p:txBody>
      </p:sp>
      <p:sp>
        <p:nvSpPr>
          <p:cNvPr id="8" name="TextBox 7"/>
          <p:cNvSpPr txBox="1"/>
          <p:nvPr/>
        </p:nvSpPr>
        <p:spPr>
          <a:xfrm>
            <a:off x="320040" y="1572768"/>
            <a:ext cx="3566160" cy="384048"/>
          </a:xfrm>
          <a:prstGeom prst="rect">
            <a:avLst/>
          </a:prstGeom>
          <a:noFill/>
        </p:spPr>
        <p:txBody>
          <a:bodyPr wrap="square">
            <a:spAutoFit/>
          </a:bodyPr>
          <a:lstStyle/>
          <a:p>
            <a:pPr algn="l"/>
            <a:r>
              <a:rPr sz="1050" b="0" i="0">
                <a:solidFill>
                  <a:srgbClr val="0D2B55"/>
                </a:solidFill>
              </a:rPr>
              <a:t>  •  User Registration &amp; Login</a:t>
            </a:r>
          </a:p>
        </p:txBody>
      </p:sp>
      <p:sp>
        <p:nvSpPr>
          <p:cNvPr id="9" name="TextBox 8"/>
          <p:cNvSpPr txBox="1"/>
          <p:nvPr/>
        </p:nvSpPr>
        <p:spPr>
          <a:xfrm>
            <a:off x="320040" y="2011680"/>
            <a:ext cx="3566160" cy="384048"/>
          </a:xfrm>
          <a:prstGeom prst="rect">
            <a:avLst/>
          </a:prstGeom>
          <a:noFill/>
        </p:spPr>
        <p:txBody>
          <a:bodyPr wrap="square">
            <a:spAutoFit/>
          </a:bodyPr>
          <a:lstStyle/>
          <a:p>
            <a:pPr algn="l"/>
            <a:r>
              <a:rPr sz="1050" b="0" i="0">
                <a:solidFill>
                  <a:srgbClr val="0D2B55"/>
                </a:solidFill>
              </a:rPr>
              <a:t>  •  Role-Based Menus</a:t>
            </a:r>
          </a:p>
        </p:txBody>
      </p:sp>
      <p:sp>
        <p:nvSpPr>
          <p:cNvPr id="10" name="TextBox 9"/>
          <p:cNvSpPr txBox="1"/>
          <p:nvPr/>
        </p:nvSpPr>
        <p:spPr>
          <a:xfrm>
            <a:off x="320040" y="2450591"/>
            <a:ext cx="3566160" cy="384048"/>
          </a:xfrm>
          <a:prstGeom prst="rect">
            <a:avLst/>
          </a:prstGeom>
          <a:noFill/>
        </p:spPr>
        <p:txBody>
          <a:bodyPr wrap="square">
            <a:spAutoFit/>
          </a:bodyPr>
          <a:lstStyle/>
          <a:p>
            <a:pPr algn="l"/>
            <a:r>
              <a:rPr sz="1050" b="0" i="0">
                <a:solidFill>
                  <a:srgbClr val="0D2B55"/>
                </a:solidFill>
              </a:rPr>
              <a:t>  •  Race CRUD &amp; Validation</a:t>
            </a:r>
          </a:p>
        </p:txBody>
      </p:sp>
      <p:sp>
        <p:nvSpPr>
          <p:cNvPr id="11" name="TextBox 10"/>
          <p:cNvSpPr txBox="1"/>
          <p:nvPr/>
        </p:nvSpPr>
        <p:spPr>
          <a:xfrm>
            <a:off x="320040" y="2889504"/>
            <a:ext cx="3566160" cy="384048"/>
          </a:xfrm>
          <a:prstGeom prst="rect">
            <a:avLst/>
          </a:prstGeom>
          <a:noFill/>
        </p:spPr>
        <p:txBody>
          <a:bodyPr wrap="square">
            <a:spAutoFit/>
          </a:bodyPr>
          <a:lstStyle/>
          <a:p>
            <a:pPr algn="l"/>
            <a:r>
              <a:rPr sz="1050" b="0" i="0">
                <a:solidFill>
                  <a:srgbClr val="0D2B55"/>
                </a:solidFill>
              </a:rPr>
              <a:t>  •  Training Log &amp; Analytics</a:t>
            </a:r>
          </a:p>
        </p:txBody>
      </p:sp>
      <p:sp>
        <p:nvSpPr>
          <p:cNvPr id="12" name="TextBox 11"/>
          <p:cNvSpPr txBox="1"/>
          <p:nvPr/>
        </p:nvSpPr>
        <p:spPr>
          <a:xfrm>
            <a:off x="320040" y="3328415"/>
            <a:ext cx="3566160" cy="384048"/>
          </a:xfrm>
          <a:prstGeom prst="rect">
            <a:avLst/>
          </a:prstGeom>
          <a:noFill/>
        </p:spPr>
        <p:txBody>
          <a:bodyPr wrap="square">
            <a:spAutoFit/>
          </a:bodyPr>
          <a:lstStyle/>
          <a:p>
            <a:pPr algn="l"/>
            <a:r>
              <a:rPr sz="1050" b="0" i="0">
                <a:solidFill>
                  <a:srgbClr val="0D2B55"/>
                </a:solidFill>
              </a:rPr>
              <a:t>  •  Community Forum</a:t>
            </a:r>
          </a:p>
        </p:txBody>
      </p:sp>
      <p:sp>
        <p:nvSpPr>
          <p:cNvPr id="13" name="TextBox 12"/>
          <p:cNvSpPr txBox="1"/>
          <p:nvPr/>
        </p:nvSpPr>
        <p:spPr>
          <a:xfrm>
            <a:off x="320040" y="3767328"/>
            <a:ext cx="3566160" cy="384048"/>
          </a:xfrm>
          <a:prstGeom prst="rect">
            <a:avLst/>
          </a:prstGeom>
          <a:noFill/>
        </p:spPr>
        <p:txBody>
          <a:bodyPr wrap="square">
            <a:spAutoFit/>
          </a:bodyPr>
          <a:lstStyle/>
          <a:p>
            <a:pPr algn="l"/>
            <a:r>
              <a:rPr sz="1050" b="0" i="0">
                <a:solidFill>
                  <a:srgbClr val="0D2B55"/>
                </a:solidFill>
              </a:rPr>
              <a:t>  •  Admin Approval Workflows</a:t>
            </a:r>
          </a:p>
        </p:txBody>
      </p:sp>
      <p:sp>
        <p:nvSpPr>
          <p:cNvPr id="14" name="TextBox 13"/>
          <p:cNvSpPr txBox="1"/>
          <p:nvPr/>
        </p:nvSpPr>
        <p:spPr>
          <a:xfrm>
            <a:off x="320040" y="4206240"/>
            <a:ext cx="3566160" cy="384048"/>
          </a:xfrm>
          <a:prstGeom prst="rect">
            <a:avLst/>
          </a:prstGeom>
          <a:noFill/>
        </p:spPr>
        <p:txBody>
          <a:bodyPr wrap="square">
            <a:spAutoFit/>
          </a:bodyPr>
          <a:lstStyle/>
          <a:p>
            <a:pPr algn="l"/>
            <a:r>
              <a:rPr sz="1050" b="0" i="0">
                <a:solidFill>
                  <a:srgbClr val="0D2B55"/>
                </a:solidFill>
              </a:rPr>
              <a:t>  •  CSV Export Reports</a:t>
            </a:r>
          </a:p>
        </p:txBody>
      </p:sp>
      <p:sp>
        <p:nvSpPr>
          <p:cNvPr id="15" name="TextBox 14"/>
          <p:cNvSpPr txBox="1"/>
          <p:nvPr/>
        </p:nvSpPr>
        <p:spPr>
          <a:xfrm>
            <a:off x="320040" y="4645152"/>
            <a:ext cx="3566160" cy="384048"/>
          </a:xfrm>
          <a:prstGeom prst="rect">
            <a:avLst/>
          </a:prstGeom>
          <a:noFill/>
        </p:spPr>
        <p:txBody>
          <a:bodyPr wrap="square">
            <a:spAutoFit/>
          </a:bodyPr>
          <a:lstStyle/>
          <a:p>
            <a:pPr algn="l"/>
            <a:r>
              <a:rPr sz="1050" b="0" i="0">
                <a:solidFill>
                  <a:srgbClr val="0D2B55"/>
                </a:solidFill>
              </a:rPr>
              <a:t>  •  Security Audit Log</a:t>
            </a:r>
          </a:p>
        </p:txBody>
      </p:sp>
      <p:sp>
        <p:nvSpPr>
          <p:cNvPr id="16" name="TextBox 15"/>
          <p:cNvSpPr txBox="1"/>
          <p:nvPr/>
        </p:nvSpPr>
        <p:spPr>
          <a:xfrm>
            <a:off x="320040" y="5084064"/>
            <a:ext cx="3566160" cy="384048"/>
          </a:xfrm>
          <a:prstGeom prst="rect">
            <a:avLst/>
          </a:prstGeom>
          <a:noFill/>
        </p:spPr>
        <p:txBody>
          <a:bodyPr wrap="square">
            <a:spAutoFit/>
          </a:bodyPr>
          <a:lstStyle/>
          <a:p>
            <a:pPr algn="l"/>
            <a:r>
              <a:rPr sz="1050" b="0" i="0">
                <a:solidFill>
                  <a:srgbClr val="0D2B55"/>
                </a:solidFill>
              </a:rPr>
              <a:t>  •  In-Memory Collections</a:t>
            </a:r>
          </a:p>
        </p:txBody>
      </p:sp>
      <p:sp>
        <p:nvSpPr>
          <p:cNvPr id="17" name="TextBox 16"/>
          <p:cNvSpPr txBox="1"/>
          <p:nvPr/>
        </p:nvSpPr>
        <p:spPr>
          <a:xfrm>
            <a:off x="320040" y="5522976"/>
            <a:ext cx="3566160" cy="384048"/>
          </a:xfrm>
          <a:prstGeom prst="rect">
            <a:avLst/>
          </a:prstGeom>
          <a:noFill/>
        </p:spPr>
        <p:txBody>
          <a:bodyPr wrap="square">
            <a:spAutoFit/>
          </a:bodyPr>
          <a:lstStyle/>
          <a:p>
            <a:pPr algn="l"/>
            <a:r>
              <a:rPr sz="1050" b="0" i="0">
                <a:solidFill>
                  <a:srgbClr val="0D2B55"/>
                </a:solidFill>
              </a:rPr>
              <a:t>  •  Input Validation</a:t>
            </a:r>
          </a:p>
        </p:txBody>
      </p:sp>
      <p:sp>
        <p:nvSpPr>
          <p:cNvPr id="18" name="Rectangle 17"/>
          <p:cNvSpPr/>
          <p:nvPr/>
        </p:nvSpPr>
        <p:spPr>
          <a:xfrm>
            <a:off x="4206240" y="1188720"/>
            <a:ext cx="3291840" cy="5349240"/>
          </a:xfrm>
          <a:prstGeom prst="rect">
            <a:avLst/>
          </a:prstGeom>
          <a:solidFill>
            <a:srgbClr val="FFFFFF"/>
          </a:solidFill>
          <a:ln>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1261872"/>
            <a:ext cx="3108960" cy="292608"/>
          </a:xfrm>
          <a:prstGeom prst="rect">
            <a:avLst/>
          </a:prstGeom>
          <a:noFill/>
        </p:spPr>
        <p:txBody>
          <a:bodyPr wrap="square">
            <a:spAutoFit/>
          </a:bodyPr>
          <a:lstStyle/>
          <a:p>
            <a:pPr algn="l"/>
            <a:r>
              <a:rPr sz="1200" b="1" i="0">
                <a:solidFill>
                  <a:srgbClr val="FF6D00"/>
                </a:solidFill>
              </a:rPr>
              <a:t>⚠️  CONSOLE-ADAPTED</a:t>
            </a:r>
          </a:p>
        </p:txBody>
      </p:sp>
      <p:sp>
        <p:nvSpPr>
          <p:cNvPr id="20" name="TextBox 19"/>
          <p:cNvSpPr txBox="1"/>
          <p:nvPr/>
        </p:nvSpPr>
        <p:spPr>
          <a:xfrm>
            <a:off x="4297680" y="1600200"/>
            <a:ext cx="3108960" cy="256032"/>
          </a:xfrm>
          <a:prstGeom prst="rect">
            <a:avLst/>
          </a:prstGeom>
          <a:noFill/>
        </p:spPr>
        <p:txBody>
          <a:bodyPr wrap="square">
            <a:spAutoFit/>
          </a:bodyPr>
          <a:lstStyle/>
          <a:p>
            <a:pPr algn="l"/>
            <a:r>
              <a:rPr sz="1100" b="1" i="0">
                <a:solidFill>
                  <a:srgbClr val="0D2B55"/>
                </a:solidFill>
              </a:rPr>
              <a:t>  ✦  Email Verification</a:t>
            </a:r>
          </a:p>
        </p:txBody>
      </p:sp>
      <p:sp>
        <p:nvSpPr>
          <p:cNvPr id="21" name="TextBox 20"/>
          <p:cNvSpPr txBox="1"/>
          <p:nvPr/>
        </p:nvSpPr>
        <p:spPr>
          <a:xfrm>
            <a:off x="4297680" y="1874519"/>
            <a:ext cx="3108960" cy="256032"/>
          </a:xfrm>
          <a:prstGeom prst="rect">
            <a:avLst/>
          </a:prstGeom>
          <a:noFill/>
        </p:spPr>
        <p:txBody>
          <a:bodyPr wrap="square">
            <a:spAutoFit/>
          </a:bodyPr>
          <a:lstStyle/>
          <a:p>
            <a:pPr algn="l"/>
            <a:r>
              <a:rPr sz="1000" b="0" i="1">
                <a:solidFill>
                  <a:srgbClr val="9E9E9E"/>
                </a:solidFill>
              </a:rPr>
              <a:t>     ↳ Admin manual verify</a:t>
            </a:r>
          </a:p>
        </p:txBody>
      </p:sp>
      <p:sp>
        <p:nvSpPr>
          <p:cNvPr id="22" name="TextBox 21"/>
          <p:cNvSpPr txBox="1"/>
          <p:nvPr/>
        </p:nvSpPr>
        <p:spPr>
          <a:xfrm>
            <a:off x="4297680" y="2468880"/>
            <a:ext cx="3108960" cy="256032"/>
          </a:xfrm>
          <a:prstGeom prst="rect">
            <a:avLst/>
          </a:prstGeom>
          <a:noFill/>
        </p:spPr>
        <p:txBody>
          <a:bodyPr wrap="square">
            <a:spAutoFit/>
          </a:bodyPr>
          <a:lstStyle/>
          <a:p>
            <a:pPr algn="l"/>
            <a:r>
              <a:rPr sz="1100" b="1" i="0">
                <a:solidFill>
                  <a:srgbClr val="0D2B55"/>
                </a:solidFill>
              </a:rPr>
              <a:t>  ✦  Background Scheduler</a:t>
            </a:r>
          </a:p>
        </p:txBody>
      </p:sp>
      <p:sp>
        <p:nvSpPr>
          <p:cNvPr id="23" name="TextBox 22"/>
          <p:cNvSpPr txBox="1"/>
          <p:nvPr/>
        </p:nvSpPr>
        <p:spPr>
          <a:xfrm>
            <a:off x="4297680" y="2743200"/>
            <a:ext cx="3108960" cy="256032"/>
          </a:xfrm>
          <a:prstGeom prst="rect">
            <a:avLst/>
          </a:prstGeom>
          <a:noFill/>
        </p:spPr>
        <p:txBody>
          <a:bodyPr wrap="square">
            <a:spAutoFit/>
          </a:bodyPr>
          <a:lstStyle/>
          <a:p>
            <a:pPr algn="l"/>
            <a:r>
              <a:rPr sz="1000" b="0" i="1">
                <a:solidFill>
                  <a:srgbClr val="9E9E9E"/>
                </a:solidFill>
              </a:rPr>
              <a:t>     ↳ Auto 48h time check</a:t>
            </a:r>
          </a:p>
        </p:txBody>
      </p:sp>
      <p:sp>
        <p:nvSpPr>
          <p:cNvPr id="24" name="Rectangle 23"/>
          <p:cNvSpPr/>
          <p:nvPr/>
        </p:nvSpPr>
        <p:spPr>
          <a:xfrm>
            <a:off x="7726679" y="1188720"/>
            <a:ext cx="4206240" cy="5349240"/>
          </a:xfrm>
          <a:prstGeom prst="rect">
            <a:avLst/>
          </a:prstGeom>
          <a:solidFill>
            <a:srgbClr val="FFFFFF"/>
          </a:solidFill>
          <a:ln>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1261872"/>
            <a:ext cx="4023360" cy="292608"/>
          </a:xfrm>
          <a:prstGeom prst="rect">
            <a:avLst/>
          </a:prstGeom>
          <a:noFill/>
        </p:spPr>
        <p:txBody>
          <a:bodyPr wrap="square">
            <a:spAutoFit/>
          </a:bodyPr>
          <a:lstStyle/>
          <a:p>
            <a:pPr algn="l"/>
            <a:r>
              <a:rPr sz="1200" b="1" i="0">
                <a:solidFill>
                  <a:srgbClr val="EA4335"/>
                </a:solidFill>
              </a:rPr>
              <a:t>🚫  NOT IN SCOPE (Web-Only)</a:t>
            </a:r>
          </a:p>
        </p:txBody>
      </p:sp>
      <p:sp>
        <p:nvSpPr>
          <p:cNvPr id="26" name="TextBox 25"/>
          <p:cNvSpPr txBox="1"/>
          <p:nvPr/>
        </p:nvSpPr>
        <p:spPr>
          <a:xfrm>
            <a:off x="7818120" y="1600200"/>
            <a:ext cx="3931920" cy="237744"/>
          </a:xfrm>
          <a:prstGeom prst="rect">
            <a:avLst/>
          </a:prstGeom>
          <a:noFill/>
        </p:spPr>
        <p:txBody>
          <a:bodyPr wrap="square">
            <a:spAutoFit/>
          </a:bodyPr>
          <a:lstStyle/>
          <a:p>
            <a:pPr algn="l"/>
            <a:r>
              <a:rPr sz="1000" b="1" i="0">
                <a:solidFill>
                  <a:srgbClr val="0D2B55"/>
                </a:solidFill>
              </a:rPr>
              <a:t>  ✦  MySQL / MongoDB</a:t>
            </a:r>
          </a:p>
        </p:txBody>
      </p:sp>
      <p:sp>
        <p:nvSpPr>
          <p:cNvPr id="27" name="TextBox 26"/>
          <p:cNvSpPr txBox="1"/>
          <p:nvPr/>
        </p:nvSpPr>
        <p:spPr>
          <a:xfrm>
            <a:off x="7818120" y="1847088"/>
            <a:ext cx="3931920" cy="219456"/>
          </a:xfrm>
          <a:prstGeom prst="rect">
            <a:avLst/>
          </a:prstGeom>
          <a:noFill/>
        </p:spPr>
        <p:txBody>
          <a:bodyPr wrap="square">
            <a:spAutoFit/>
          </a:bodyPr>
          <a:lstStyle/>
          <a:p>
            <a:pPr algn="l"/>
            <a:r>
              <a:rPr sz="850" b="0" i="1">
                <a:solidFill>
                  <a:srgbClr val="9E9E9E"/>
                </a:solidFill>
              </a:rPr>
              <a:t>     Needs JDBC + DB server</a:t>
            </a:r>
          </a:p>
        </p:txBody>
      </p:sp>
      <p:sp>
        <p:nvSpPr>
          <p:cNvPr id="28" name="TextBox 27"/>
          <p:cNvSpPr txBox="1"/>
          <p:nvPr/>
        </p:nvSpPr>
        <p:spPr>
          <a:xfrm>
            <a:off x="7818120" y="2130552"/>
            <a:ext cx="3931920" cy="237744"/>
          </a:xfrm>
          <a:prstGeom prst="rect">
            <a:avLst/>
          </a:prstGeom>
          <a:noFill/>
        </p:spPr>
        <p:txBody>
          <a:bodyPr wrap="square">
            <a:spAutoFit/>
          </a:bodyPr>
          <a:lstStyle/>
          <a:p>
            <a:pPr algn="l"/>
            <a:r>
              <a:rPr sz="1000" b="1" i="0">
                <a:solidFill>
                  <a:srgbClr val="0D2B55"/>
                </a:solidFill>
              </a:rPr>
              <a:t>  ✦  REST APIs</a:t>
            </a:r>
          </a:p>
        </p:txBody>
      </p:sp>
      <p:sp>
        <p:nvSpPr>
          <p:cNvPr id="29" name="TextBox 28"/>
          <p:cNvSpPr txBox="1"/>
          <p:nvPr/>
        </p:nvSpPr>
        <p:spPr>
          <a:xfrm>
            <a:off x="7818120" y="2377440"/>
            <a:ext cx="3931920" cy="219456"/>
          </a:xfrm>
          <a:prstGeom prst="rect">
            <a:avLst/>
          </a:prstGeom>
          <a:noFill/>
        </p:spPr>
        <p:txBody>
          <a:bodyPr wrap="square">
            <a:spAutoFit/>
          </a:bodyPr>
          <a:lstStyle/>
          <a:p>
            <a:pPr algn="l"/>
            <a:r>
              <a:rPr sz="850" b="0" i="1">
                <a:solidFill>
                  <a:srgbClr val="9E9E9E"/>
                </a:solidFill>
              </a:rPr>
              <a:t>     Needs Servlet / Spring</a:t>
            </a:r>
          </a:p>
        </p:txBody>
      </p:sp>
      <p:sp>
        <p:nvSpPr>
          <p:cNvPr id="30" name="TextBox 29"/>
          <p:cNvSpPr txBox="1"/>
          <p:nvPr/>
        </p:nvSpPr>
        <p:spPr>
          <a:xfrm>
            <a:off x="7818120" y="2660904"/>
            <a:ext cx="3931920" cy="237744"/>
          </a:xfrm>
          <a:prstGeom prst="rect">
            <a:avLst/>
          </a:prstGeom>
          <a:noFill/>
        </p:spPr>
        <p:txBody>
          <a:bodyPr wrap="square">
            <a:spAutoFit/>
          </a:bodyPr>
          <a:lstStyle/>
          <a:p>
            <a:pPr algn="l"/>
            <a:r>
              <a:rPr sz="1000" b="1" i="0">
                <a:solidFill>
                  <a:srgbClr val="0D2B55"/>
                </a:solidFill>
              </a:rPr>
              <a:t>  ✦  JWT Auth</a:t>
            </a:r>
          </a:p>
        </p:txBody>
      </p:sp>
      <p:sp>
        <p:nvSpPr>
          <p:cNvPr id="31" name="TextBox 30"/>
          <p:cNvSpPr txBox="1"/>
          <p:nvPr/>
        </p:nvSpPr>
        <p:spPr>
          <a:xfrm>
            <a:off x="7818120" y="2907791"/>
            <a:ext cx="3931920" cy="219456"/>
          </a:xfrm>
          <a:prstGeom prst="rect">
            <a:avLst/>
          </a:prstGeom>
          <a:noFill/>
        </p:spPr>
        <p:txBody>
          <a:bodyPr wrap="square">
            <a:spAutoFit/>
          </a:bodyPr>
          <a:lstStyle/>
          <a:p>
            <a:pPr algn="l"/>
            <a:r>
              <a:rPr sz="850" b="0" i="1">
                <a:solidFill>
                  <a:srgbClr val="9E9E9E"/>
                </a:solidFill>
              </a:rPr>
              <a:t>     Needs HTTP headers</a:t>
            </a:r>
          </a:p>
        </p:txBody>
      </p:sp>
      <p:sp>
        <p:nvSpPr>
          <p:cNvPr id="32" name="TextBox 31"/>
          <p:cNvSpPr txBox="1"/>
          <p:nvPr/>
        </p:nvSpPr>
        <p:spPr>
          <a:xfrm>
            <a:off x="7818120" y="3191256"/>
            <a:ext cx="3931920" cy="237744"/>
          </a:xfrm>
          <a:prstGeom prst="rect">
            <a:avLst/>
          </a:prstGeom>
          <a:noFill/>
        </p:spPr>
        <p:txBody>
          <a:bodyPr wrap="square">
            <a:spAutoFit/>
          </a:bodyPr>
          <a:lstStyle/>
          <a:p>
            <a:pPr algn="l"/>
            <a:r>
              <a:rPr sz="1000" b="1" i="0">
                <a:solidFill>
                  <a:srgbClr val="0D2B55"/>
                </a:solidFill>
              </a:rPr>
              <a:t>  ✦  SMTP Email</a:t>
            </a:r>
          </a:p>
        </p:txBody>
      </p:sp>
      <p:sp>
        <p:nvSpPr>
          <p:cNvPr id="33" name="TextBox 32"/>
          <p:cNvSpPr txBox="1"/>
          <p:nvPr/>
        </p:nvSpPr>
        <p:spPr>
          <a:xfrm>
            <a:off x="7818120" y="3438144"/>
            <a:ext cx="3931920" cy="219456"/>
          </a:xfrm>
          <a:prstGeom prst="rect">
            <a:avLst/>
          </a:prstGeom>
          <a:noFill/>
        </p:spPr>
        <p:txBody>
          <a:bodyPr wrap="square">
            <a:spAutoFit/>
          </a:bodyPr>
          <a:lstStyle/>
          <a:p>
            <a:pPr algn="l"/>
            <a:r>
              <a:rPr sz="850" b="0" i="1">
                <a:solidFill>
                  <a:srgbClr val="9E9E9E"/>
                </a:solidFill>
              </a:rPr>
              <a:t>     Needs mail server</a:t>
            </a:r>
          </a:p>
        </p:txBody>
      </p:sp>
      <p:sp>
        <p:nvSpPr>
          <p:cNvPr id="34" name="TextBox 33"/>
          <p:cNvSpPr txBox="1"/>
          <p:nvPr/>
        </p:nvSpPr>
        <p:spPr>
          <a:xfrm>
            <a:off x="7818120" y="3721608"/>
            <a:ext cx="3931920" cy="237744"/>
          </a:xfrm>
          <a:prstGeom prst="rect">
            <a:avLst/>
          </a:prstGeom>
          <a:noFill/>
        </p:spPr>
        <p:txBody>
          <a:bodyPr wrap="square">
            <a:spAutoFit/>
          </a:bodyPr>
          <a:lstStyle/>
          <a:p>
            <a:pPr algn="l"/>
            <a:r>
              <a:rPr sz="1000" b="1" i="0">
                <a:solidFill>
                  <a:srgbClr val="0D2B55"/>
                </a:solidFill>
              </a:rPr>
              <a:t>  ✦  Browser Sessions</a:t>
            </a:r>
          </a:p>
        </p:txBody>
      </p:sp>
      <p:sp>
        <p:nvSpPr>
          <p:cNvPr id="35" name="TextBox 34"/>
          <p:cNvSpPr txBox="1"/>
          <p:nvPr/>
        </p:nvSpPr>
        <p:spPr>
          <a:xfrm>
            <a:off x="7818120" y="3968496"/>
            <a:ext cx="3931920" cy="219456"/>
          </a:xfrm>
          <a:prstGeom prst="rect">
            <a:avLst/>
          </a:prstGeom>
          <a:noFill/>
        </p:spPr>
        <p:txBody>
          <a:bodyPr wrap="square">
            <a:spAutoFit/>
          </a:bodyPr>
          <a:lstStyle/>
          <a:p>
            <a:pPr algn="l"/>
            <a:r>
              <a:rPr sz="850" b="0" i="1">
                <a:solidFill>
                  <a:srgbClr val="9E9E9E"/>
                </a:solidFill>
              </a:rPr>
              <a:t>     Needs cookies/web</a:t>
            </a:r>
          </a:p>
        </p:txBody>
      </p:sp>
      <p:sp>
        <p:nvSpPr>
          <p:cNvPr id="36" name="TextBox 35"/>
          <p:cNvSpPr txBox="1"/>
          <p:nvPr/>
        </p:nvSpPr>
        <p:spPr>
          <a:xfrm>
            <a:off x="7818120" y="4251960"/>
            <a:ext cx="3931920" cy="237744"/>
          </a:xfrm>
          <a:prstGeom prst="rect">
            <a:avLst/>
          </a:prstGeom>
          <a:noFill/>
        </p:spPr>
        <p:txBody>
          <a:bodyPr wrap="square">
            <a:spAutoFit/>
          </a:bodyPr>
          <a:lstStyle/>
          <a:p>
            <a:pPr algn="l"/>
            <a:r>
              <a:rPr sz="1000" b="1" i="0">
                <a:solidFill>
                  <a:srgbClr val="0D2B55"/>
                </a:solidFill>
              </a:rPr>
              <a:t>  ✦  Background Threads</a:t>
            </a:r>
          </a:p>
        </p:txBody>
      </p:sp>
      <p:sp>
        <p:nvSpPr>
          <p:cNvPr id="37" name="TextBox 36"/>
          <p:cNvSpPr txBox="1"/>
          <p:nvPr/>
        </p:nvSpPr>
        <p:spPr>
          <a:xfrm>
            <a:off x="7818120" y="4498848"/>
            <a:ext cx="3931920" cy="219456"/>
          </a:xfrm>
          <a:prstGeom prst="rect">
            <a:avLst/>
          </a:prstGeom>
          <a:noFill/>
        </p:spPr>
        <p:txBody>
          <a:bodyPr wrap="square">
            <a:spAutoFit/>
          </a:bodyPr>
          <a:lstStyle/>
          <a:p>
            <a:pPr algn="l"/>
            <a:r>
              <a:rPr sz="850" b="0" i="1">
                <a:solidFill>
                  <a:srgbClr val="9E9E9E"/>
                </a:solidFill>
              </a:rPr>
              <a:t>     Needs scheduler daemon</a:t>
            </a:r>
          </a:p>
        </p:txBody>
      </p:sp>
      <p:sp>
        <p:nvSpPr>
          <p:cNvPr id="38" name="TextBox 37"/>
          <p:cNvSpPr txBox="1"/>
          <p:nvPr/>
        </p:nvSpPr>
        <p:spPr>
          <a:xfrm>
            <a:off x="7818120" y="4782312"/>
            <a:ext cx="3931920" cy="237744"/>
          </a:xfrm>
          <a:prstGeom prst="rect">
            <a:avLst/>
          </a:prstGeom>
          <a:noFill/>
        </p:spPr>
        <p:txBody>
          <a:bodyPr wrap="square">
            <a:spAutoFit/>
          </a:bodyPr>
          <a:lstStyle/>
          <a:p>
            <a:pPr algn="l"/>
            <a:r>
              <a:rPr sz="1000" b="1" i="0">
                <a:solidFill>
                  <a:srgbClr val="0D2B55"/>
                </a:solidFill>
              </a:rPr>
              <a:t>  ✦  HTML / CSS</a:t>
            </a:r>
          </a:p>
        </p:txBody>
      </p:sp>
      <p:sp>
        <p:nvSpPr>
          <p:cNvPr id="39" name="TextBox 38"/>
          <p:cNvSpPr txBox="1"/>
          <p:nvPr/>
        </p:nvSpPr>
        <p:spPr>
          <a:xfrm>
            <a:off x="7818120" y="5029200"/>
            <a:ext cx="3931920" cy="219456"/>
          </a:xfrm>
          <a:prstGeom prst="rect">
            <a:avLst/>
          </a:prstGeom>
          <a:noFill/>
        </p:spPr>
        <p:txBody>
          <a:bodyPr wrap="square">
            <a:spAutoFit/>
          </a:bodyPr>
          <a:lstStyle/>
          <a:p>
            <a:pPr algn="l"/>
            <a:r>
              <a:rPr sz="850" b="0" i="1">
                <a:solidFill>
                  <a:srgbClr val="9E9E9E"/>
                </a:solidFill>
              </a:rPr>
              <a:t>     Needs browser</a:t>
            </a:r>
          </a:p>
        </p:txBody>
      </p:sp>
      <p:sp>
        <p:nvSpPr>
          <p:cNvPr id="40" name="TextBox 39"/>
          <p:cNvSpPr txBox="1"/>
          <p:nvPr/>
        </p:nvSpPr>
        <p:spPr>
          <a:xfrm>
            <a:off x="7818120" y="5312664"/>
            <a:ext cx="3931920" cy="237744"/>
          </a:xfrm>
          <a:prstGeom prst="rect">
            <a:avLst/>
          </a:prstGeom>
          <a:noFill/>
        </p:spPr>
        <p:txBody>
          <a:bodyPr wrap="square">
            <a:spAutoFit/>
          </a:bodyPr>
          <a:lstStyle/>
          <a:p>
            <a:pPr algn="l"/>
            <a:r>
              <a:rPr sz="1000" b="1" i="0">
                <a:solidFill>
                  <a:srgbClr val="0D2B55"/>
                </a:solidFill>
              </a:rPr>
              <a:t>  ✦  PDF Export</a:t>
            </a:r>
          </a:p>
        </p:txBody>
      </p:sp>
      <p:sp>
        <p:nvSpPr>
          <p:cNvPr id="41" name="TextBox 40"/>
          <p:cNvSpPr txBox="1"/>
          <p:nvPr/>
        </p:nvSpPr>
        <p:spPr>
          <a:xfrm>
            <a:off x="7818120" y="5559552"/>
            <a:ext cx="3931920" cy="219456"/>
          </a:xfrm>
          <a:prstGeom prst="rect">
            <a:avLst/>
          </a:prstGeom>
          <a:noFill/>
        </p:spPr>
        <p:txBody>
          <a:bodyPr wrap="square">
            <a:spAutoFit/>
          </a:bodyPr>
          <a:lstStyle/>
          <a:p>
            <a:pPr algn="l"/>
            <a:r>
              <a:rPr sz="850" b="0" i="1">
                <a:solidFill>
                  <a:srgbClr val="9E9E9E"/>
                </a:solidFill>
              </a:rPr>
              <a:t>     Needs Apache POI</a:t>
            </a:r>
          </a:p>
        </p:txBody>
      </p:sp>
      <p:sp>
        <p:nvSpPr>
          <p:cNvPr id="42" name="TextBox 41"/>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Complete System Architecture</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Layered Architecture — Console MVC Pattern</a:t>
            </a:r>
          </a:p>
        </p:txBody>
      </p:sp>
      <p:sp>
        <p:nvSpPr>
          <p:cNvPr id="6" name="Rectangle 5"/>
          <p:cNvSpPr/>
          <p:nvPr/>
        </p:nvSpPr>
        <p:spPr>
          <a:xfrm>
            <a:off x="457200" y="1188720"/>
            <a:ext cx="11247120" cy="7772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43584"/>
            <a:ext cx="3200400" cy="320040"/>
          </a:xfrm>
          <a:prstGeom prst="rect">
            <a:avLst/>
          </a:prstGeom>
          <a:noFill/>
        </p:spPr>
        <p:txBody>
          <a:bodyPr wrap="square">
            <a:spAutoFit/>
          </a:bodyPr>
          <a:lstStyle/>
          <a:p>
            <a:pPr algn="l"/>
            <a:r>
              <a:rPr sz="1100" b="1" i="0">
                <a:solidFill>
                  <a:srgbClr val="FFFFFF"/>
                </a:solidFill>
              </a:rPr>
              <a:t>PRESENTATION LAYER</a:t>
            </a:r>
          </a:p>
        </p:txBody>
      </p:sp>
      <p:sp>
        <p:nvSpPr>
          <p:cNvPr id="8" name="TextBox 7"/>
          <p:cNvSpPr txBox="1"/>
          <p:nvPr/>
        </p:nvSpPr>
        <p:spPr>
          <a:xfrm>
            <a:off x="3931920" y="1243584"/>
            <a:ext cx="7589520" cy="685800"/>
          </a:xfrm>
          <a:prstGeom prst="rect">
            <a:avLst/>
          </a:prstGeom>
          <a:noFill/>
        </p:spPr>
        <p:txBody>
          <a:bodyPr wrap="square">
            <a:spAutoFit/>
          </a:bodyPr>
          <a:lstStyle/>
          <a:p>
            <a:pPr algn="l"/>
            <a:r>
              <a:rPr sz="1000" b="0" i="0">
                <a:solidFill>
                  <a:srgbClr val="FFFFFF"/>
                </a:solidFill>
              </a:rPr>
              <a:t>Console Menus  ·  printBanner()  ·  showMainMenu()  ·  showRunnerMenu()  ·  showAdminMenu()</a:t>
            </a:r>
          </a:p>
        </p:txBody>
      </p:sp>
      <p:sp>
        <p:nvSpPr>
          <p:cNvPr id="9" name="TextBox 8"/>
          <p:cNvSpPr txBox="1"/>
          <p:nvPr/>
        </p:nvSpPr>
        <p:spPr>
          <a:xfrm>
            <a:off x="5943600" y="1984248"/>
            <a:ext cx="365760" cy="91440"/>
          </a:xfrm>
          <a:prstGeom prst="rect">
            <a:avLst/>
          </a:prstGeom>
          <a:noFill/>
        </p:spPr>
        <p:txBody>
          <a:bodyPr wrap="square">
            <a:spAutoFit/>
          </a:bodyPr>
          <a:lstStyle/>
          <a:p>
            <a:pPr algn="ctr"/>
            <a:r>
              <a:rPr sz="1100" b="1" i="0">
                <a:solidFill>
                  <a:srgbClr val="1A73E8"/>
                </a:solidFill>
              </a:rPr>
              <a:t>↕</a:t>
            </a:r>
          </a:p>
        </p:txBody>
      </p:sp>
      <p:sp>
        <p:nvSpPr>
          <p:cNvPr id="10" name="Rectangle 9"/>
          <p:cNvSpPr/>
          <p:nvPr/>
        </p:nvSpPr>
        <p:spPr>
          <a:xfrm>
            <a:off x="457200" y="2075688"/>
            <a:ext cx="11247120" cy="77724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30552"/>
            <a:ext cx="3200400" cy="320040"/>
          </a:xfrm>
          <a:prstGeom prst="rect">
            <a:avLst/>
          </a:prstGeom>
          <a:noFill/>
        </p:spPr>
        <p:txBody>
          <a:bodyPr wrap="square">
            <a:spAutoFit/>
          </a:bodyPr>
          <a:lstStyle/>
          <a:p>
            <a:pPr algn="l"/>
            <a:r>
              <a:rPr sz="1100" b="1" i="0">
                <a:solidFill>
                  <a:srgbClr val="FFFFFF"/>
                </a:solidFill>
              </a:rPr>
              <a:t>AUTHENTICATION LAYER</a:t>
            </a:r>
          </a:p>
        </p:txBody>
      </p:sp>
      <p:sp>
        <p:nvSpPr>
          <p:cNvPr id="12" name="TextBox 11"/>
          <p:cNvSpPr txBox="1"/>
          <p:nvPr/>
        </p:nvSpPr>
        <p:spPr>
          <a:xfrm>
            <a:off x="3931920" y="2130552"/>
            <a:ext cx="7589520" cy="685800"/>
          </a:xfrm>
          <a:prstGeom prst="rect">
            <a:avLst/>
          </a:prstGeom>
          <a:noFill/>
        </p:spPr>
        <p:txBody>
          <a:bodyPr wrap="square">
            <a:spAutoFit/>
          </a:bodyPr>
          <a:lstStyle/>
          <a:p>
            <a:pPr algn="l"/>
            <a:r>
              <a:rPr sz="1000" b="0" i="0">
                <a:solidFill>
                  <a:srgbClr val="FFFFFF"/>
                </a:solidFill>
              </a:rPr>
              <a:t>UserMgr.login()  ·  isLocked()  ·  Role Check  ·  currentUser session</a:t>
            </a:r>
          </a:p>
        </p:txBody>
      </p:sp>
      <p:sp>
        <p:nvSpPr>
          <p:cNvPr id="13" name="TextBox 12"/>
          <p:cNvSpPr txBox="1"/>
          <p:nvPr/>
        </p:nvSpPr>
        <p:spPr>
          <a:xfrm>
            <a:off x="5943600" y="2871216"/>
            <a:ext cx="365760" cy="91440"/>
          </a:xfrm>
          <a:prstGeom prst="rect">
            <a:avLst/>
          </a:prstGeom>
          <a:noFill/>
        </p:spPr>
        <p:txBody>
          <a:bodyPr wrap="square">
            <a:spAutoFit/>
          </a:bodyPr>
          <a:lstStyle/>
          <a:p>
            <a:pPr algn="ctr"/>
            <a:r>
              <a:rPr sz="1100" b="1" i="0">
                <a:solidFill>
                  <a:srgbClr val="1A73E8"/>
                </a:solidFill>
              </a:rPr>
              <a:t>↕</a:t>
            </a:r>
          </a:p>
        </p:txBody>
      </p:sp>
      <p:sp>
        <p:nvSpPr>
          <p:cNvPr id="14" name="Rectangle 13"/>
          <p:cNvSpPr/>
          <p:nvPr/>
        </p:nvSpPr>
        <p:spPr>
          <a:xfrm>
            <a:off x="457200" y="2962656"/>
            <a:ext cx="11247120" cy="7772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17520"/>
            <a:ext cx="3200400" cy="320040"/>
          </a:xfrm>
          <a:prstGeom prst="rect">
            <a:avLst/>
          </a:prstGeom>
          <a:noFill/>
        </p:spPr>
        <p:txBody>
          <a:bodyPr wrap="square">
            <a:spAutoFit/>
          </a:bodyPr>
          <a:lstStyle/>
          <a:p>
            <a:pPr algn="l"/>
            <a:r>
              <a:rPr sz="1100" b="1" i="0">
                <a:solidFill>
                  <a:srgbClr val="FFFFFF"/>
                </a:solidFill>
              </a:rPr>
              <a:t>BUSINESS LOGIC LAYER</a:t>
            </a:r>
          </a:p>
        </p:txBody>
      </p:sp>
      <p:sp>
        <p:nvSpPr>
          <p:cNvPr id="16" name="TextBox 15"/>
          <p:cNvSpPr txBox="1"/>
          <p:nvPr/>
        </p:nvSpPr>
        <p:spPr>
          <a:xfrm>
            <a:off x="3931920" y="3017520"/>
            <a:ext cx="7589520" cy="685800"/>
          </a:xfrm>
          <a:prstGeom prst="rect">
            <a:avLst/>
          </a:prstGeom>
          <a:noFill/>
        </p:spPr>
        <p:txBody>
          <a:bodyPr wrap="square">
            <a:spAutoFit/>
          </a:bodyPr>
          <a:lstStyle/>
          <a:p>
            <a:pPr algn="l"/>
            <a:r>
              <a:rPr sz="1000" b="0" i="0">
                <a:solidFill>
                  <a:srgbClr val="FFFFFF"/>
                </a:solidFill>
              </a:rPr>
              <a:t>UserMgr  ·  RaceMgr  ·  RegMgr  ·  TrainingMgr  ·  ForumMgr  ·  AnalyticsMgr</a:t>
            </a:r>
          </a:p>
        </p:txBody>
      </p:sp>
      <p:sp>
        <p:nvSpPr>
          <p:cNvPr id="17" name="TextBox 16"/>
          <p:cNvSpPr txBox="1"/>
          <p:nvPr/>
        </p:nvSpPr>
        <p:spPr>
          <a:xfrm>
            <a:off x="5943600" y="3758184"/>
            <a:ext cx="365760" cy="91440"/>
          </a:xfrm>
          <a:prstGeom prst="rect">
            <a:avLst/>
          </a:prstGeom>
          <a:noFill/>
        </p:spPr>
        <p:txBody>
          <a:bodyPr wrap="square">
            <a:spAutoFit/>
          </a:bodyPr>
          <a:lstStyle/>
          <a:p>
            <a:pPr algn="ctr"/>
            <a:r>
              <a:rPr sz="1100" b="1" i="0">
                <a:solidFill>
                  <a:srgbClr val="1A73E8"/>
                </a:solidFill>
              </a:rPr>
              <a:t>↕</a:t>
            </a:r>
          </a:p>
        </p:txBody>
      </p:sp>
      <p:sp>
        <p:nvSpPr>
          <p:cNvPr id="18" name="Rectangle 17"/>
          <p:cNvSpPr/>
          <p:nvPr/>
        </p:nvSpPr>
        <p:spPr>
          <a:xfrm>
            <a:off x="457200" y="3849624"/>
            <a:ext cx="11247120" cy="777240"/>
          </a:xfrm>
          <a:prstGeom prst="rect">
            <a:avLst/>
          </a:prstGeom>
          <a:solidFill>
            <a:srgbClr val="5557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04488"/>
            <a:ext cx="3200400" cy="320040"/>
          </a:xfrm>
          <a:prstGeom prst="rect">
            <a:avLst/>
          </a:prstGeom>
          <a:noFill/>
        </p:spPr>
        <p:txBody>
          <a:bodyPr wrap="square">
            <a:spAutoFit/>
          </a:bodyPr>
          <a:lstStyle/>
          <a:p>
            <a:pPr algn="l"/>
            <a:r>
              <a:rPr sz="1100" b="1" i="0">
                <a:solidFill>
                  <a:srgbClr val="FFFFFF"/>
                </a:solidFill>
              </a:rPr>
              <a:t>VALIDATION LAYER</a:t>
            </a:r>
          </a:p>
        </p:txBody>
      </p:sp>
      <p:sp>
        <p:nvSpPr>
          <p:cNvPr id="20" name="TextBox 19"/>
          <p:cNvSpPr txBox="1"/>
          <p:nvPr/>
        </p:nvSpPr>
        <p:spPr>
          <a:xfrm>
            <a:off x="3931920" y="3904488"/>
            <a:ext cx="7589520" cy="685800"/>
          </a:xfrm>
          <a:prstGeom prst="rect">
            <a:avLst/>
          </a:prstGeom>
          <a:noFill/>
        </p:spPr>
        <p:txBody>
          <a:bodyPr wrap="square">
            <a:spAutoFit/>
          </a:bodyPr>
          <a:lstStyle/>
          <a:p>
            <a:pPr algn="l"/>
            <a:r>
              <a:rPr sz="1000" b="0" i="0">
                <a:solidFill>
                  <a:srgbClr val="FFFFFF"/>
                </a:solidFill>
              </a:rPr>
              <a:t>Email · Password · Age · Phone · Date · Pace · Distance · Duplicate · Capacity</a:t>
            </a:r>
          </a:p>
        </p:txBody>
      </p:sp>
      <p:sp>
        <p:nvSpPr>
          <p:cNvPr id="21" name="TextBox 20"/>
          <p:cNvSpPr txBox="1"/>
          <p:nvPr/>
        </p:nvSpPr>
        <p:spPr>
          <a:xfrm>
            <a:off x="5943600" y="4645152"/>
            <a:ext cx="365760" cy="91440"/>
          </a:xfrm>
          <a:prstGeom prst="rect">
            <a:avLst/>
          </a:prstGeom>
          <a:noFill/>
        </p:spPr>
        <p:txBody>
          <a:bodyPr wrap="square">
            <a:spAutoFit/>
          </a:bodyPr>
          <a:lstStyle/>
          <a:p>
            <a:pPr algn="ctr"/>
            <a:r>
              <a:rPr sz="1100" b="1" i="0">
                <a:solidFill>
                  <a:srgbClr val="1A73E8"/>
                </a:solidFill>
              </a:rPr>
              <a:t>↕</a:t>
            </a:r>
          </a:p>
        </p:txBody>
      </p:sp>
      <p:sp>
        <p:nvSpPr>
          <p:cNvPr id="22" name="Rectangle 21"/>
          <p:cNvSpPr/>
          <p:nvPr/>
        </p:nvSpPr>
        <p:spPr>
          <a:xfrm>
            <a:off x="457200" y="4736592"/>
            <a:ext cx="11247120" cy="7772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791456"/>
            <a:ext cx="3200400" cy="320040"/>
          </a:xfrm>
          <a:prstGeom prst="rect">
            <a:avLst/>
          </a:prstGeom>
          <a:noFill/>
        </p:spPr>
        <p:txBody>
          <a:bodyPr wrap="square">
            <a:spAutoFit/>
          </a:bodyPr>
          <a:lstStyle/>
          <a:p>
            <a:pPr algn="l"/>
            <a:r>
              <a:rPr sz="1100" b="1" i="0">
                <a:solidFill>
                  <a:srgbClr val="FFFFFF"/>
                </a:solidFill>
              </a:rPr>
              <a:t>DATA / STORAGE LAYER</a:t>
            </a:r>
          </a:p>
        </p:txBody>
      </p:sp>
      <p:sp>
        <p:nvSpPr>
          <p:cNvPr id="24" name="TextBox 23"/>
          <p:cNvSpPr txBox="1"/>
          <p:nvPr/>
        </p:nvSpPr>
        <p:spPr>
          <a:xfrm>
            <a:off x="3931920" y="4791456"/>
            <a:ext cx="7589520" cy="685800"/>
          </a:xfrm>
          <a:prstGeom prst="rect">
            <a:avLst/>
          </a:prstGeom>
          <a:noFill/>
        </p:spPr>
        <p:txBody>
          <a:bodyPr wrap="square">
            <a:spAutoFit/>
          </a:bodyPr>
          <a:lstStyle/>
          <a:p>
            <a:pPr algn="l"/>
            <a:r>
              <a:rPr sz="1000" b="0" i="0">
                <a:solidFill>
                  <a:srgbClr val="FFFFFF"/>
                </a:solidFill>
              </a:rPr>
              <a:t>ArrayList&lt;User&gt;  ·  ArrayList&lt;Race&gt;  ·  ArrayList&lt;TrainingLog&gt;  ·  HashMap&lt;String,User&gt;  ·  HashSet&lt;String&gt;</a:t>
            </a:r>
          </a:p>
        </p:txBody>
      </p:sp>
      <p:sp>
        <p:nvSpPr>
          <p:cNvPr id="25" name="TextBox 24"/>
          <p:cNvSpPr txBox="1"/>
          <p:nvPr/>
        </p:nvSpPr>
        <p:spPr>
          <a:xfrm>
            <a:off x="5943600" y="5532120"/>
            <a:ext cx="365760" cy="91440"/>
          </a:xfrm>
          <a:prstGeom prst="rect">
            <a:avLst/>
          </a:prstGeom>
          <a:noFill/>
        </p:spPr>
        <p:txBody>
          <a:bodyPr wrap="square">
            <a:spAutoFit/>
          </a:bodyPr>
          <a:lstStyle/>
          <a:p>
            <a:pPr algn="ctr"/>
            <a:r>
              <a:rPr sz="1100" b="1" i="0">
                <a:solidFill>
                  <a:srgbClr val="1A73E8"/>
                </a:solidFill>
              </a:rPr>
              <a:t>↕</a:t>
            </a:r>
          </a:p>
        </p:txBody>
      </p:sp>
      <p:sp>
        <p:nvSpPr>
          <p:cNvPr id="26" name="Rectangle 25"/>
          <p:cNvSpPr/>
          <p:nvPr/>
        </p:nvSpPr>
        <p:spPr>
          <a:xfrm>
            <a:off x="457200" y="5623559"/>
            <a:ext cx="11247120" cy="777240"/>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678423"/>
            <a:ext cx="3200400" cy="320040"/>
          </a:xfrm>
          <a:prstGeom prst="rect">
            <a:avLst/>
          </a:prstGeom>
          <a:noFill/>
        </p:spPr>
        <p:txBody>
          <a:bodyPr wrap="square">
            <a:spAutoFit/>
          </a:bodyPr>
          <a:lstStyle/>
          <a:p>
            <a:pPr algn="l"/>
            <a:r>
              <a:rPr sz="1100" b="1" i="0">
                <a:solidFill>
                  <a:srgbClr val="0D2B55"/>
                </a:solidFill>
              </a:rPr>
              <a:t>ENTITIES LAYER</a:t>
            </a:r>
          </a:p>
        </p:txBody>
      </p:sp>
      <p:sp>
        <p:nvSpPr>
          <p:cNvPr id="28" name="TextBox 27"/>
          <p:cNvSpPr txBox="1"/>
          <p:nvPr/>
        </p:nvSpPr>
        <p:spPr>
          <a:xfrm>
            <a:off x="3931920" y="5678423"/>
            <a:ext cx="7589520" cy="685800"/>
          </a:xfrm>
          <a:prstGeom prst="rect">
            <a:avLst/>
          </a:prstGeom>
          <a:noFill/>
        </p:spPr>
        <p:txBody>
          <a:bodyPr wrap="square">
            <a:spAutoFit/>
          </a:bodyPr>
          <a:lstStyle/>
          <a:p>
            <a:pPr algn="l"/>
            <a:r>
              <a:rPr sz="1000" b="0" i="0">
                <a:solidFill>
                  <a:srgbClr val="0D2B55"/>
                </a:solidFill>
              </a:rPr>
              <a:t>User  ·  Race  ·  TrainingLog  ·  ForumPost  ·  Registration</a:t>
            </a:r>
          </a:p>
        </p:txBody>
      </p:sp>
      <p:sp>
        <p:nvSpPr>
          <p:cNvPr id="29" name="TextBox 28"/>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Complete Program Flow</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From startup to output — step by step</a:t>
            </a:r>
          </a:p>
        </p:txBody>
      </p:sp>
      <p:sp>
        <p:nvSpPr>
          <p:cNvPr id="6" name="Rectangle 5"/>
          <p:cNvSpPr/>
          <p:nvPr/>
        </p:nvSpPr>
        <p:spPr>
          <a:xfrm>
            <a:off x="274320" y="1188720"/>
            <a:ext cx="2286000" cy="411480"/>
          </a:xfrm>
          <a:prstGeom prst="rect">
            <a:avLst/>
          </a:prstGeom>
          <a:solidFill>
            <a:srgbClr val="0D2B55"/>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 y="1234440"/>
            <a:ext cx="2194560" cy="338328"/>
          </a:xfrm>
          <a:prstGeom prst="rect">
            <a:avLst/>
          </a:prstGeom>
          <a:noFill/>
        </p:spPr>
        <p:txBody>
          <a:bodyPr wrap="square">
            <a:spAutoFit/>
          </a:bodyPr>
          <a:lstStyle/>
          <a:p>
            <a:pPr algn="ctr"/>
            <a:r>
              <a:rPr sz="1050" b="1" i="0">
                <a:solidFill>
                  <a:srgbClr val="FFFFFF"/>
                </a:solidFill>
              </a:rPr>
              <a:t>▶  JVM → main()</a:t>
            </a:r>
          </a:p>
        </p:txBody>
      </p:sp>
      <p:sp>
        <p:nvSpPr>
          <p:cNvPr id="8" name="TextBox 7"/>
          <p:cNvSpPr txBox="1"/>
          <p:nvPr/>
        </p:nvSpPr>
        <p:spPr>
          <a:xfrm>
            <a:off x="1188720" y="1618488"/>
            <a:ext cx="457200" cy="182880"/>
          </a:xfrm>
          <a:prstGeom prst="rect">
            <a:avLst/>
          </a:prstGeom>
          <a:noFill/>
        </p:spPr>
        <p:txBody>
          <a:bodyPr wrap="square">
            <a:spAutoFit/>
          </a:bodyPr>
          <a:lstStyle/>
          <a:p>
            <a:pPr algn="ctr"/>
            <a:r>
              <a:rPr sz="1400" b="1" i="0">
                <a:solidFill>
                  <a:srgbClr val="1A73E8"/>
                </a:solidFill>
              </a:rPr>
              <a:t>↓</a:t>
            </a:r>
          </a:p>
        </p:txBody>
      </p:sp>
      <p:sp>
        <p:nvSpPr>
          <p:cNvPr id="9" name="Rectangle 8"/>
          <p:cNvSpPr/>
          <p:nvPr/>
        </p:nvSpPr>
        <p:spPr>
          <a:xfrm>
            <a:off x="274320" y="1801368"/>
            <a:ext cx="2286000" cy="411480"/>
          </a:xfrm>
          <a:prstGeom prst="rect">
            <a:avLst/>
          </a:prstGeom>
          <a:solidFill>
            <a:srgbClr val="00897B"/>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 y="1847088"/>
            <a:ext cx="2194560" cy="338328"/>
          </a:xfrm>
          <a:prstGeom prst="rect">
            <a:avLst/>
          </a:prstGeom>
          <a:noFill/>
        </p:spPr>
        <p:txBody>
          <a:bodyPr wrap="square">
            <a:spAutoFit/>
          </a:bodyPr>
          <a:lstStyle/>
          <a:p>
            <a:pPr algn="ctr"/>
            <a:r>
              <a:rPr sz="1050" b="1" i="0">
                <a:solidFill>
                  <a:srgbClr val="FFFFFF"/>
                </a:solidFill>
              </a:rPr>
              <a:t>loadSeedData()</a:t>
            </a:r>
          </a:p>
        </p:txBody>
      </p:sp>
      <p:sp>
        <p:nvSpPr>
          <p:cNvPr id="11" name="TextBox 10"/>
          <p:cNvSpPr txBox="1"/>
          <p:nvPr/>
        </p:nvSpPr>
        <p:spPr>
          <a:xfrm>
            <a:off x="1188720" y="2231136"/>
            <a:ext cx="457200" cy="182880"/>
          </a:xfrm>
          <a:prstGeom prst="rect">
            <a:avLst/>
          </a:prstGeom>
          <a:noFill/>
        </p:spPr>
        <p:txBody>
          <a:bodyPr wrap="square">
            <a:spAutoFit/>
          </a:bodyPr>
          <a:lstStyle/>
          <a:p>
            <a:pPr algn="ctr"/>
            <a:r>
              <a:rPr sz="1400" b="1" i="0">
                <a:solidFill>
                  <a:srgbClr val="1A73E8"/>
                </a:solidFill>
              </a:rPr>
              <a:t>↓</a:t>
            </a:r>
          </a:p>
        </p:txBody>
      </p:sp>
      <p:sp>
        <p:nvSpPr>
          <p:cNvPr id="12" name="Rectangle 11"/>
          <p:cNvSpPr/>
          <p:nvPr/>
        </p:nvSpPr>
        <p:spPr>
          <a:xfrm>
            <a:off x="274320" y="2414016"/>
            <a:ext cx="2286000" cy="411480"/>
          </a:xfrm>
          <a:prstGeom prst="rect">
            <a:avLst/>
          </a:prstGeom>
          <a:solidFill>
            <a:srgbClr val="1A73E8"/>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 y="2459736"/>
            <a:ext cx="2194560" cy="338328"/>
          </a:xfrm>
          <a:prstGeom prst="rect">
            <a:avLst/>
          </a:prstGeom>
          <a:noFill/>
        </p:spPr>
        <p:txBody>
          <a:bodyPr wrap="square">
            <a:spAutoFit/>
          </a:bodyPr>
          <a:lstStyle/>
          <a:p>
            <a:pPr algn="ctr"/>
            <a:r>
              <a:rPr sz="1050" b="1" i="0">
                <a:solidFill>
                  <a:srgbClr val="FFFFFF"/>
                </a:solidFill>
              </a:rPr>
              <a:t>printBanner()</a:t>
            </a:r>
          </a:p>
        </p:txBody>
      </p:sp>
      <p:sp>
        <p:nvSpPr>
          <p:cNvPr id="14" name="TextBox 13"/>
          <p:cNvSpPr txBox="1"/>
          <p:nvPr/>
        </p:nvSpPr>
        <p:spPr>
          <a:xfrm>
            <a:off x="1188720" y="2843784"/>
            <a:ext cx="457200" cy="182880"/>
          </a:xfrm>
          <a:prstGeom prst="rect">
            <a:avLst/>
          </a:prstGeom>
          <a:noFill/>
        </p:spPr>
        <p:txBody>
          <a:bodyPr wrap="square">
            <a:spAutoFit/>
          </a:bodyPr>
          <a:lstStyle/>
          <a:p>
            <a:pPr algn="ctr"/>
            <a:r>
              <a:rPr sz="1400" b="1" i="0">
                <a:solidFill>
                  <a:srgbClr val="1A73E8"/>
                </a:solidFill>
              </a:rPr>
              <a:t>↓</a:t>
            </a:r>
          </a:p>
        </p:txBody>
      </p:sp>
      <p:sp>
        <p:nvSpPr>
          <p:cNvPr id="15" name="Rectangle 14"/>
          <p:cNvSpPr/>
          <p:nvPr/>
        </p:nvSpPr>
        <p:spPr>
          <a:xfrm>
            <a:off x="274320" y="3017520"/>
            <a:ext cx="2286000" cy="411480"/>
          </a:xfrm>
          <a:prstGeom prst="rect">
            <a:avLst/>
          </a:prstGeom>
          <a:solidFill>
            <a:srgbClr val="1A73E8"/>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 y="3063240"/>
            <a:ext cx="2194560" cy="338328"/>
          </a:xfrm>
          <a:prstGeom prst="rect">
            <a:avLst/>
          </a:prstGeom>
          <a:noFill/>
        </p:spPr>
        <p:txBody>
          <a:bodyPr wrap="square">
            <a:spAutoFit/>
          </a:bodyPr>
          <a:lstStyle/>
          <a:p>
            <a:pPr algn="ctr"/>
            <a:r>
              <a:rPr sz="1050" b="1" i="0">
                <a:solidFill>
                  <a:srgbClr val="FFFFFF"/>
                </a:solidFill>
              </a:rPr>
              <a:t>showMainMenu()</a:t>
            </a:r>
          </a:p>
        </p:txBody>
      </p:sp>
      <p:sp>
        <p:nvSpPr>
          <p:cNvPr id="17" name="TextBox 16"/>
          <p:cNvSpPr txBox="1"/>
          <p:nvPr/>
        </p:nvSpPr>
        <p:spPr>
          <a:xfrm>
            <a:off x="1188720" y="3447288"/>
            <a:ext cx="457200" cy="182880"/>
          </a:xfrm>
          <a:prstGeom prst="rect">
            <a:avLst/>
          </a:prstGeom>
          <a:noFill/>
        </p:spPr>
        <p:txBody>
          <a:bodyPr wrap="square">
            <a:spAutoFit/>
          </a:bodyPr>
          <a:lstStyle/>
          <a:p>
            <a:pPr algn="ctr"/>
            <a:r>
              <a:rPr sz="1400" b="1" i="0">
                <a:solidFill>
                  <a:srgbClr val="1A73E8"/>
                </a:solidFill>
              </a:rPr>
              <a:t>↓</a:t>
            </a:r>
          </a:p>
        </p:txBody>
      </p:sp>
      <p:sp>
        <p:nvSpPr>
          <p:cNvPr id="18" name="Rectangle 17"/>
          <p:cNvSpPr/>
          <p:nvPr/>
        </p:nvSpPr>
        <p:spPr>
          <a:xfrm>
            <a:off x="274320" y="3630168"/>
            <a:ext cx="2286000" cy="502920"/>
          </a:xfrm>
          <a:prstGeom prst="rect">
            <a:avLst/>
          </a:prstGeom>
          <a:solidFill>
            <a:srgbClr val="FF6D00"/>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675888"/>
            <a:ext cx="2212848" cy="429768"/>
          </a:xfrm>
          <a:prstGeom prst="rect">
            <a:avLst/>
          </a:prstGeom>
          <a:noFill/>
        </p:spPr>
        <p:txBody>
          <a:bodyPr wrap="square">
            <a:spAutoFit/>
          </a:bodyPr>
          <a:lstStyle/>
          <a:p>
            <a:pPr algn="ctr"/>
            <a:r>
              <a:rPr sz="950" b="1" i="0">
                <a:solidFill>
                  <a:srgbClr val="FFFFFF"/>
                </a:solidFill>
              </a:rPr>
              <a:t>User Choice?</a:t>
            </a:r>
          </a:p>
        </p:txBody>
      </p:sp>
      <p:sp>
        <p:nvSpPr>
          <p:cNvPr id="20" name="TextBox 19"/>
          <p:cNvSpPr txBox="1"/>
          <p:nvPr/>
        </p:nvSpPr>
        <p:spPr>
          <a:xfrm>
            <a:off x="2697480" y="3694176"/>
            <a:ext cx="1188720" cy="274320"/>
          </a:xfrm>
          <a:prstGeom prst="rect">
            <a:avLst/>
          </a:prstGeom>
          <a:noFill/>
        </p:spPr>
        <p:txBody>
          <a:bodyPr wrap="square">
            <a:spAutoFit/>
          </a:bodyPr>
          <a:lstStyle/>
          <a:p>
            <a:pPr algn="l"/>
            <a:r>
              <a:rPr sz="900" b="1" i="0">
                <a:solidFill>
                  <a:srgbClr val="34A853"/>
                </a:solidFill>
              </a:rPr>
              <a:t>[1] Register →</a:t>
            </a:r>
          </a:p>
        </p:txBody>
      </p:sp>
      <p:sp>
        <p:nvSpPr>
          <p:cNvPr id="21" name="TextBox 20"/>
          <p:cNvSpPr txBox="1"/>
          <p:nvPr/>
        </p:nvSpPr>
        <p:spPr>
          <a:xfrm>
            <a:off x="2697480" y="3968496"/>
            <a:ext cx="1188720" cy="274320"/>
          </a:xfrm>
          <a:prstGeom prst="rect">
            <a:avLst/>
          </a:prstGeom>
          <a:noFill/>
        </p:spPr>
        <p:txBody>
          <a:bodyPr wrap="square">
            <a:spAutoFit/>
          </a:bodyPr>
          <a:lstStyle/>
          <a:p>
            <a:pPr algn="l"/>
            <a:r>
              <a:rPr sz="900" b="1" i="0">
                <a:solidFill>
                  <a:srgbClr val="1A73E8"/>
                </a:solidFill>
              </a:rPr>
              <a:t>[2] Login →</a:t>
            </a:r>
          </a:p>
        </p:txBody>
      </p:sp>
      <p:sp>
        <p:nvSpPr>
          <p:cNvPr id="22" name="TextBox 21"/>
          <p:cNvSpPr txBox="1"/>
          <p:nvPr/>
        </p:nvSpPr>
        <p:spPr>
          <a:xfrm>
            <a:off x="2697480" y="4242816"/>
            <a:ext cx="1188720" cy="274320"/>
          </a:xfrm>
          <a:prstGeom prst="rect">
            <a:avLst/>
          </a:prstGeom>
          <a:noFill/>
        </p:spPr>
        <p:txBody>
          <a:bodyPr wrap="square">
            <a:spAutoFit/>
          </a:bodyPr>
          <a:lstStyle/>
          <a:p>
            <a:pPr algn="l"/>
            <a:r>
              <a:rPr sz="900" b="1" i="0">
                <a:solidFill>
                  <a:srgbClr val="EA4335"/>
                </a:solidFill>
              </a:rPr>
              <a:t>[0] Exit →</a:t>
            </a:r>
          </a:p>
        </p:txBody>
      </p:sp>
      <p:sp>
        <p:nvSpPr>
          <p:cNvPr id="23" name="Rectangle 22"/>
          <p:cNvSpPr/>
          <p:nvPr/>
        </p:nvSpPr>
        <p:spPr>
          <a:xfrm>
            <a:off x="4023360" y="3630168"/>
            <a:ext cx="1828800" cy="347472"/>
          </a:xfrm>
          <a:prstGeom prst="rect">
            <a:avLst/>
          </a:prstGeom>
          <a:solidFill>
            <a:srgbClr val="34A853"/>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78224" y="3675888"/>
            <a:ext cx="1737360" cy="274320"/>
          </a:xfrm>
          <a:prstGeom prst="rect">
            <a:avLst/>
          </a:prstGeom>
          <a:noFill/>
        </p:spPr>
        <p:txBody>
          <a:bodyPr wrap="square">
            <a:spAutoFit/>
          </a:bodyPr>
          <a:lstStyle/>
          <a:p>
            <a:pPr algn="ctr"/>
            <a:r>
              <a:rPr sz="1050" b="1" i="0">
                <a:solidFill>
                  <a:srgbClr val="FFFFFF"/>
                </a:solidFill>
              </a:rPr>
              <a:t>handleRegister()</a:t>
            </a:r>
          </a:p>
        </p:txBody>
      </p:sp>
      <p:sp>
        <p:nvSpPr>
          <p:cNvPr id="25" name="TextBox 24"/>
          <p:cNvSpPr txBox="1"/>
          <p:nvPr/>
        </p:nvSpPr>
        <p:spPr>
          <a:xfrm>
            <a:off x="5897880" y="3694176"/>
            <a:ext cx="274320" cy="274320"/>
          </a:xfrm>
          <a:prstGeom prst="rect">
            <a:avLst/>
          </a:prstGeom>
          <a:noFill/>
        </p:spPr>
        <p:txBody>
          <a:bodyPr wrap="square">
            <a:spAutoFit/>
          </a:bodyPr>
          <a:lstStyle/>
          <a:p>
            <a:pPr algn="ctr"/>
            <a:r>
              <a:rPr sz="1400" b="1" i="0">
                <a:solidFill>
                  <a:srgbClr val="34A853"/>
                </a:solidFill>
              </a:rPr>
              <a:t>→</a:t>
            </a:r>
          </a:p>
        </p:txBody>
      </p:sp>
      <p:sp>
        <p:nvSpPr>
          <p:cNvPr id="26" name="Rectangle 25"/>
          <p:cNvSpPr/>
          <p:nvPr/>
        </p:nvSpPr>
        <p:spPr>
          <a:xfrm>
            <a:off x="6217920" y="3630168"/>
            <a:ext cx="1828800" cy="347472"/>
          </a:xfrm>
          <a:prstGeom prst="rect">
            <a:avLst/>
          </a:prstGeom>
          <a:solidFill>
            <a:srgbClr val="34A853"/>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2784" y="3675888"/>
            <a:ext cx="1737360" cy="274320"/>
          </a:xfrm>
          <a:prstGeom prst="rect">
            <a:avLst/>
          </a:prstGeom>
          <a:noFill/>
        </p:spPr>
        <p:txBody>
          <a:bodyPr wrap="square">
            <a:spAutoFit/>
          </a:bodyPr>
          <a:lstStyle/>
          <a:p>
            <a:pPr algn="ctr"/>
            <a:r>
              <a:rPr sz="1050" b="1" i="0">
                <a:solidFill>
                  <a:srgbClr val="FFFFFF"/>
                </a:solidFill>
              </a:rPr>
              <a:t>UserMgr.register()</a:t>
            </a:r>
          </a:p>
        </p:txBody>
      </p:sp>
      <p:sp>
        <p:nvSpPr>
          <p:cNvPr id="28" name="TextBox 27"/>
          <p:cNvSpPr txBox="1"/>
          <p:nvPr/>
        </p:nvSpPr>
        <p:spPr>
          <a:xfrm>
            <a:off x="8092440" y="3694176"/>
            <a:ext cx="274320" cy="274320"/>
          </a:xfrm>
          <a:prstGeom prst="rect">
            <a:avLst/>
          </a:prstGeom>
          <a:noFill/>
        </p:spPr>
        <p:txBody>
          <a:bodyPr wrap="square">
            <a:spAutoFit/>
          </a:bodyPr>
          <a:lstStyle/>
          <a:p>
            <a:pPr algn="ctr"/>
            <a:r>
              <a:rPr sz="1400" b="1" i="0">
                <a:solidFill>
                  <a:srgbClr val="34A853"/>
                </a:solidFill>
              </a:rPr>
              <a:t>→</a:t>
            </a:r>
          </a:p>
        </p:txBody>
      </p:sp>
      <p:sp>
        <p:nvSpPr>
          <p:cNvPr id="29" name="Rectangle 28"/>
          <p:cNvSpPr/>
          <p:nvPr/>
        </p:nvSpPr>
        <p:spPr>
          <a:xfrm>
            <a:off x="8412480" y="3630168"/>
            <a:ext cx="1828800" cy="347472"/>
          </a:xfrm>
          <a:prstGeom prst="rect">
            <a:avLst/>
          </a:prstGeom>
          <a:solidFill>
            <a:srgbClr val="34A853"/>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67344" y="3675888"/>
            <a:ext cx="1737360" cy="274320"/>
          </a:xfrm>
          <a:prstGeom prst="rect">
            <a:avLst/>
          </a:prstGeom>
          <a:noFill/>
        </p:spPr>
        <p:txBody>
          <a:bodyPr wrap="square">
            <a:spAutoFit/>
          </a:bodyPr>
          <a:lstStyle/>
          <a:p>
            <a:pPr algn="ctr"/>
            <a:r>
              <a:rPr sz="1050" b="1" i="0">
                <a:solidFill>
                  <a:srgbClr val="FFFFFF"/>
                </a:solidFill>
              </a:rPr>
              <a:t>Validate → Save to List</a:t>
            </a:r>
          </a:p>
        </p:txBody>
      </p:sp>
      <p:sp>
        <p:nvSpPr>
          <p:cNvPr id="31" name="TextBox 30"/>
          <p:cNvSpPr txBox="1"/>
          <p:nvPr/>
        </p:nvSpPr>
        <p:spPr>
          <a:xfrm>
            <a:off x="10287000" y="3694176"/>
            <a:ext cx="274320" cy="274320"/>
          </a:xfrm>
          <a:prstGeom prst="rect">
            <a:avLst/>
          </a:prstGeom>
          <a:noFill/>
        </p:spPr>
        <p:txBody>
          <a:bodyPr wrap="square">
            <a:spAutoFit/>
          </a:bodyPr>
          <a:lstStyle/>
          <a:p>
            <a:pPr algn="ctr"/>
            <a:r>
              <a:rPr sz="1400" b="1" i="0">
                <a:solidFill>
                  <a:srgbClr val="34A853"/>
                </a:solidFill>
              </a:rPr>
              <a:t>→</a:t>
            </a:r>
          </a:p>
        </p:txBody>
      </p:sp>
      <p:sp>
        <p:nvSpPr>
          <p:cNvPr id="32" name="Rectangle 31"/>
          <p:cNvSpPr/>
          <p:nvPr/>
        </p:nvSpPr>
        <p:spPr>
          <a:xfrm>
            <a:off x="10607040" y="3630168"/>
            <a:ext cx="1371600" cy="347472"/>
          </a:xfrm>
          <a:prstGeom prst="rect">
            <a:avLst/>
          </a:prstGeom>
          <a:solidFill>
            <a:srgbClr val="34A853"/>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1904" y="3675888"/>
            <a:ext cx="1280160" cy="274320"/>
          </a:xfrm>
          <a:prstGeom prst="rect">
            <a:avLst/>
          </a:prstGeom>
          <a:noFill/>
        </p:spPr>
        <p:txBody>
          <a:bodyPr wrap="square">
            <a:spAutoFit/>
          </a:bodyPr>
          <a:lstStyle/>
          <a:p>
            <a:pPr algn="ctr"/>
            <a:r>
              <a:rPr sz="1050" b="1" i="0">
                <a:solidFill>
                  <a:srgbClr val="FFFFFF"/>
                </a:solidFill>
              </a:rPr>
              <a:t>PENDING Status</a:t>
            </a:r>
          </a:p>
        </p:txBody>
      </p:sp>
      <p:sp>
        <p:nvSpPr>
          <p:cNvPr id="34" name="Rectangle 33"/>
          <p:cNvSpPr/>
          <p:nvPr/>
        </p:nvSpPr>
        <p:spPr>
          <a:xfrm>
            <a:off x="4023360" y="4050791"/>
            <a:ext cx="1828800" cy="347472"/>
          </a:xfrm>
          <a:prstGeom prst="rect">
            <a:avLst/>
          </a:prstGeom>
          <a:solidFill>
            <a:srgbClr val="1A73E8"/>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78224" y="4096511"/>
            <a:ext cx="1737360" cy="274320"/>
          </a:xfrm>
          <a:prstGeom prst="rect">
            <a:avLst/>
          </a:prstGeom>
          <a:noFill/>
        </p:spPr>
        <p:txBody>
          <a:bodyPr wrap="square">
            <a:spAutoFit/>
          </a:bodyPr>
          <a:lstStyle/>
          <a:p>
            <a:pPr algn="ctr"/>
            <a:r>
              <a:rPr sz="1050" b="1" i="0">
                <a:solidFill>
                  <a:srgbClr val="FFFFFF"/>
                </a:solidFill>
              </a:rPr>
              <a:t>handleLogin()</a:t>
            </a:r>
          </a:p>
        </p:txBody>
      </p:sp>
      <p:sp>
        <p:nvSpPr>
          <p:cNvPr id="36" name="TextBox 35"/>
          <p:cNvSpPr txBox="1"/>
          <p:nvPr/>
        </p:nvSpPr>
        <p:spPr>
          <a:xfrm>
            <a:off x="5897880" y="4114800"/>
            <a:ext cx="274320" cy="274320"/>
          </a:xfrm>
          <a:prstGeom prst="rect">
            <a:avLst/>
          </a:prstGeom>
          <a:noFill/>
        </p:spPr>
        <p:txBody>
          <a:bodyPr wrap="square">
            <a:spAutoFit/>
          </a:bodyPr>
          <a:lstStyle/>
          <a:p>
            <a:pPr algn="ctr"/>
            <a:r>
              <a:rPr sz="1400" b="1" i="0">
                <a:solidFill>
                  <a:srgbClr val="1A73E8"/>
                </a:solidFill>
              </a:rPr>
              <a:t>→</a:t>
            </a:r>
          </a:p>
        </p:txBody>
      </p:sp>
      <p:sp>
        <p:nvSpPr>
          <p:cNvPr id="37" name="Rectangle 36"/>
          <p:cNvSpPr/>
          <p:nvPr/>
        </p:nvSpPr>
        <p:spPr>
          <a:xfrm>
            <a:off x="6217920" y="4050791"/>
            <a:ext cx="1645920" cy="502920"/>
          </a:xfrm>
          <a:prstGeom prst="rect">
            <a:avLst/>
          </a:prstGeom>
          <a:solidFill>
            <a:srgbClr val="FF6D00"/>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4096511"/>
            <a:ext cx="1572768" cy="429768"/>
          </a:xfrm>
          <a:prstGeom prst="rect">
            <a:avLst/>
          </a:prstGeom>
          <a:noFill/>
        </p:spPr>
        <p:txBody>
          <a:bodyPr wrap="square">
            <a:spAutoFit/>
          </a:bodyPr>
          <a:lstStyle/>
          <a:p>
            <a:pPr algn="ctr"/>
            <a:r>
              <a:rPr sz="950" b="1" i="0">
                <a:solidFill>
                  <a:srgbClr val="FFFFFF"/>
                </a:solidFill>
              </a:rPr>
              <a:t>Role?</a:t>
            </a:r>
          </a:p>
        </p:txBody>
      </p:sp>
      <p:sp>
        <p:nvSpPr>
          <p:cNvPr id="39" name="TextBox 38"/>
          <p:cNvSpPr txBox="1"/>
          <p:nvPr/>
        </p:nvSpPr>
        <p:spPr>
          <a:xfrm>
            <a:off x="7955279" y="4050791"/>
            <a:ext cx="1005840" cy="256032"/>
          </a:xfrm>
          <a:prstGeom prst="rect">
            <a:avLst/>
          </a:prstGeom>
          <a:noFill/>
        </p:spPr>
        <p:txBody>
          <a:bodyPr wrap="square">
            <a:spAutoFit/>
          </a:bodyPr>
          <a:lstStyle/>
          <a:p>
            <a:pPr algn="l"/>
            <a:r>
              <a:rPr sz="900" b="1" i="0">
                <a:solidFill>
                  <a:srgbClr val="0D2B55"/>
                </a:solidFill>
              </a:rPr>
              <a:t>ADMIN ↘</a:t>
            </a:r>
          </a:p>
        </p:txBody>
      </p:sp>
      <p:sp>
        <p:nvSpPr>
          <p:cNvPr id="40" name="TextBox 39"/>
          <p:cNvSpPr txBox="1"/>
          <p:nvPr/>
        </p:nvSpPr>
        <p:spPr>
          <a:xfrm>
            <a:off x="7955279" y="4306824"/>
            <a:ext cx="1005840" cy="256032"/>
          </a:xfrm>
          <a:prstGeom prst="rect">
            <a:avLst/>
          </a:prstGeom>
          <a:noFill/>
        </p:spPr>
        <p:txBody>
          <a:bodyPr wrap="square">
            <a:spAutoFit/>
          </a:bodyPr>
          <a:lstStyle/>
          <a:p>
            <a:pPr algn="l"/>
            <a:r>
              <a:rPr sz="900" b="1" i="0">
                <a:solidFill>
                  <a:srgbClr val="1A73E8"/>
                </a:solidFill>
              </a:rPr>
              <a:t>RUNNER ↗</a:t>
            </a:r>
          </a:p>
        </p:txBody>
      </p:sp>
      <p:sp>
        <p:nvSpPr>
          <p:cNvPr id="41" name="Rectangle 40"/>
          <p:cNvSpPr/>
          <p:nvPr/>
        </p:nvSpPr>
        <p:spPr>
          <a:xfrm>
            <a:off x="9052560" y="3886200"/>
            <a:ext cx="1463040" cy="347472"/>
          </a:xfrm>
          <a:prstGeom prst="rect">
            <a:avLst/>
          </a:prstGeom>
          <a:solidFill>
            <a:srgbClr val="0D2B55"/>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07424" y="3931920"/>
            <a:ext cx="1371600" cy="274320"/>
          </a:xfrm>
          <a:prstGeom prst="rect">
            <a:avLst/>
          </a:prstGeom>
          <a:noFill/>
        </p:spPr>
        <p:txBody>
          <a:bodyPr wrap="square">
            <a:spAutoFit/>
          </a:bodyPr>
          <a:lstStyle/>
          <a:p>
            <a:pPr algn="ctr"/>
            <a:r>
              <a:rPr sz="1050" b="1" i="0">
                <a:solidFill>
                  <a:srgbClr val="FFFFFF"/>
                </a:solidFill>
              </a:rPr>
              <a:t>showAdminMenu()</a:t>
            </a:r>
          </a:p>
        </p:txBody>
      </p:sp>
      <p:sp>
        <p:nvSpPr>
          <p:cNvPr id="43" name="Rectangle 42"/>
          <p:cNvSpPr/>
          <p:nvPr/>
        </p:nvSpPr>
        <p:spPr>
          <a:xfrm>
            <a:off x="9052560" y="4343400"/>
            <a:ext cx="1463040" cy="347472"/>
          </a:xfrm>
          <a:prstGeom prst="rect">
            <a:avLst/>
          </a:prstGeom>
          <a:solidFill>
            <a:srgbClr val="1A73E8"/>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07424" y="4389120"/>
            <a:ext cx="1371600" cy="274320"/>
          </a:xfrm>
          <a:prstGeom prst="rect">
            <a:avLst/>
          </a:prstGeom>
          <a:noFill/>
        </p:spPr>
        <p:txBody>
          <a:bodyPr wrap="square">
            <a:spAutoFit/>
          </a:bodyPr>
          <a:lstStyle/>
          <a:p>
            <a:pPr algn="ctr"/>
            <a:r>
              <a:rPr sz="1050" b="1" i="0">
                <a:solidFill>
                  <a:srgbClr val="FFFFFF"/>
                </a:solidFill>
              </a:rPr>
              <a:t>showRunnerMenu()</a:t>
            </a:r>
          </a:p>
        </p:txBody>
      </p:sp>
      <p:sp>
        <p:nvSpPr>
          <p:cNvPr id="45" name="TextBox 44"/>
          <p:cNvSpPr txBox="1"/>
          <p:nvPr/>
        </p:nvSpPr>
        <p:spPr>
          <a:xfrm>
            <a:off x="10561320" y="3950208"/>
            <a:ext cx="914400" cy="256032"/>
          </a:xfrm>
          <a:prstGeom prst="rect">
            <a:avLst/>
          </a:prstGeom>
          <a:noFill/>
        </p:spPr>
        <p:txBody>
          <a:bodyPr wrap="square">
            <a:spAutoFit/>
          </a:bodyPr>
          <a:lstStyle/>
          <a:p>
            <a:pPr algn="l"/>
            <a:r>
              <a:rPr sz="850" b="1" i="0">
                <a:solidFill>
                  <a:srgbClr val="0D2B55"/>
                </a:solidFill>
              </a:rPr>
              <a:t>→ 7 options</a:t>
            </a:r>
          </a:p>
        </p:txBody>
      </p:sp>
      <p:sp>
        <p:nvSpPr>
          <p:cNvPr id="46" name="TextBox 45"/>
          <p:cNvSpPr txBox="1"/>
          <p:nvPr/>
        </p:nvSpPr>
        <p:spPr>
          <a:xfrm>
            <a:off x="10561320" y="4407408"/>
            <a:ext cx="914400" cy="256032"/>
          </a:xfrm>
          <a:prstGeom prst="rect">
            <a:avLst/>
          </a:prstGeom>
          <a:noFill/>
        </p:spPr>
        <p:txBody>
          <a:bodyPr wrap="square">
            <a:spAutoFit/>
          </a:bodyPr>
          <a:lstStyle/>
          <a:p>
            <a:pPr algn="l"/>
            <a:r>
              <a:rPr sz="850" b="1" i="0">
                <a:solidFill>
                  <a:srgbClr val="1A73E8"/>
                </a:solidFill>
              </a:rPr>
              <a:t>→ 10 options</a:t>
            </a:r>
          </a:p>
        </p:txBody>
      </p:sp>
      <p:sp>
        <p:nvSpPr>
          <p:cNvPr id="47" name="Rectangle 46"/>
          <p:cNvSpPr/>
          <p:nvPr/>
        </p:nvSpPr>
        <p:spPr>
          <a:xfrm>
            <a:off x="4023360" y="5029200"/>
            <a:ext cx="1828800" cy="411480"/>
          </a:xfrm>
          <a:prstGeom prst="rect">
            <a:avLst/>
          </a:prstGeom>
          <a:solidFill>
            <a:srgbClr val="5557B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78224" y="5074920"/>
            <a:ext cx="1737360" cy="338328"/>
          </a:xfrm>
          <a:prstGeom prst="rect">
            <a:avLst/>
          </a:prstGeom>
          <a:noFill/>
        </p:spPr>
        <p:txBody>
          <a:bodyPr wrap="square">
            <a:spAutoFit/>
          </a:bodyPr>
          <a:lstStyle/>
          <a:p>
            <a:pPr algn="ctr"/>
            <a:r>
              <a:rPr sz="1050" b="1" i="0">
                <a:solidFill>
                  <a:srgbClr val="FFFFFF"/>
                </a:solidFill>
              </a:rPr>
              <a:t>Manager Class
(Validate)</a:t>
            </a:r>
          </a:p>
        </p:txBody>
      </p:sp>
      <p:sp>
        <p:nvSpPr>
          <p:cNvPr id="49" name="TextBox 48"/>
          <p:cNvSpPr txBox="1"/>
          <p:nvPr/>
        </p:nvSpPr>
        <p:spPr>
          <a:xfrm>
            <a:off x="5897880" y="5138928"/>
            <a:ext cx="365760" cy="274320"/>
          </a:xfrm>
          <a:prstGeom prst="rect">
            <a:avLst/>
          </a:prstGeom>
          <a:noFill/>
        </p:spPr>
        <p:txBody>
          <a:bodyPr wrap="square">
            <a:spAutoFit/>
          </a:bodyPr>
          <a:lstStyle/>
          <a:p>
            <a:pPr algn="ctr"/>
            <a:r>
              <a:rPr sz="1400" b="1" i="0">
                <a:solidFill>
                  <a:srgbClr val="1A73E8"/>
                </a:solidFill>
              </a:rPr>
              <a:t>→</a:t>
            </a:r>
          </a:p>
        </p:txBody>
      </p:sp>
      <p:sp>
        <p:nvSpPr>
          <p:cNvPr id="50" name="Rectangle 49"/>
          <p:cNvSpPr/>
          <p:nvPr/>
        </p:nvSpPr>
        <p:spPr>
          <a:xfrm>
            <a:off x="6309360" y="5029200"/>
            <a:ext cx="1828800" cy="411480"/>
          </a:xfrm>
          <a:prstGeom prst="rect">
            <a:avLst/>
          </a:prstGeom>
          <a:solidFill>
            <a:srgbClr val="8E24AA"/>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64224" y="5074920"/>
            <a:ext cx="1737360" cy="338328"/>
          </a:xfrm>
          <a:prstGeom prst="rect">
            <a:avLst/>
          </a:prstGeom>
          <a:noFill/>
        </p:spPr>
        <p:txBody>
          <a:bodyPr wrap="square">
            <a:spAutoFit/>
          </a:bodyPr>
          <a:lstStyle/>
          <a:p>
            <a:pPr algn="ctr"/>
            <a:r>
              <a:rPr sz="1050" b="1" i="0">
                <a:solidFill>
                  <a:srgbClr val="FFFFFF"/>
                </a:solidFill>
              </a:rPr>
              <a:t>Collection
(Store/Update)</a:t>
            </a:r>
          </a:p>
        </p:txBody>
      </p:sp>
      <p:sp>
        <p:nvSpPr>
          <p:cNvPr id="52" name="TextBox 51"/>
          <p:cNvSpPr txBox="1"/>
          <p:nvPr/>
        </p:nvSpPr>
        <p:spPr>
          <a:xfrm>
            <a:off x="8183879" y="5138928"/>
            <a:ext cx="365760" cy="274320"/>
          </a:xfrm>
          <a:prstGeom prst="rect">
            <a:avLst/>
          </a:prstGeom>
          <a:noFill/>
        </p:spPr>
        <p:txBody>
          <a:bodyPr wrap="square">
            <a:spAutoFit/>
          </a:bodyPr>
          <a:lstStyle/>
          <a:p>
            <a:pPr algn="ctr"/>
            <a:r>
              <a:rPr sz="1400" b="1" i="0">
                <a:solidFill>
                  <a:srgbClr val="1A73E8"/>
                </a:solidFill>
              </a:rPr>
              <a:t>→</a:t>
            </a:r>
          </a:p>
        </p:txBody>
      </p:sp>
      <p:sp>
        <p:nvSpPr>
          <p:cNvPr id="53" name="Rectangle 52"/>
          <p:cNvSpPr/>
          <p:nvPr/>
        </p:nvSpPr>
        <p:spPr>
          <a:xfrm>
            <a:off x="8595360" y="5029200"/>
            <a:ext cx="1828800" cy="411480"/>
          </a:xfrm>
          <a:prstGeom prst="rect">
            <a:avLst/>
          </a:prstGeom>
          <a:solidFill>
            <a:srgbClr val="34A853"/>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0224" y="5074920"/>
            <a:ext cx="1737360" cy="338328"/>
          </a:xfrm>
          <a:prstGeom prst="rect">
            <a:avLst/>
          </a:prstGeom>
          <a:noFill/>
        </p:spPr>
        <p:txBody>
          <a:bodyPr wrap="square">
            <a:spAutoFit/>
          </a:bodyPr>
          <a:lstStyle/>
          <a:p>
            <a:pPr algn="ctr"/>
            <a:r>
              <a:rPr sz="1050" b="1" i="0">
                <a:solidFill>
                  <a:srgbClr val="FFFFFF"/>
                </a:solidFill>
              </a:rPr>
              <a:t>Console Output
ok() / err() / warn()</a:t>
            </a:r>
          </a:p>
        </p:txBody>
      </p:sp>
      <p:sp>
        <p:nvSpPr>
          <p:cNvPr id="55" name="TextBox 54"/>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Complete Code Structure</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MarathonPortal.java — 7 Sections · 1505 Lines</a:t>
            </a:r>
          </a:p>
        </p:txBody>
      </p:sp>
      <p:sp>
        <p:nvSpPr>
          <p:cNvPr id="6" name="Rectangle 5"/>
          <p:cNvSpPr/>
          <p:nvPr/>
        </p:nvSpPr>
        <p:spPr>
          <a:xfrm>
            <a:off x="228600" y="1188720"/>
            <a:ext cx="1234440" cy="70408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225296"/>
            <a:ext cx="1188720" cy="274320"/>
          </a:xfrm>
          <a:prstGeom prst="rect">
            <a:avLst/>
          </a:prstGeom>
          <a:noFill/>
        </p:spPr>
        <p:txBody>
          <a:bodyPr wrap="square">
            <a:spAutoFit/>
          </a:bodyPr>
          <a:lstStyle/>
          <a:p>
            <a:pPr algn="ctr"/>
            <a:r>
              <a:rPr sz="900" b="1" i="0">
                <a:solidFill>
                  <a:srgbClr val="FFFFFF"/>
                </a:solidFill>
              </a:rPr>
              <a:t>Section 1</a:t>
            </a:r>
          </a:p>
        </p:txBody>
      </p:sp>
      <p:sp>
        <p:nvSpPr>
          <p:cNvPr id="8" name="TextBox 7"/>
          <p:cNvSpPr txBox="1"/>
          <p:nvPr/>
        </p:nvSpPr>
        <p:spPr>
          <a:xfrm>
            <a:off x="256032" y="1527048"/>
            <a:ext cx="1188720" cy="256032"/>
          </a:xfrm>
          <a:prstGeom prst="rect">
            <a:avLst/>
          </a:prstGeom>
          <a:noFill/>
        </p:spPr>
        <p:txBody>
          <a:bodyPr wrap="square">
            <a:spAutoFit/>
          </a:bodyPr>
          <a:lstStyle/>
          <a:p>
            <a:pPr algn="ctr"/>
            <a:r>
              <a:rPr sz="800" b="0" i="0">
                <a:solidFill>
                  <a:srgbClr val="CCDDFF"/>
                </a:solidFill>
              </a:rPr>
              <a:t>Lines 26–191</a:t>
            </a:r>
          </a:p>
        </p:txBody>
      </p:sp>
      <p:sp>
        <p:nvSpPr>
          <p:cNvPr id="9" name="Rectangle 8"/>
          <p:cNvSpPr/>
          <p:nvPr/>
        </p:nvSpPr>
        <p:spPr>
          <a:xfrm>
            <a:off x="1536192" y="1188720"/>
            <a:ext cx="2286000" cy="70408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1371600"/>
            <a:ext cx="2194560" cy="365760"/>
          </a:xfrm>
          <a:prstGeom prst="rect">
            <a:avLst/>
          </a:prstGeom>
          <a:noFill/>
        </p:spPr>
        <p:txBody>
          <a:bodyPr wrap="square">
            <a:spAutoFit/>
          </a:bodyPr>
          <a:lstStyle/>
          <a:p>
            <a:pPr algn="ctr"/>
            <a:r>
              <a:rPr sz="1100" b="1" i="0">
                <a:solidFill>
                  <a:srgbClr val="FFFFFF"/>
                </a:solidFill>
              </a:rPr>
              <a:t>Data Entities</a:t>
            </a:r>
          </a:p>
        </p:txBody>
      </p:sp>
      <p:sp>
        <p:nvSpPr>
          <p:cNvPr id="11" name="Rectangle 10"/>
          <p:cNvSpPr/>
          <p:nvPr/>
        </p:nvSpPr>
        <p:spPr>
          <a:xfrm>
            <a:off x="3886200" y="1188720"/>
            <a:ext cx="8046720" cy="704088"/>
          </a:xfrm>
          <a:prstGeom prst="rect">
            <a:avLst/>
          </a:prstGeom>
          <a:solidFill>
            <a:srgbClr val="E8F0FE"/>
          </a:solidFill>
          <a:ln w="1270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353312"/>
            <a:ext cx="7863840" cy="411480"/>
          </a:xfrm>
          <a:prstGeom prst="rect">
            <a:avLst/>
          </a:prstGeom>
          <a:noFill/>
        </p:spPr>
        <p:txBody>
          <a:bodyPr wrap="square">
            <a:spAutoFit/>
          </a:bodyPr>
          <a:lstStyle/>
          <a:p>
            <a:pPr algn="l"/>
            <a:r>
              <a:rPr sz="950" b="0" i="0">
                <a:solidFill>
                  <a:srgbClr val="0D2B55"/>
                </a:solidFill>
              </a:rPr>
              <a:t>User  ·  Race  ·  TrainingLog  ·  ForumPost  ·  Registration</a:t>
            </a:r>
          </a:p>
        </p:txBody>
      </p:sp>
      <p:sp>
        <p:nvSpPr>
          <p:cNvPr id="13" name="Rectangle 12"/>
          <p:cNvSpPr/>
          <p:nvPr/>
        </p:nvSpPr>
        <p:spPr>
          <a:xfrm>
            <a:off x="228600" y="1961388"/>
            <a:ext cx="1234440" cy="70408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 y="1997964"/>
            <a:ext cx="1188720" cy="274320"/>
          </a:xfrm>
          <a:prstGeom prst="rect">
            <a:avLst/>
          </a:prstGeom>
          <a:noFill/>
        </p:spPr>
        <p:txBody>
          <a:bodyPr wrap="square">
            <a:spAutoFit/>
          </a:bodyPr>
          <a:lstStyle/>
          <a:p>
            <a:pPr algn="ctr"/>
            <a:r>
              <a:rPr sz="900" b="1" i="0">
                <a:solidFill>
                  <a:srgbClr val="FFFFFF"/>
                </a:solidFill>
              </a:rPr>
              <a:t>Section 2</a:t>
            </a:r>
          </a:p>
        </p:txBody>
      </p:sp>
      <p:sp>
        <p:nvSpPr>
          <p:cNvPr id="15" name="TextBox 14"/>
          <p:cNvSpPr txBox="1"/>
          <p:nvPr/>
        </p:nvSpPr>
        <p:spPr>
          <a:xfrm>
            <a:off x="256032" y="2299716"/>
            <a:ext cx="1188720" cy="256032"/>
          </a:xfrm>
          <a:prstGeom prst="rect">
            <a:avLst/>
          </a:prstGeom>
          <a:noFill/>
        </p:spPr>
        <p:txBody>
          <a:bodyPr wrap="square">
            <a:spAutoFit/>
          </a:bodyPr>
          <a:lstStyle/>
          <a:p>
            <a:pPr algn="ctr"/>
            <a:r>
              <a:rPr sz="800" b="0" i="0">
                <a:solidFill>
                  <a:srgbClr val="CCDDFF"/>
                </a:solidFill>
              </a:rPr>
              <a:t>Lines 193–223</a:t>
            </a:r>
          </a:p>
        </p:txBody>
      </p:sp>
      <p:sp>
        <p:nvSpPr>
          <p:cNvPr id="16" name="Rectangle 15"/>
          <p:cNvSpPr/>
          <p:nvPr/>
        </p:nvSpPr>
        <p:spPr>
          <a:xfrm>
            <a:off x="1536192" y="1961388"/>
            <a:ext cx="2286000" cy="70408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2144268"/>
            <a:ext cx="2194560" cy="365760"/>
          </a:xfrm>
          <a:prstGeom prst="rect">
            <a:avLst/>
          </a:prstGeom>
          <a:noFill/>
        </p:spPr>
        <p:txBody>
          <a:bodyPr wrap="square">
            <a:spAutoFit/>
          </a:bodyPr>
          <a:lstStyle/>
          <a:p>
            <a:pPr algn="ctr"/>
            <a:r>
              <a:rPr sz="1100" b="1" i="0">
                <a:solidFill>
                  <a:srgbClr val="FFFFFF"/>
                </a:solidFill>
              </a:rPr>
              <a:t>In-Memory Database</a:t>
            </a:r>
          </a:p>
        </p:txBody>
      </p:sp>
      <p:sp>
        <p:nvSpPr>
          <p:cNvPr id="18" name="Rectangle 17"/>
          <p:cNvSpPr/>
          <p:nvPr/>
        </p:nvSpPr>
        <p:spPr>
          <a:xfrm>
            <a:off x="3886200" y="1961388"/>
            <a:ext cx="8046720" cy="704088"/>
          </a:xfrm>
          <a:prstGeom prst="rect">
            <a:avLst/>
          </a:prstGeom>
          <a:solidFill>
            <a:srgbClr val="E8F0FE"/>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39" y="2125980"/>
            <a:ext cx="7863840" cy="411480"/>
          </a:xfrm>
          <a:prstGeom prst="rect">
            <a:avLst/>
          </a:prstGeom>
          <a:noFill/>
        </p:spPr>
        <p:txBody>
          <a:bodyPr wrap="square">
            <a:spAutoFit/>
          </a:bodyPr>
          <a:lstStyle/>
          <a:p>
            <a:pPr algn="l"/>
            <a:r>
              <a:rPr sz="950" b="0" i="0">
                <a:solidFill>
                  <a:srgbClr val="0D2B55"/>
                </a:solidFill>
              </a:rPr>
              <a:t>ArrayList · HashMap · HashSet · ID Counters · Scanner · Formatters</a:t>
            </a:r>
          </a:p>
        </p:txBody>
      </p:sp>
      <p:sp>
        <p:nvSpPr>
          <p:cNvPr id="20" name="Rectangle 19"/>
          <p:cNvSpPr/>
          <p:nvPr/>
        </p:nvSpPr>
        <p:spPr>
          <a:xfrm>
            <a:off x="228600" y="2734056"/>
            <a:ext cx="1234440" cy="70408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2770632"/>
            <a:ext cx="1188720" cy="274320"/>
          </a:xfrm>
          <a:prstGeom prst="rect">
            <a:avLst/>
          </a:prstGeom>
          <a:noFill/>
        </p:spPr>
        <p:txBody>
          <a:bodyPr wrap="square">
            <a:spAutoFit/>
          </a:bodyPr>
          <a:lstStyle/>
          <a:p>
            <a:pPr algn="ctr"/>
            <a:r>
              <a:rPr sz="900" b="1" i="0">
                <a:solidFill>
                  <a:srgbClr val="FFFFFF"/>
                </a:solidFill>
              </a:rPr>
              <a:t>Section 3</a:t>
            </a:r>
          </a:p>
        </p:txBody>
      </p:sp>
      <p:sp>
        <p:nvSpPr>
          <p:cNvPr id="22" name="TextBox 21"/>
          <p:cNvSpPr txBox="1"/>
          <p:nvPr/>
        </p:nvSpPr>
        <p:spPr>
          <a:xfrm>
            <a:off x="256032" y="3072384"/>
            <a:ext cx="1188720" cy="256032"/>
          </a:xfrm>
          <a:prstGeom prst="rect">
            <a:avLst/>
          </a:prstGeom>
          <a:noFill/>
        </p:spPr>
        <p:txBody>
          <a:bodyPr wrap="square">
            <a:spAutoFit/>
          </a:bodyPr>
          <a:lstStyle/>
          <a:p>
            <a:pPr algn="ctr"/>
            <a:r>
              <a:rPr sz="800" b="0" i="0">
                <a:solidFill>
                  <a:srgbClr val="CCDDFF"/>
                </a:solidFill>
              </a:rPr>
              <a:t>Lines 225–556</a:t>
            </a:r>
          </a:p>
        </p:txBody>
      </p:sp>
      <p:sp>
        <p:nvSpPr>
          <p:cNvPr id="23" name="Rectangle 22"/>
          <p:cNvSpPr/>
          <p:nvPr/>
        </p:nvSpPr>
        <p:spPr>
          <a:xfrm>
            <a:off x="1536192" y="2734056"/>
            <a:ext cx="2286000" cy="70408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72768" y="2916936"/>
            <a:ext cx="2194560" cy="365760"/>
          </a:xfrm>
          <a:prstGeom prst="rect">
            <a:avLst/>
          </a:prstGeom>
          <a:noFill/>
        </p:spPr>
        <p:txBody>
          <a:bodyPr wrap="square">
            <a:spAutoFit/>
          </a:bodyPr>
          <a:lstStyle/>
          <a:p>
            <a:pPr algn="ctr"/>
            <a:r>
              <a:rPr sz="1100" b="1" i="0">
                <a:solidFill>
                  <a:srgbClr val="FFFFFF"/>
                </a:solidFill>
              </a:rPr>
              <a:t>Business Logic Managers</a:t>
            </a:r>
          </a:p>
        </p:txBody>
      </p:sp>
      <p:sp>
        <p:nvSpPr>
          <p:cNvPr id="25" name="Rectangle 24"/>
          <p:cNvSpPr/>
          <p:nvPr/>
        </p:nvSpPr>
        <p:spPr>
          <a:xfrm>
            <a:off x="3886200" y="2734056"/>
            <a:ext cx="8046720" cy="704088"/>
          </a:xfrm>
          <a:prstGeom prst="rect">
            <a:avLst/>
          </a:prstGeom>
          <a:solidFill>
            <a:srgbClr val="E8F0FE"/>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77639" y="2898648"/>
            <a:ext cx="7863840" cy="411480"/>
          </a:xfrm>
          <a:prstGeom prst="rect">
            <a:avLst/>
          </a:prstGeom>
          <a:noFill/>
        </p:spPr>
        <p:txBody>
          <a:bodyPr wrap="square">
            <a:spAutoFit/>
          </a:bodyPr>
          <a:lstStyle/>
          <a:p>
            <a:pPr algn="l"/>
            <a:r>
              <a:rPr sz="950" b="0" i="0">
                <a:solidFill>
                  <a:srgbClr val="0D2B55"/>
                </a:solidFill>
              </a:rPr>
              <a:t>UserMgr · RaceMgr · RegMgr · TrainingMgr · ForumMgr · AnalyticsMgr</a:t>
            </a:r>
          </a:p>
        </p:txBody>
      </p:sp>
      <p:sp>
        <p:nvSpPr>
          <p:cNvPr id="27" name="Rectangle 26"/>
          <p:cNvSpPr/>
          <p:nvPr/>
        </p:nvSpPr>
        <p:spPr>
          <a:xfrm>
            <a:off x="228600" y="3506724"/>
            <a:ext cx="1234440" cy="704088"/>
          </a:xfrm>
          <a:prstGeom prst="rect">
            <a:avLst/>
          </a:prstGeom>
          <a:solidFill>
            <a:srgbClr val="5557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3543300"/>
            <a:ext cx="1188720" cy="274320"/>
          </a:xfrm>
          <a:prstGeom prst="rect">
            <a:avLst/>
          </a:prstGeom>
          <a:noFill/>
        </p:spPr>
        <p:txBody>
          <a:bodyPr wrap="square">
            <a:spAutoFit/>
          </a:bodyPr>
          <a:lstStyle/>
          <a:p>
            <a:pPr algn="ctr"/>
            <a:r>
              <a:rPr sz="900" b="1" i="0">
                <a:solidFill>
                  <a:srgbClr val="FFFFFF"/>
                </a:solidFill>
              </a:rPr>
              <a:t>Section 4</a:t>
            </a:r>
          </a:p>
        </p:txBody>
      </p:sp>
      <p:sp>
        <p:nvSpPr>
          <p:cNvPr id="29" name="TextBox 28"/>
          <p:cNvSpPr txBox="1"/>
          <p:nvPr/>
        </p:nvSpPr>
        <p:spPr>
          <a:xfrm>
            <a:off x="256032" y="3845052"/>
            <a:ext cx="1188720" cy="256032"/>
          </a:xfrm>
          <a:prstGeom prst="rect">
            <a:avLst/>
          </a:prstGeom>
          <a:noFill/>
        </p:spPr>
        <p:txBody>
          <a:bodyPr wrap="square">
            <a:spAutoFit/>
          </a:bodyPr>
          <a:lstStyle/>
          <a:p>
            <a:pPr algn="ctr"/>
            <a:r>
              <a:rPr sz="800" b="0" i="0">
                <a:solidFill>
                  <a:srgbClr val="CCDDFF"/>
                </a:solidFill>
              </a:rPr>
              <a:t>Lines 606–754</a:t>
            </a:r>
          </a:p>
        </p:txBody>
      </p:sp>
      <p:sp>
        <p:nvSpPr>
          <p:cNvPr id="30" name="Rectangle 29"/>
          <p:cNvSpPr/>
          <p:nvPr/>
        </p:nvSpPr>
        <p:spPr>
          <a:xfrm>
            <a:off x="1536192" y="3506724"/>
            <a:ext cx="2286000" cy="704088"/>
          </a:xfrm>
          <a:prstGeom prst="rect">
            <a:avLst/>
          </a:prstGeom>
          <a:solidFill>
            <a:srgbClr val="5557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72768" y="3689604"/>
            <a:ext cx="2194560" cy="365760"/>
          </a:xfrm>
          <a:prstGeom prst="rect">
            <a:avLst/>
          </a:prstGeom>
          <a:noFill/>
        </p:spPr>
        <p:txBody>
          <a:bodyPr wrap="square">
            <a:spAutoFit/>
          </a:bodyPr>
          <a:lstStyle/>
          <a:p>
            <a:pPr algn="ctr"/>
            <a:r>
              <a:rPr sz="1100" b="1" i="0">
                <a:solidFill>
                  <a:srgbClr val="FFFFFF"/>
                </a:solidFill>
              </a:rPr>
              <a:t>Main Menus</a:t>
            </a:r>
          </a:p>
        </p:txBody>
      </p:sp>
      <p:sp>
        <p:nvSpPr>
          <p:cNvPr id="32" name="Rectangle 31"/>
          <p:cNvSpPr/>
          <p:nvPr/>
        </p:nvSpPr>
        <p:spPr>
          <a:xfrm>
            <a:off x="3886200" y="3506724"/>
            <a:ext cx="8046720" cy="704088"/>
          </a:xfrm>
          <a:prstGeom prst="rect">
            <a:avLst/>
          </a:prstGeom>
          <a:solidFill>
            <a:srgbClr val="E8F0FE"/>
          </a:solidFill>
          <a:ln w="12700">
            <a:solidFill>
              <a:srgbClr val="5557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77639" y="3671316"/>
            <a:ext cx="7863840" cy="411480"/>
          </a:xfrm>
          <a:prstGeom prst="rect">
            <a:avLst/>
          </a:prstGeom>
          <a:noFill/>
        </p:spPr>
        <p:txBody>
          <a:bodyPr wrap="square">
            <a:spAutoFit/>
          </a:bodyPr>
          <a:lstStyle/>
          <a:p>
            <a:pPr algn="l"/>
            <a:r>
              <a:rPr sz="950" b="0" i="0">
                <a:solidFill>
                  <a:srgbClr val="0D2B55"/>
                </a:solidFill>
              </a:rPr>
              <a:t>showMainMenu() · handleRegister() · handleLogin() · showRunnerMenu() · showAdminMenu()</a:t>
            </a:r>
          </a:p>
        </p:txBody>
      </p:sp>
      <p:sp>
        <p:nvSpPr>
          <p:cNvPr id="34" name="Rectangle 33"/>
          <p:cNvSpPr/>
          <p:nvPr/>
        </p:nvSpPr>
        <p:spPr>
          <a:xfrm>
            <a:off x="228600" y="4279392"/>
            <a:ext cx="1234440" cy="704088"/>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4315968"/>
            <a:ext cx="1188720" cy="274320"/>
          </a:xfrm>
          <a:prstGeom prst="rect">
            <a:avLst/>
          </a:prstGeom>
          <a:noFill/>
        </p:spPr>
        <p:txBody>
          <a:bodyPr wrap="square">
            <a:spAutoFit/>
          </a:bodyPr>
          <a:lstStyle/>
          <a:p>
            <a:pPr algn="ctr"/>
            <a:r>
              <a:rPr sz="900" b="1" i="0">
                <a:solidFill>
                  <a:srgbClr val="FFFFFF"/>
                </a:solidFill>
              </a:rPr>
              <a:t>Section 5</a:t>
            </a:r>
          </a:p>
        </p:txBody>
      </p:sp>
      <p:sp>
        <p:nvSpPr>
          <p:cNvPr id="36" name="TextBox 35"/>
          <p:cNvSpPr txBox="1"/>
          <p:nvPr/>
        </p:nvSpPr>
        <p:spPr>
          <a:xfrm>
            <a:off x="256032" y="4617720"/>
            <a:ext cx="1188720" cy="256032"/>
          </a:xfrm>
          <a:prstGeom prst="rect">
            <a:avLst/>
          </a:prstGeom>
          <a:noFill/>
        </p:spPr>
        <p:txBody>
          <a:bodyPr wrap="square">
            <a:spAutoFit/>
          </a:bodyPr>
          <a:lstStyle/>
          <a:p>
            <a:pPr algn="ctr"/>
            <a:r>
              <a:rPr sz="800" b="0" i="0">
                <a:solidFill>
                  <a:srgbClr val="CCDDFF"/>
                </a:solidFill>
              </a:rPr>
              <a:t>Lines 756–1104</a:t>
            </a:r>
          </a:p>
        </p:txBody>
      </p:sp>
      <p:sp>
        <p:nvSpPr>
          <p:cNvPr id="37" name="Rectangle 36"/>
          <p:cNvSpPr/>
          <p:nvPr/>
        </p:nvSpPr>
        <p:spPr>
          <a:xfrm>
            <a:off x="1536192" y="4279392"/>
            <a:ext cx="2286000" cy="704088"/>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72768" y="4462272"/>
            <a:ext cx="2194560" cy="365760"/>
          </a:xfrm>
          <a:prstGeom prst="rect">
            <a:avLst/>
          </a:prstGeom>
          <a:noFill/>
        </p:spPr>
        <p:txBody>
          <a:bodyPr wrap="square">
            <a:spAutoFit/>
          </a:bodyPr>
          <a:lstStyle/>
          <a:p>
            <a:pPr algn="ctr"/>
            <a:r>
              <a:rPr sz="1100" b="1" i="0">
                <a:solidFill>
                  <a:srgbClr val="FFFFFF"/>
                </a:solidFill>
              </a:rPr>
              <a:t>Runner Features (10 options)</a:t>
            </a:r>
          </a:p>
        </p:txBody>
      </p:sp>
      <p:sp>
        <p:nvSpPr>
          <p:cNvPr id="39" name="Rectangle 38"/>
          <p:cNvSpPr/>
          <p:nvPr/>
        </p:nvSpPr>
        <p:spPr>
          <a:xfrm>
            <a:off x="3886200" y="4279392"/>
            <a:ext cx="8046720" cy="704088"/>
          </a:xfrm>
          <a:prstGeom prst="rect">
            <a:avLst/>
          </a:prstGeom>
          <a:solidFill>
            <a:srgbClr val="E8F0FE"/>
          </a:solidFill>
          <a:ln w="1270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77639" y="4443984"/>
            <a:ext cx="7863840" cy="411480"/>
          </a:xfrm>
          <a:prstGeom prst="rect">
            <a:avLst/>
          </a:prstGeom>
          <a:noFill/>
        </p:spPr>
        <p:txBody>
          <a:bodyPr wrap="square">
            <a:spAutoFit/>
          </a:bodyPr>
          <a:lstStyle/>
          <a:p>
            <a:pPr algn="l"/>
            <a:r>
              <a:rPr sz="950" b="0" i="0">
                <a:solidFill>
                  <a:srgbClr val="0D2B55"/>
                </a:solidFill>
              </a:rPr>
              <a:t>viewProfile · viewRaces · registerRace · addTraining · viewDashboard · editTraining · viewForum · postForum · exportTraining</a:t>
            </a:r>
          </a:p>
        </p:txBody>
      </p:sp>
      <p:sp>
        <p:nvSpPr>
          <p:cNvPr id="41" name="Rectangle 40"/>
          <p:cNvSpPr/>
          <p:nvPr/>
        </p:nvSpPr>
        <p:spPr>
          <a:xfrm>
            <a:off x="228600" y="5052059"/>
            <a:ext cx="1234440" cy="70408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 y="5088635"/>
            <a:ext cx="1188720" cy="274320"/>
          </a:xfrm>
          <a:prstGeom prst="rect">
            <a:avLst/>
          </a:prstGeom>
          <a:noFill/>
        </p:spPr>
        <p:txBody>
          <a:bodyPr wrap="square">
            <a:spAutoFit/>
          </a:bodyPr>
          <a:lstStyle/>
          <a:p>
            <a:pPr algn="ctr"/>
            <a:r>
              <a:rPr sz="900" b="1" i="0">
                <a:solidFill>
                  <a:srgbClr val="FFFFFF"/>
                </a:solidFill>
              </a:rPr>
              <a:t>Section 6</a:t>
            </a:r>
          </a:p>
        </p:txBody>
      </p:sp>
      <p:sp>
        <p:nvSpPr>
          <p:cNvPr id="43" name="TextBox 42"/>
          <p:cNvSpPr txBox="1"/>
          <p:nvPr/>
        </p:nvSpPr>
        <p:spPr>
          <a:xfrm>
            <a:off x="256032" y="5390387"/>
            <a:ext cx="1188720" cy="256032"/>
          </a:xfrm>
          <a:prstGeom prst="rect">
            <a:avLst/>
          </a:prstGeom>
          <a:noFill/>
        </p:spPr>
        <p:txBody>
          <a:bodyPr wrap="square">
            <a:spAutoFit/>
          </a:bodyPr>
          <a:lstStyle/>
          <a:p>
            <a:pPr algn="ctr"/>
            <a:r>
              <a:rPr sz="800" b="0" i="0">
                <a:solidFill>
                  <a:srgbClr val="CCDDFF"/>
                </a:solidFill>
              </a:rPr>
              <a:t>Lines 1106–1424</a:t>
            </a:r>
          </a:p>
        </p:txBody>
      </p:sp>
      <p:sp>
        <p:nvSpPr>
          <p:cNvPr id="44" name="Rectangle 43"/>
          <p:cNvSpPr/>
          <p:nvPr/>
        </p:nvSpPr>
        <p:spPr>
          <a:xfrm>
            <a:off x="1536192" y="5052059"/>
            <a:ext cx="2286000" cy="70408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72768" y="5234939"/>
            <a:ext cx="2194560" cy="365760"/>
          </a:xfrm>
          <a:prstGeom prst="rect">
            <a:avLst/>
          </a:prstGeom>
          <a:noFill/>
        </p:spPr>
        <p:txBody>
          <a:bodyPr wrap="square">
            <a:spAutoFit/>
          </a:bodyPr>
          <a:lstStyle/>
          <a:p>
            <a:pPr algn="ctr"/>
            <a:r>
              <a:rPr sz="1100" b="1" i="0">
                <a:solidFill>
                  <a:srgbClr val="FFFFFF"/>
                </a:solidFill>
              </a:rPr>
              <a:t>Admin Features (7 options)</a:t>
            </a:r>
          </a:p>
        </p:txBody>
      </p:sp>
      <p:sp>
        <p:nvSpPr>
          <p:cNvPr id="46" name="Rectangle 45"/>
          <p:cNvSpPr/>
          <p:nvPr/>
        </p:nvSpPr>
        <p:spPr>
          <a:xfrm>
            <a:off x="3886200" y="5052059"/>
            <a:ext cx="8046720" cy="704088"/>
          </a:xfrm>
          <a:prstGeom prst="rect">
            <a:avLst/>
          </a:prstGeom>
          <a:solidFill>
            <a:srgbClr val="E8F0FE"/>
          </a:solidFill>
          <a:ln w="1270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77639" y="5216651"/>
            <a:ext cx="7863840" cy="411480"/>
          </a:xfrm>
          <a:prstGeom prst="rect">
            <a:avLst/>
          </a:prstGeom>
          <a:noFill/>
        </p:spPr>
        <p:txBody>
          <a:bodyPr wrap="square">
            <a:spAutoFit/>
          </a:bodyPr>
          <a:lstStyle/>
          <a:p>
            <a:pPr algn="l"/>
            <a:r>
              <a:rPr sz="950" b="0" i="0">
                <a:solidFill>
                  <a:srgbClr val="0D2B55"/>
                </a:solidFill>
              </a:rPr>
              <a:t>adminUsers · adminRaces · adminForum · adminAnalytics · adminExports · adminSecurityLog · adminMarkCompleted</a:t>
            </a:r>
          </a:p>
        </p:txBody>
      </p:sp>
      <p:sp>
        <p:nvSpPr>
          <p:cNvPr id="48" name="Rectangle 47"/>
          <p:cNvSpPr/>
          <p:nvPr/>
        </p:nvSpPr>
        <p:spPr>
          <a:xfrm>
            <a:off x="228600" y="5824728"/>
            <a:ext cx="1234440" cy="70408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6032" y="5861304"/>
            <a:ext cx="1188720" cy="274320"/>
          </a:xfrm>
          <a:prstGeom prst="rect">
            <a:avLst/>
          </a:prstGeom>
          <a:noFill/>
        </p:spPr>
        <p:txBody>
          <a:bodyPr wrap="square">
            <a:spAutoFit/>
          </a:bodyPr>
          <a:lstStyle/>
          <a:p>
            <a:pPr algn="ctr"/>
            <a:r>
              <a:rPr sz="900" b="1" i="0">
                <a:solidFill>
                  <a:srgbClr val="FFFFFF"/>
                </a:solidFill>
              </a:rPr>
              <a:t>Section 7</a:t>
            </a:r>
          </a:p>
        </p:txBody>
      </p:sp>
      <p:sp>
        <p:nvSpPr>
          <p:cNvPr id="50" name="TextBox 49"/>
          <p:cNvSpPr txBox="1"/>
          <p:nvPr/>
        </p:nvSpPr>
        <p:spPr>
          <a:xfrm>
            <a:off x="256032" y="6163056"/>
            <a:ext cx="1188720" cy="256032"/>
          </a:xfrm>
          <a:prstGeom prst="rect">
            <a:avLst/>
          </a:prstGeom>
          <a:noFill/>
        </p:spPr>
        <p:txBody>
          <a:bodyPr wrap="square">
            <a:spAutoFit/>
          </a:bodyPr>
          <a:lstStyle/>
          <a:p>
            <a:pPr algn="ctr"/>
            <a:r>
              <a:rPr sz="800" b="0" i="0">
                <a:solidFill>
                  <a:srgbClr val="CCDDFF"/>
                </a:solidFill>
              </a:rPr>
              <a:t>Lines 1426–1503</a:t>
            </a:r>
          </a:p>
        </p:txBody>
      </p:sp>
      <p:sp>
        <p:nvSpPr>
          <p:cNvPr id="51" name="Rectangle 50"/>
          <p:cNvSpPr/>
          <p:nvPr/>
        </p:nvSpPr>
        <p:spPr>
          <a:xfrm>
            <a:off x="1536192" y="5824728"/>
            <a:ext cx="2286000" cy="70408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72768" y="6007608"/>
            <a:ext cx="2194560" cy="365760"/>
          </a:xfrm>
          <a:prstGeom prst="rect">
            <a:avLst/>
          </a:prstGeom>
          <a:noFill/>
        </p:spPr>
        <p:txBody>
          <a:bodyPr wrap="square">
            <a:spAutoFit/>
          </a:bodyPr>
          <a:lstStyle/>
          <a:p>
            <a:pPr algn="ctr"/>
            <a:r>
              <a:rPr sz="1100" b="1" i="0">
                <a:solidFill>
                  <a:srgbClr val="FFFFFF"/>
                </a:solidFill>
              </a:rPr>
              <a:t>Helper IO Functions</a:t>
            </a:r>
          </a:p>
        </p:txBody>
      </p:sp>
      <p:sp>
        <p:nvSpPr>
          <p:cNvPr id="53" name="Rectangle 52"/>
          <p:cNvSpPr/>
          <p:nvPr/>
        </p:nvSpPr>
        <p:spPr>
          <a:xfrm>
            <a:off x="3886200" y="5824728"/>
            <a:ext cx="8046720" cy="704088"/>
          </a:xfrm>
          <a:prstGeom prst="rect">
            <a:avLst/>
          </a:prstGeom>
          <a:solidFill>
            <a:srgbClr val="E8F0FE"/>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977639" y="5989320"/>
            <a:ext cx="7863840" cy="411480"/>
          </a:xfrm>
          <a:prstGeom prst="rect">
            <a:avLst/>
          </a:prstGeom>
          <a:noFill/>
        </p:spPr>
        <p:txBody>
          <a:bodyPr wrap="square">
            <a:spAutoFit/>
          </a:bodyPr>
          <a:lstStyle/>
          <a:p>
            <a:pPr algn="l"/>
            <a:r>
              <a:rPr sz="950" b="0" i="0">
                <a:solidFill>
                  <a:srgbClr val="0D2B55"/>
                </a:solidFill>
              </a:rPr>
              <a:t>readStr · readInt · readDouble · ok · err · warn · pause · line · printBanner · findById</a:t>
            </a:r>
          </a:p>
        </p:txBody>
      </p:sp>
      <p:sp>
        <p:nvSpPr>
          <p:cNvPr id="55" name="TextBox 54"/>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Method Call Hierarchy</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Complete method tree — every function shown</a:t>
            </a:r>
          </a:p>
        </p:txBody>
      </p:sp>
      <p:sp>
        <p:nvSpPr>
          <p:cNvPr id="6" name="TextBox 5"/>
          <p:cNvSpPr txBox="1"/>
          <p:nvPr/>
        </p:nvSpPr>
        <p:spPr>
          <a:xfrm>
            <a:off x="320040" y="1161288"/>
            <a:ext cx="11430000" cy="246888"/>
          </a:xfrm>
          <a:prstGeom prst="rect">
            <a:avLst/>
          </a:prstGeom>
          <a:noFill/>
        </p:spPr>
        <p:txBody>
          <a:bodyPr wrap="square">
            <a:spAutoFit/>
          </a:bodyPr>
          <a:lstStyle/>
          <a:p>
            <a:pPr algn="l"/>
            <a:r>
              <a:rPr sz="1200" b="1" i="0">
                <a:solidFill>
                  <a:srgbClr val="0D2B55"/>
                </a:solidFill>
              </a:rPr>
              <a:t>main()</a:t>
            </a:r>
          </a:p>
        </p:txBody>
      </p:sp>
      <p:sp>
        <p:nvSpPr>
          <p:cNvPr id="7" name="TextBox 6"/>
          <p:cNvSpPr txBox="1"/>
          <p:nvPr/>
        </p:nvSpPr>
        <p:spPr>
          <a:xfrm>
            <a:off x="640080" y="1421892"/>
            <a:ext cx="11109960" cy="246888"/>
          </a:xfrm>
          <a:prstGeom prst="rect">
            <a:avLst/>
          </a:prstGeom>
          <a:noFill/>
        </p:spPr>
        <p:txBody>
          <a:bodyPr wrap="square">
            <a:spAutoFit/>
          </a:bodyPr>
          <a:lstStyle/>
          <a:p>
            <a:pPr algn="l"/>
            <a:r>
              <a:rPr sz="1050" b="0" i="0">
                <a:solidFill>
                  <a:srgbClr val="1A73E8"/>
                </a:solidFill>
              </a:rPr>
              <a:t>├── loadSeedData()  ·  printBanner()  ·  showMainMenu()</a:t>
            </a:r>
          </a:p>
        </p:txBody>
      </p:sp>
      <p:sp>
        <p:nvSpPr>
          <p:cNvPr id="8" name="TextBox 7"/>
          <p:cNvSpPr txBox="1"/>
          <p:nvPr/>
        </p:nvSpPr>
        <p:spPr>
          <a:xfrm>
            <a:off x="960120" y="1682495"/>
            <a:ext cx="10789920" cy="246888"/>
          </a:xfrm>
          <a:prstGeom prst="rect">
            <a:avLst/>
          </a:prstGeom>
          <a:noFill/>
        </p:spPr>
        <p:txBody>
          <a:bodyPr wrap="square">
            <a:spAutoFit/>
          </a:bodyPr>
          <a:lstStyle/>
          <a:p>
            <a:pPr algn="l"/>
            <a:r>
              <a:rPr sz="950" b="0" i="0">
                <a:solidFill>
                  <a:srgbClr val="34A853"/>
                </a:solidFill>
              </a:rPr>
              <a:t>│   └── handleRegister()  →  UserMgr.register()  →  checkPassword()</a:t>
            </a:r>
          </a:p>
        </p:txBody>
      </p:sp>
      <p:sp>
        <p:nvSpPr>
          <p:cNvPr id="9" name="TextBox 8"/>
          <p:cNvSpPr txBox="1"/>
          <p:nvPr/>
        </p:nvSpPr>
        <p:spPr>
          <a:xfrm>
            <a:off x="960120" y="1943100"/>
            <a:ext cx="10789920" cy="246888"/>
          </a:xfrm>
          <a:prstGeom prst="rect">
            <a:avLst/>
          </a:prstGeom>
          <a:noFill/>
        </p:spPr>
        <p:txBody>
          <a:bodyPr wrap="square">
            <a:spAutoFit/>
          </a:bodyPr>
          <a:lstStyle/>
          <a:p>
            <a:pPr algn="l"/>
            <a:r>
              <a:rPr sz="950" b="0" i="0">
                <a:solidFill>
                  <a:srgbClr val="1A73E8"/>
                </a:solidFill>
              </a:rPr>
              <a:t>│   └── handleLogin()  →  UserMgr.login()  →  isLocked()  →  logFailedAttempt()</a:t>
            </a:r>
          </a:p>
        </p:txBody>
      </p:sp>
      <p:sp>
        <p:nvSpPr>
          <p:cNvPr id="10" name="TextBox 9"/>
          <p:cNvSpPr txBox="1"/>
          <p:nvPr/>
        </p:nvSpPr>
        <p:spPr>
          <a:xfrm>
            <a:off x="960120" y="2203704"/>
            <a:ext cx="10789920" cy="246888"/>
          </a:xfrm>
          <a:prstGeom prst="rect">
            <a:avLst/>
          </a:prstGeom>
          <a:noFill/>
        </p:spPr>
        <p:txBody>
          <a:bodyPr wrap="square">
            <a:spAutoFit/>
          </a:bodyPr>
          <a:lstStyle/>
          <a:p>
            <a:pPr algn="l"/>
            <a:r>
              <a:rPr sz="950" b="0" i="0">
                <a:solidFill>
                  <a:srgbClr val="EA4335"/>
                </a:solidFill>
              </a:rPr>
              <a:t>│   └── System.exit(0)</a:t>
            </a:r>
          </a:p>
        </p:txBody>
      </p:sp>
      <p:sp>
        <p:nvSpPr>
          <p:cNvPr id="11" name="TextBox 10"/>
          <p:cNvSpPr txBox="1"/>
          <p:nvPr/>
        </p:nvSpPr>
        <p:spPr>
          <a:xfrm>
            <a:off x="640080" y="2464308"/>
            <a:ext cx="11109960" cy="246888"/>
          </a:xfrm>
          <a:prstGeom prst="rect">
            <a:avLst/>
          </a:prstGeom>
          <a:noFill/>
        </p:spPr>
        <p:txBody>
          <a:bodyPr wrap="square">
            <a:spAutoFit/>
          </a:bodyPr>
          <a:lstStyle/>
          <a:p>
            <a:pPr algn="l"/>
            <a:r>
              <a:rPr sz="1050" b="0" i="0">
                <a:solidFill>
                  <a:srgbClr val="1A73E8"/>
                </a:solidFill>
              </a:rPr>
              <a:t>├── showRunnerMenu()</a:t>
            </a:r>
          </a:p>
        </p:txBody>
      </p:sp>
      <p:sp>
        <p:nvSpPr>
          <p:cNvPr id="12" name="TextBox 11"/>
          <p:cNvSpPr txBox="1"/>
          <p:nvPr/>
        </p:nvSpPr>
        <p:spPr>
          <a:xfrm>
            <a:off x="960120" y="2724912"/>
            <a:ext cx="10789920" cy="246888"/>
          </a:xfrm>
          <a:prstGeom prst="rect">
            <a:avLst/>
          </a:prstGeom>
          <a:noFill/>
        </p:spPr>
        <p:txBody>
          <a:bodyPr wrap="square">
            <a:spAutoFit/>
          </a:bodyPr>
          <a:lstStyle/>
          <a:p>
            <a:pPr algn="l"/>
            <a:r>
              <a:rPr sz="950" b="0" i="0">
                <a:solidFill>
                  <a:srgbClr val="5557BF"/>
                </a:solidFill>
              </a:rPr>
              <a:t>│   └── viewProfile()  →  findRaceById()  ·  Personal Bests Map</a:t>
            </a:r>
          </a:p>
        </p:txBody>
      </p:sp>
      <p:sp>
        <p:nvSpPr>
          <p:cNvPr id="13" name="TextBox 12"/>
          <p:cNvSpPr txBox="1"/>
          <p:nvPr/>
        </p:nvSpPr>
        <p:spPr>
          <a:xfrm>
            <a:off x="960120" y="2985515"/>
            <a:ext cx="10789920" cy="246888"/>
          </a:xfrm>
          <a:prstGeom prst="rect">
            <a:avLst/>
          </a:prstGeom>
          <a:noFill/>
        </p:spPr>
        <p:txBody>
          <a:bodyPr wrap="square">
            <a:spAutoFit/>
          </a:bodyPr>
          <a:lstStyle/>
          <a:p>
            <a:pPr algn="l"/>
            <a:r>
              <a:rPr sz="950" b="0" i="0">
                <a:solidFill>
                  <a:srgbClr val="5557BF"/>
                </a:solidFill>
              </a:rPr>
              <a:t>│   └── viewRaces()  →  Race filters  ·  signedUp HashSet</a:t>
            </a:r>
          </a:p>
        </p:txBody>
      </p:sp>
      <p:sp>
        <p:nvSpPr>
          <p:cNvPr id="14" name="TextBox 13"/>
          <p:cNvSpPr txBox="1"/>
          <p:nvPr/>
        </p:nvSpPr>
        <p:spPr>
          <a:xfrm>
            <a:off x="960120" y="3246120"/>
            <a:ext cx="10789920" cy="246888"/>
          </a:xfrm>
          <a:prstGeom prst="rect">
            <a:avLst/>
          </a:prstGeom>
          <a:noFill/>
        </p:spPr>
        <p:txBody>
          <a:bodyPr wrap="square">
            <a:spAutoFit/>
          </a:bodyPr>
          <a:lstStyle/>
          <a:p>
            <a:pPr algn="l"/>
            <a:r>
              <a:rPr sz="950" b="0" i="0">
                <a:solidFill>
                  <a:srgbClr val="5557BF"/>
                </a:solidFill>
              </a:rPr>
              <a:t>│   └── registerRace()  →  RegMgr.register()  →  logsCount  ·  latePenalty</a:t>
            </a:r>
          </a:p>
        </p:txBody>
      </p:sp>
      <p:sp>
        <p:nvSpPr>
          <p:cNvPr id="15" name="TextBox 14"/>
          <p:cNvSpPr txBox="1"/>
          <p:nvPr/>
        </p:nvSpPr>
        <p:spPr>
          <a:xfrm>
            <a:off x="960120" y="3506724"/>
            <a:ext cx="10789920" cy="246888"/>
          </a:xfrm>
          <a:prstGeom prst="rect">
            <a:avLst/>
          </a:prstGeom>
          <a:noFill/>
        </p:spPr>
        <p:txBody>
          <a:bodyPr wrap="square">
            <a:spAutoFit/>
          </a:bodyPr>
          <a:lstStyle/>
          <a:p>
            <a:pPr algn="l"/>
            <a:r>
              <a:rPr sz="950" b="0" i="0">
                <a:solidFill>
                  <a:srgbClr val="5557BF"/>
                </a:solidFill>
              </a:rPr>
              <a:t>│   └── addTraining()  →  TrainingMgr.addLog()  →  pace calc  ·  outlier flag</a:t>
            </a:r>
          </a:p>
        </p:txBody>
      </p:sp>
      <p:sp>
        <p:nvSpPr>
          <p:cNvPr id="16" name="TextBox 15"/>
          <p:cNvSpPr txBox="1"/>
          <p:nvPr/>
        </p:nvSpPr>
        <p:spPr>
          <a:xfrm>
            <a:off x="960120" y="3767327"/>
            <a:ext cx="10789920" cy="246888"/>
          </a:xfrm>
          <a:prstGeom prst="rect">
            <a:avLst/>
          </a:prstGeom>
          <a:noFill/>
        </p:spPr>
        <p:txBody>
          <a:bodyPr wrap="square">
            <a:spAutoFit/>
          </a:bodyPr>
          <a:lstStyle/>
          <a:p>
            <a:pPr algn="l"/>
            <a:r>
              <a:rPr sz="950" b="0" i="0">
                <a:solidFill>
                  <a:srgbClr val="5557BF"/>
                </a:solidFill>
              </a:rPr>
              <a:t>│   └── viewTrainingDashboard()  →  stats calc  ·  sort lambdas</a:t>
            </a:r>
          </a:p>
        </p:txBody>
      </p:sp>
      <p:sp>
        <p:nvSpPr>
          <p:cNvPr id="17" name="TextBox 16"/>
          <p:cNvSpPr txBox="1"/>
          <p:nvPr/>
        </p:nvSpPr>
        <p:spPr>
          <a:xfrm>
            <a:off x="960120" y="4027931"/>
            <a:ext cx="10789920" cy="246888"/>
          </a:xfrm>
          <a:prstGeom prst="rect">
            <a:avLst/>
          </a:prstGeom>
          <a:noFill/>
        </p:spPr>
        <p:txBody>
          <a:bodyPr wrap="square">
            <a:spAutoFit/>
          </a:bodyPr>
          <a:lstStyle/>
          <a:p>
            <a:pPr algn="l"/>
            <a:r>
              <a:rPr sz="950" b="0" i="0">
                <a:solidFill>
                  <a:srgbClr val="5557BF"/>
                </a:solidFill>
              </a:rPr>
              <a:t>│   └── editTraining()  →  TrainingMgr.editLog()  →  6-month lock</a:t>
            </a:r>
          </a:p>
        </p:txBody>
      </p:sp>
      <p:sp>
        <p:nvSpPr>
          <p:cNvPr id="18" name="TextBox 17"/>
          <p:cNvSpPr txBox="1"/>
          <p:nvPr/>
        </p:nvSpPr>
        <p:spPr>
          <a:xfrm>
            <a:off x="960120" y="4288536"/>
            <a:ext cx="10789920" cy="246888"/>
          </a:xfrm>
          <a:prstGeom prst="rect">
            <a:avLst/>
          </a:prstGeom>
          <a:noFill/>
        </p:spPr>
        <p:txBody>
          <a:bodyPr wrap="square">
            <a:spAutoFit/>
          </a:bodyPr>
          <a:lstStyle/>
          <a:p>
            <a:pPr algn="l"/>
            <a:r>
              <a:rPr sz="950" b="0" i="0">
                <a:solidFill>
                  <a:srgbClr val="5557BF"/>
                </a:solidFill>
              </a:rPr>
              <a:t>│   └── postForum()  →  ForumMgr.submit()  →  BLACKLIST scan  ·  link detect</a:t>
            </a:r>
          </a:p>
        </p:txBody>
      </p:sp>
      <p:sp>
        <p:nvSpPr>
          <p:cNvPr id="19" name="TextBox 18"/>
          <p:cNvSpPr txBox="1"/>
          <p:nvPr/>
        </p:nvSpPr>
        <p:spPr>
          <a:xfrm>
            <a:off x="960120" y="4549140"/>
            <a:ext cx="10789920" cy="246888"/>
          </a:xfrm>
          <a:prstGeom prst="rect">
            <a:avLst/>
          </a:prstGeom>
          <a:noFill/>
        </p:spPr>
        <p:txBody>
          <a:bodyPr wrap="square">
            <a:spAutoFit/>
          </a:bodyPr>
          <a:lstStyle/>
          <a:p>
            <a:pPr algn="l"/>
            <a:r>
              <a:rPr sz="950" b="0" i="0">
                <a:solidFill>
                  <a:srgbClr val="5557BF"/>
                </a:solidFill>
              </a:rPr>
              <a:t>│   └── exportTraining()  →  AnalyticsMgr.exportTraining()  →  CSV write</a:t>
            </a:r>
          </a:p>
        </p:txBody>
      </p:sp>
      <p:sp>
        <p:nvSpPr>
          <p:cNvPr id="20" name="TextBox 19"/>
          <p:cNvSpPr txBox="1"/>
          <p:nvPr/>
        </p:nvSpPr>
        <p:spPr>
          <a:xfrm>
            <a:off x="640080" y="4809744"/>
            <a:ext cx="11109960" cy="246888"/>
          </a:xfrm>
          <a:prstGeom prst="rect">
            <a:avLst/>
          </a:prstGeom>
          <a:noFill/>
        </p:spPr>
        <p:txBody>
          <a:bodyPr wrap="square">
            <a:spAutoFit/>
          </a:bodyPr>
          <a:lstStyle/>
          <a:p>
            <a:pPr algn="l"/>
            <a:r>
              <a:rPr sz="1050" b="0" i="0">
                <a:solidFill>
                  <a:srgbClr val="0D2B55"/>
                </a:solidFill>
              </a:rPr>
              <a:t>├── showAdminMenu()</a:t>
            </a:r>
          </a:p>
        </p:txBody>
      </p:sp>
      <p:sp>
        <p:nvSpPr>
          <p:cNvPr id="21" name="TextBox 20"/>
          <p:cNvSpPr txBox="1"/>
          <p:nvPr/>
        </p:nvSpPr>
        <p:spPr>
          <a:xfrm>
            <a:off x="960120" y="5070348"/>
            <a:ext cx="10789920" cy="246888"/>
          </a:xfrm>
          <a:prstGeom prst="rect">
            <a:avLst/>
          </a:prstGeom>
          <a:noFill/>
        </p:spPr>
        <p:txBody>
          <a:bodyPr wrap="square">
            <a:spAutoFit/>
          </a:bodyPr>
          <a:lstStyle/>
          <a:p>
            <a:pPr algn="l"/>
            <a:r>
              <a:rPr sz="950" b="0" i="0">
                <a:solidFill>
                  <a:srgbClr val="FF6D00"/>
                </a:solidFill>
              </a:rPr>
              <a:t>│   └── adminUsers()  →  list all  ·  verify PENDING runner</a:t>
            </a:r>
          </a:p>
        </p:txBody>
      </p:sp>
      <p:sp>
        <p:nvSpPr>
          <p:cNvPr id="22" name="TextBox 21"/>
          <p:cNvSpPr txBox="1"/>
          <p:nvPr/>
        </p:nvSpPr>
        <p:spPr>
          <a:xfrm>
            <a:off x="960120" y="5330952"/>
            <a:ext cx="10789920" cy="246888"/>
          </a:xfrm>
          <a:prstGeom prst="rect">
            <a:avLst/>
          </a:prstGeom>
          <a:noFill/>
        </p:spPr>
        <p:txBody>
          <a:bodyPr wrap="square">
            <a:spAutoFit/>
          </a:bodyPr>
          <a:lstStyle/>
          <a:p>
            <a:pPr algn="l"/>
            <a:r>
              <a:rPr sz="950" b="0" i="0">
                <a:solidFill>
                  <a:srgbClr val="FF6D00"/>
                </a:solidFill>
              </a:rPr>
              <a:t>│   └── adminRaces()  →  RaceMgr.create/edit/deactivate()</a:t>
            </a:r>
          </a:p>
        </p:txBody>
      </p:sp>
      <p:sp>
        <p:nvSpPr>
          <p:cNvPr id="23" name="TextBox 22"/>
          <p:cNvSpPr txBox="1"/>
          <p:nvPr/>
        </p:nvSpPr>
        <p:spPr>
          <a:xfrm>
            <a:off x="960120" y="5591556"/>
            <a:ext cx="10789920" cy="246888"/>
          </a:xfrm>
          <a:prstGeom prst="rect">
            <a:avLst/>
          </a:prstGeom>
          <a:noFill/>
        </p:spPr>
        <p:txBody>
          <a:bodyPr wrap="square">
            <a:spAutoFit/>
          </a:bodyPr>
          <a:lstStyle/>
          <a:p>
            <a:pPr algn="l"/>
            <a:r>
              <a:rPr sz="950" b="0" i="0">
                <a:solidFill>
                  <a:srgbClr val="FF6D00"/>
                </a:solidFill>
              </a:rPr>
              <a:t>│   └── adminForum()  →  approve/reject  ·  ForumMgr.cleanup()</a:t>
            </a:r>
          </a:p>
        </p:txBody>
      </p:sp>
      <p:sp>
        <p:nvSpPr>
          <p:cNvPr id="24" name="TextBox 23"/>
          <p:cNvSpPr txBox="1"/>
          <p:nvPr/>
        </p:nvSpPr>
        <p:spPr>
          <a:xfrm>
            <a:off x="960120" y="5852160"/>
            <a:ext cx="10789920" cy="246888"/>
          </a:xfrm>
          <a:prstGeom prst="rect">
            <a:avLst/>
          </a:prstGeom>
          <a:noFill/>
        </p:spPr>
        <p:txBody>
          <a:bodyPr wrap="square">
            <a:spAutoFit/>
          </a:bodyPr>
          <a:lstStyle/>
          <a:p>
            <a:pPr algn="l"/>
            <a:r>
              <a:rPr sz="950" b="0" i="0">
                <a:solidFill>
                  <a:srgbClr val="FF6D00"/>
                </a:solidFill>
              </a:rPr>
              <a:t>│   └── adminAnalytics()  →  stream().filter().count()</a:t>
            </a:r>
          </a:p>
        </p:txBody>
      </p:sp>
      <p:sp>
        <p:nvSpPr>
          <p:cNvPr id="25" name="TextBox 24"/>
          <p:cNvSpPr txBox="1"/>
          <p:nvPr/>
        </p:nvSpPr>
        <p:spPr>
          <a:xfrm>
            <a:off x="960120" y="6112763"/>
            <a:ext cx="10789920" cy="246888"/>
          </a:xfrm>
          <a:prstGeom prst="rect">
            <a:avLst/>
          </a:prstGeom>
          <a:noFill/>
        </p:spPr>
        <p:txBody>
          <a:bodyPr wrap="square">
            <a:spAutoFit/>
          </a:bodyPr>
          <a:lstStyle/>
          <a:p>
            <a:pPr algn="l"/>
            <a:r>
              <a:rPr sz="950" b="0" i="0">
                <a:solidFill>
                  <a:srgbClr val="FF6D00"/>
                </a:solidFill>
              </a:rPr>
              <a:t>│   └── adminExports()  →  AnalyticsMgr.exportUsers/Races/Logs()</a:t>
            </a:r>
          </a:p>
        </p:txBody>
      </p:sp>
      <p:sp>
        <p:nvSpPr>
          <p:cNvPr id="26" name="TextBox 25"/>
          <p:cNvSpPr txBox="1"/>
          <p:nvPr/>
        </p:nvSpPr>
        <p:spPr>
          <a:xfrm>
            <a:off x="960120" y="6373367"/>
            <a:ext cx="10789920" cy="246888"/>
          </a:xfrm>
          <a:prstGeom prst="rect">
            <a:avLst/>
          </a:prstGeom>
          <a:noFill/>
        </p:spPr>
        <p:txBody>
          <a:bodyPr wrap="square">
            <a:spAutoFit/>
          </a:bodyPr>
          <a:lstStyle/>
          <a:p>
            <a:pPr algn="l"/>
            <a:r>
              <a:rPr sz="950" b="0" i="0">
                <a:solidFill>
                  <a:srgbClr val="FF6D00"/>
                </a:solidFill>
              </a:rPr>
              <a:t>│   └── adminSecurityLog()  →  BufferedReader  ·  security.log</a:t>
            </a:r>
          </a:p>
        </p:txBody>
      </p:sp>
      <p:sp>
        <p:nvSpPr>
          <p:cNvPr id="27" name="TextBox 26"/>
          <p:cNvSpPr txBox="1"/>
          <p:nvPr/>
        </p:nvSpPr>
        <p:spPr>
          <a:xfrm>
            <a:off x="960120" y="6633971"/>
            <a:ext cx="10789920" cy="246888"/>
          </a:xfrm>
          <a:prstGeom prst="rect">
            <a:avLst/>
          </a:prstGeom>
          <a:noFill/>
        </p:spPr>
        <p:txBody>
          <a:bodyPr wrap="square">
            <a:spAutoFit/>
          </a:bodyPr>
          <a:lstStyle/>
          <a:p>
            <a:pPr algn="l"/>
            <a:r>
              <a:rPr sz="950" b="0" i="0">
                <a:solidFill>
                  <a:srgbClr val="FF6D00"/>
                </a:solidFill>
              </a:rPr>
              <a:t>│   └── adminMarkCompleted()  →  reg.status='COMPLETED'</a:t>
            </a:r>
          </a:p>
        </p:txBody>
      </p:sp>
      <p:sp>
        <p:nvSpPr>
          <p:cNvPr id="28" name="TextBox 2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Module Relationship Diagram</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How the 6 Manager Modules connect</a:t>
            </a:r>
          </a:p>
        </p:txBody>
      </p:sp>
      <p:sp>
        <p:nvSpPr>
          <p:cNvPr id="6" name="Rectangle 5"/>
          <p:cNvSpPr/>
          <p:nvPr/>
        </p:nvSpPr>
        <p:spPr>
          <a:xfrm>
            <a:off x="4983480" y="3383279"/>
            <a:ext cx="1920240" cy="7315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3419855"/>
            <a:ext cx="1828800" cy="658368"/>
          </a:xfrm>
          <a:prstGeom prst="rect">
            <a:avLst/>
          </a:prstGeom>
          <a:noFill/>
        </p:spPr>
        <p:txBody>
          <a:bodyPr wrap="square">
            <a:spAutoFit/>
          </a:bodyPr>
          <a:lstStyle/>
          <a:p>
            <a:pPr algn="ctr"/>
            <a:r>
              <a:rPr sz="1000" b="1" i="0">
                <a:solidFill>
                  <a:srgbClr val="FFFFFF"/>
                </a:solidFill>
              </a:rPr>
              <a:t>MarathonPortal
main()</a:t>
            </a:r>
          </a:p>
        </p:txBody>
      </p:sp>
      <p:sp>
        <p:nvSpPr>
          <p:cNvPr id="8" name="Rectangle 7"/>
          <p:cNvSpPr/>
          <p:nvPr/>
        </p:nvSpPr>
        <p:spPr>
          <a:xfrm>
            <a:off x="1005840" y="1371600"/>
            <a:ext cx="2560320" cy="123444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417320"/>
            <a:ext cx="2423160" cy="292608"/>
          </a:xfrm>
          <a:prstGeom prst="rect">
            <a:avLst/>
          </a:prstGeom>
          <a:noFill/>
        </p:spPr>
        <p:txBody>
          <a:bodyPr wrap="square">
            <a:spAutoFit/>
          </a:bodyPr>
          <a:lstStyle/>
          <a:p>
            <a:pPr algn="l"/>
            <a:r>
              <a:rPr sz="1200" b="1" i="0">
                <a:solidFill>
                  <a:srgbClr val="FFFFFF"/>
                </a:solidFill>
              </a:rPr>
              <a:t>UserMgr</a:t>
            </a:r>
          </a:p>
        </p:txBody>
      </p:sp>
      <p:sp>
        <p:nvSpPr>
          <p:cNvPr id="10" name="TextBox 9"/>
          <p:cNvSpPr txBox="1"/>
          <p:nvPr/>
        </p:nvSpPr>
        <p:spPr>
          <a:xfrm>
            <a:off x="1078992" y="1719072"/>
            <a:ext cx="2423160" cy="822960"/>
          </a:xfrm>
          <a:prstGeom prst="rect">
            <a:avLst/>
          </a:prstGeom>
          <a:noFill/>
        </p:spPr>
        <p:txBody>
          <a:bodyPr wrap="square">
            <a:spAutoFit/>
          </a:bodyPr>
          <a:lstStyle/>
          <a:p>
            <a:pPr algn="l"/>
            <a:r>
              <a:rPr sz="900" b="0" i="0">
                <a:solidFill>
                  <a:srgbClr val="FFFFFF"/>
                </a:solidFill>
              </a:rPr>
              <a:t>register()
login()
checkPassword()
logFailedAttempt()</a:t>
            </a:r>
          </a:p>
        </p:txBody>
      </p:sp>
      <p:sp>
        <p:nvSpPr>
          <p:cNvPr id="11" name="Rectangle 10"/>
          <p:cNvSpPr/>
          <p:nvPr/>
        </p:nvSpPr>
        <p:spPr>
          <a:xfrm>
            <a:off x="4846320" y="1188720"/>
            <a:ext cx="2560320" cy="12344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1234440"/>
            <a:ext cx="2423160" cy="292608"/>
          </a:xfrm>
          <a:prstGeom prst="rect">
            <a:avLst/>
          </a:prstGeom>
          <a:noFill/>
        </p:spPr>
        <p:txBody>
          <a:bodyPr wrap="square">
            <a:spAutoFit/>
          </a:bodyPr>
          <a:lstStyle/>
          <a:p>
            <a:pPr algn="l"/>
            <a:r>
              <a:rPr sz="1200" b="1" i="0">
                <a:solidFill>
                  <a:srgbClr val="FFFFFF"/>
                </a:solidFill>
              </a:rPr>
              <a:t>RaceMgr</a:t>
            </a:r>
          </a:p>
        </p:txBody>
      </p:sp>
      <p:sp>
        <p:nvSpPr>
          <p:cNvPr id="13" name="TextBox 12"/>
          <p:cNvSpPr txBox="1"/>
          <p:nvPr/>
        </p:nvSpPr>
        <p:spPr>
          <a:xfrm>
            <a:off x="4919472" y="1536192"/>
            <a:ext cx="2423160" cy="822960"/>
          </a:xfrm>
          <a:prstGeom prst="rect">
            <a:avLst/>
          </a:prstGeom>
          <a:noFill/>
        </p:spPr>
        <p:txBody>
          <a:bodyPr wrap="square">
            <a:spAutoFit/>
          </a:bodyPr>
          <a:lstStyle/>
          <a:p>
            <a:pPr algn="l"/>
            <a:r>
              <a:rPr sz="900" b="0" i="0">
                <a:solidFill>
                  <a:srgbClr val="FFFFFF"/>
                </a:solidFill>
              </a:rPr>
              <a:t>create()
edit()
deactivate()</a:t>
            </a:r>
          </a:p>
        </p:txBody>
      </p:sp>
      <p:sp>
        <p:nvSpPr>
          <p:cNvPr id="14" name="Rectangle 13"/>
          <p:cNvSpPr/>
          <p:nvPr/>
        </p:nvSpPr>
        <p:spPr>
          <a:xfrm>
            <a:off x="8961120" y="1371600"/>
            <a:ext cx="2560320" cy="123444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1417320"/>
            <a:ext cx="2423160" cy="292608"/>
          </a:xfrm>
          <a:prstGeom prst="rect">
            <a:avLst/>
          </a:prstGeom>
          <a:noFill/>
        </p:spPr>
        <p:txBody>
          <a:bodyPr wrap="square">
            <a:spAutoFit/>
          </a:bodyPr>
          <a:lstStyle/>
          <a:p>
            <a:pPr algn="l"/>
            <a:r>
              <a:rPr sz="1200" b="1" i="0">
                <a:solidFill>
                  <a:srgbClr val="FFFFFF"/>
                </a:solidFill>
              </a:rPr>
              <a:t>RegMgr</a:t>
            </a:r>
          </a:p>
        </p:txBody>
      </p:sp>
      <p:sp>
        <p:nvSpPr>
          <p:cNvPr id="16" name="TextBox 15"/>
          <p:cNvSpPr txBox="1"/>
          <p:nvPr/>
        </p:nvSpPr>
        <p:spPr>
          <a:xfrm>
            <a:off x="9034272" y="1719072"/>
            <a:ext cx="2423160" cy="822960"/>
          </a:xfrm>
          <a:prstGeom prst="rect">
            <a:avLst/>
          </a:prstGeom>
          <a:noFill/>
        </p:spPr>
        <p:txBody>
          <a:bodyPr wrap="square">
            <a:spAutoFit/>
          </a:bodyPr>
          <a:lstStyle/>
          <a:p>
            <a:pPr algn="l"/>
            <a:r>
              <a:rPr sz="900" b="0" i="0">
                <a:solidFill>
                  <a:srgbClr val="FFFFFF"/>
                </a:solidFill>
              </a:rPr>
              <a:t>register()
validateEligibility()
latePenalty()</a:t>
            </a:r>
          </a:p>
        </p:txBody>
      </p:sp>
      <p:sp>
        <p:nvSpPr>
          <p:cNvPr id="17" name="Rectangle 16"/>
          <p:cNvSpPr/>
          <p:nvPr/>
        </p:nvSpPr>
        <p:spPr>
          <a:xfrm>
            <a:off x="1005840" y="5120640"/>
            <a:ext cx="2560320"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5166360"/>
            <a:ext cx="2423160" cy="292608"/>
          </a:xfrm>
          <a:prstGeom prst="rect">
            <a:avLst/>
          </a:prstGeom>
          <a:noFill/>
        </p:spPr>
        <p:txBody>
          <a:bodyPr wrap="square">
            <a:spAutoFit/>
          </a:bodyPr>
          <a:lstStyle/>
          <a:p>
            <a:pPr algn="l"/>
            <a:r>
              <a:rPr sz="1200" b="1" i="0">
                <a:solidFill>
                  <a:srgbClr val="FFFFFF"/>
                </a:solidFill>
              </a:rPr>
              <a:t>TrainingMgr</a:t>
            </a:r>
          </a:p>
        </p:txBody>
      </p:sp>
      <p:sp>
        <p:nvSpPr>
          <p:cNvPr id="19" name="TextBox 18"/>
          <p:cNvSpPr txBox="1"/>
          <p:nvPr/>
        </p:nvSpPr>
        <p:spPr>
          <a:xfrm>
            <a:off x="1078992" y="5468112"/>
            <a:ext cx="2423160" cy="822960"/>
          </a:xfrm>
          <a:prstGeom prst="rect">
            <a:avLst/>
          </a:prstGeom>
          <a:noFill/>
        </p:spPr>
        <p:txBody>
          <a:bodyPr wrap="square">
            <a:spAutoFit/>
          </a:bodyPr>
          <a:lstStyle/>
          <a:p>
            <a:pPr algn="l"/>
            <a:r>
              <a:rPr sz="900" b="0" i="0">
                <a:solidFill>
                  <a:srgbClr val="FFFFFF"/>
                </a:solidFill>
              </a:rPr>
              <a:t>addLog()
editLog()
pace calc
outlier flag</a:t>
            </a:r>
          </a:p>
        </p:txBody>
      </p:sp>
      <p:sp>
        <p:nvSpPr>
          <p:cNvPr id="20" name="Rectangle 19"/>
          <p:cNvSpPr/>
          <p:nvPr/>
        </p:nvSpPr>
        <p:spPr>
          <a:xfrm>
            <a:off x="4846320" y="5303520"/>
            <a:ext cx="2560320" cy="123444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19472" y="5349240"/>
            <a:ext cx="2423160" cy="292608"/>
          </a:xfrm>
          <a:prstGeom prst="rect">
            <a:avLst/>
          </a:prstGeom>
          <a:noFill/>
        </p:spPr>
        <p:txBody>
          <a:bodyPr wrap="square">
            <a:spAutoFit/>
          </a:bodyPr>
          <a:lstStyle/>
          <a:p>
            <a:pPr algn="l"/>
            <a:r>
              <a:rPr sz="1200" b="1" i="0">
                <a:solidFill>
                  <a:srgbClr val="FFFFFF"/>
                </a:solidFill>
              </a:rPr>
              <a:t>ForumMgr</a:t>
            </a:r>
          </a:p>
        </p:txBody>
      </p:sp>
      <p:sp>
        <p:nvSpPr>
          <p:cNvPr id="22" name="TextBox 21"/>
          <p:cNvSpPr txBox="1"/>
          <p:nvPr/>
        </p:nvSpPr>
        <p:spPr>
          <a:xfrm>
            <a:off x="4919472" y="5650992"/>
            <a:ext cx="2423160" cy="822960"/>
          </a:xfrm>
          <a:prstGeom prst="rect">
            <a:avLst/>
          </a:prstGeom>
          <a:noFill/>
        </p:spPr>
        <p:txBody>
          <a:bodyPr wrap="square">
            <a:spAutoFit/>
          </a:bodyPr>
          <a:lstStyle/>
          <a:p>
            <a:pPr algn="l"/>
            <a:r>
              <a:rPr sz="900" b="0" i="0">
                <a:solidFill>
                  <a:srgbClr val="FFFFFF"/>
                </a:solidFill>
              </a:rPr>
              <a:t>submit()
cleanup()
blacklist scan
URL detect</a:t>
            </a:r>
          </a:p>
        </p:txBody>
      </p:sp>
      <p:sp>
        <p:nvSpPr>
          <p:cNvPr id="23" name="Rectangle 22"/>
          <p:cNvSpPr/>
          <p:nvPr/>
        </p:nvSpPr>
        <p:spPr>
          <a:xfrm>
            <a:off x="8961120" y="5120640"/>
            <a:ext cx="2560320" cy="12344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34272" y="5166360"/>
            <a:ext cx="2423160" cy="292608"/>
          </a:xfrm>
          <a:prstGeom prst="rect">
            <a:avLst/>
          </a:prstGeom>
          <a:noFill/>
        </p:spPr>
        <p:txBody>
          <a:bodyPr wrap="square">
            <a:spAutoFit/>
          </a:bodyPr>
          <a:lstStyle/>
          <a:p>
            <a:pPr algn="l"/>
            <a:r>
              <a:rPr sz="1200" b="1" i="0">
                <a:solidFill>
                  <a:srgbClr val="FFFFFF"/>
                </a:solidFill>
              </a:rPr>
              <a:t>AnalyticsMgr</a:t>
            </a:r>
          </a:p>
        </p:txBody>
      </p:sp>
      <p:sp>
        <p:nvSpPr>
          <p:cNvPr id="25" name="TextBox 24"/>
          <p:cNvSpPr txBox="1"/>
          <p:nvPr/>
        </p:nvSpPr>
        <p:spPr>
          <a:xfrm>
            <a:off x="9034272" y="5468112"/>
            <a:ext cx="2423160" cy="822960"/>
          </a:xfrm>
          <a:prstGeom prst="rect">
            <a:avLst/>
          </a:prstGeom>
          <a:noFill/>
        </p:spPr>
        <p:txBody>
          <a:bodyPr wrap="square">
            <a:spAutoFit/>
          </a:bodyPr>
          <a:lstStyle/>
          <a:p>
            <a:pPr algn="l"/>
            <a:r>
              <a:rPr sz="900" b="0" i="0">
                <a:solidFill>
                  <a:srgbClr val="FFFFFF"/>
                </a:solidFill>
              </a:rPr>
              <a:t>exportTraining()
exportUsers()
exportRaces()
exportAllLogs()</a:t>
            </a:r>
          </a:p>
        </p:txBody>
      </p:sp>
      <p:sp>
        <p:nvSpPr>
          <p:cNvPr id="26" name="TextBox 25"/>
          <p:cNvSpPr txBox="1"/>
          <p:nvPr/>
        </p:nvSpPr>
        <p:spPr>
          <a:xfrm>
            <a:off x="2926080" y="2743200"/>
            <a:ext cx="1371600" cy="274320"/>
          </a:xfrm>
          <a:prstGeom prst="rect">
            <a:avLst/>
          </a:prstGeom>
          <a:noFill/>
        </p:spPr>
        <p:txBody>
          <a:bodyPr wrap="square">
            <a:spAutoFit/>
          </a:bodyPr>
          <a:lstStyle/>
          <a:p>
            <a:pPr algn="l"/>
            <a:r>
              <a:rPr sz="900" b="1" i="0">
                <a:solidFill>
                  <a:srgbClr val="9E9E9E"/>
                </a:solidFill>
              </a:rPr>
              <a:t>↗ User Auth</a:t>
            </a:r>
          </a:p>
        </p:txBody>
      </p:sp>
      <p:sp>
        <p:nvSpPr>
          <p:cNvPr id="27" name="TextBox 26"/>
          <p:cNvSpPr txBox="1"/>
          <p:nvPr/>
        </p:nvSpPr>
        <p:spPr>
          <a:xfrm>
            <a:off x="5943600" y="2377440"/>
            <a:ext cx="1371600" cy="274320"/>
          </a:xfrm>
          <a:prstGeom prst="rect">
            <a:avLst/>
          </a:prstGeom>
          <a:noFill/>
        </p:spPr>
        <p:txBody>
          <a:bodyPr wrap="square">
            <a:spAutoFit/>
          </a:bodyPr>
          <a:lstStyle/>
          <a:p>
            <a:pPr algn="l"/>
            <a:r>
              <a:rPr sz="900" b="1" i="0">
                <a:solidFill>
                  <a:srgbClr val="9E9E9E"/>
                </a:solidFill>
              </a:rPr>
              <a:t>↑ Race Events</a:t>
            </a:r>
          </a:p>
        </p:txBody>
      </p:sp>
      <p:sp>
        <p:nvSpPr>
          <p:cNvPr id="28" name="TextBox 27"/>
          <p:cNvSpPr txBox="1"/>
          <p:nvPr/>
        </p:nvSpPr>
        <p:spPr>
          <a:xfrm>
            <a:off x="8961120" y="2834640"/>
            <a:ext cx="1371600" cy="274320"/>
          </a:xfrm>
          <a:prstGeom prst="rect">
            <a:avLst/>
          </a:prstGeom>
          <a:noFill/>
        </p:spPr>
        <p:txBody>
          <a:bodyPr wrap="square">
            <a:spAutoFit/>
          </a:bodyPr>
          <a:lstStyle/>
          <a:p>
            <a:pPr algn="l"/>
            <a:r>
              <a:rPr sz="900" b="1" i="0">
                <a:solidFill>
                  <a:srgbClr val="9E9E9E"/>
                </a:solidFill>
              </a:rPr>
              <a:t>↖ Signup</a:t>
            </a:r>
          </a:p>
        </p:txBody>
      </p:sp>
      <p:sp>
        <p:nvSpPr>
          <p:cNvPr id="29" name="TextBox 28"/>
          <p:cNvSpPr txBox="1"/>
          <p:nvPr/>
        </p:nvSpPr>
        <p:spPr>
          <a:xfrm>
            <a:off x="2926080" y="4846320"/>
            <a:ext cx="1371600" cy="274320"/>
          </a:xfrm>
          <a:prstGeom prst="rect">
            <a:avLst/>
          </a:prstGeom>
          <a:noFill/>
        </p:spPr>
        <p:txBody>
          <a:bodyPr wrap="square">
            <a:spAutoFit/>
          </a:bodyPr>
          <a:lstStyle/>
          <a:p>
            <a:pPr algn="l"/>
            <a:r>
              <a:rPr sz="900" b="1" i="0">
                <a:solidFill>
                  <a:srgbClr val="9E9E9E"/>
                </a:solidFill>
              </a:rPr>
              <a:t>↘ Training</a:t>
            </a:r>
          </a:p>
        </p:txBody>
      </p:sp>
      <p:sp>
        <p:nvSpPr>
          <p:cNvPr id="30" name="TextBox 29"/>
          <p:cNvSpPr txBox="1"/>
          <p:nvPr/>
        </p:nvSpPr>
        <p:spPr>
          <a:xfrm>
            <a:off x="5943600" y="5029200"/>
            <a:ext cx="1371600" cy="274320"/>
          </a:xfrm>
          <a:prstGeom prst="rect">
            <a:avLst/>
          </a:prstGeom>
          <a:noFill/>
        </p:spPr>
        <p:txBody>
          <a:bodyPr wrap="square">
            <a:spAutoFit/>
          </a:bodyPr>
          <a:lstStyle/>
          <a:p>
            <a:pPr algn="l"/>
            <a:r>
              <a:rPr sz="900" b="1" i="0">
                <a:solidFill>
                  <a:srgbClr val="9E9E9E"/>
                </a:solidFill>
              </a:rPr>
              <a:t>↓ Forum Posts</a:t>
            </a:r>
          </a:p>
        </p:txBody>
      </p:sp>
      <p:sp>
        <p:nvSpPr>
          <p:cNvPr id="31" name="TextBox 30"/>
          <p:cNvSpPr txBox="1"/>
          <p:nvPr/>
        </p:nvSpPr>
        <p:spPr>
          <a:xfrm>
            <a:off x="9052560" y="4663440"/>
            <a:ext cx="1371600" cy="274320"/>
          </a:xfrm>
          <a:prstGeom prst="rect">
            <a:avLst/>
          </a:prstGeom>
          <a:noFill/>
        </p:spPr>
        <p:txBody>
          <a:bodyPr wrap="square">
            <a:spAutoFit/>
          </a:bodyPr>
          <a:lstStyle/>
          <a:p>
            <a:pPr algn="l"/>
            <a:r>
              <a:rPr sz="900" b="1" i="0">
                <a:solidFill>
                  <a:srgbClr val="9E9E9E"/>
                </a:solidFill>
              </a:rPr>
              <a:t>↙ Reports</a:t>
            </a:r>
          </a:p>
        </p:txBody>
      </p:sp>
      <p:sp>
        <p:nvSpPr>
          <p:cNvPr id="32" name="Rectangle 31"/>
          <p:cNvSpPr/>
          <p:nvPr/>
        </p:nvSpPr>
        <p:spPr>
          <a:xfrm>
            <a:off x="274320" y="6400800"/>
            <a:ext cx="11521440" cy="29260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437376"/>
            <a:ext cx="11430000" cy="256032"/>
          </a:xfrm>
          <a:prstGeom prst="rect">
            <a:avLst/>
          </a:prstGeom>
          <a:noFill/>
        </p:spPr>
        <p:txBody>
          <a:bodyPr wrap="square">
            <a:spAutoFit/>
          </a:bodyPr>
          <a:lstStyle/>
          <a:p>
            <a:pPr algn="ctr"/>
            <a:r>
              <a:rPr sz="900" b="0" i="0">
                <a:solidFill>
                  <a:srgbClr val="0D2B55"/>
                </a:solidFill>
              </a:rPr>
              <a:t>All modules share:  users (ArrayList)  ·  races (ArrayList)  ·  trainingLogs (ArrayList)  ·  registrations (ArrayList)  ·  forumPosts (ArrayList)  ·  userByEmail (HashMap)  ·  usedEmails (HashSet)</a:t>
            </a:r>
          </a:p>
        </p:txBody>
      </p:sp>
      <p:sp>
        <p:nvSpPr>
          <p:cNvPr id="34" name="TextBox 33"/>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User Story → Code Mapping</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Each story traced to method + validation + collection</a:t>
            </a:r>
          </a:p>
        </p:txBody>
      </p:sp>
      <p:sp>
        <p:nvSpPr>
          <p:cNvPr id="6" name="Rectangle 5"/>
          <p:cNvSpPr/>
          <p:nvPr/>
        </p:nvSpPr>
        <p:spPr>
          <a:xfrm>
            <a:off x="228600" y="1161288"/>
            <a:ext cx="64008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79576"/>
            <a:ext cx="566928" cy="219456"/>
          </a:xfrm>
          <a:prstGeom prst="rect">
            <a:avLst/>
          </a:prstGeom>
          <a:noFill/>
        </p:spPr>
        <p:txBody>
          <a:bodyPr wrap="square">
            <a:spAutoFit/>
          </a:bodyPr>
          <a:lstStyle/>
          <a:p>
            <a:pPr algn="l"/>
            <a:r>
              <a:rPr sz="900" b="1" i="0">
                <a:solidFill>
                  <a:srgbClr val="FFFFFF"/>
                </a:solidFill>
              </a:rPr>
              <a:t>US #</a:t>
            </a:r>
          </a:p>
        </p:txBody>
      </p:sp>
      <p:sp>
        <p:nvSpPr>
          <p:cNvPr id="8" name="Rectangle 7"/>
          <p:cNvSpPr/>
          <p:nvPr/>
        </p:nvSpPr>
        <p:spPr>
          <a:xfrm>
            <a:off x="868680" y="1161288"/>
            <a:ext cx="292608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179576"/>
            <a:ext cx="2852928" cy="219456"/>
          </a:xfrm>
          <a:prstGeom prst="rect">
            <a:avLst/>
          </a:prstGeom>
          <a:noFill/>
        </p:spPr>
        <p:txBody>
          <a:bodyPr wrap="square">
            <a:spAutoFit/>
          </a:bodyPr>
          <a:lstStyle/>
          <a:p>
            <a:pPr algn="l"/>
            <a:r>
              <a:rPr sz="900" b="1" i="0">
                <a:solidFill>
                  <a:srgbClr val="FFFFFF"/>
                </a:solidFill>
              </a:rPr>
              <a:t>Method(s)</a:t>
            </a:r>
          </a:p>
        </p:txBody>
      </p:sp>
      <p:sp>
        <p:nvSpPr>
          <p:cNvPr id="10" name="Rectangle 9"/>
          <p:cNvSpPr/>
          <p:nvPr/>
        </p:nvSpPr>
        <p:spPr>
          <a:xfrm>
            <a:off x="3794760" y="1161288"/>
            <a:ext cx="347472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1179576"/>
            <a:ext cx="3401568" cy="219456"/>
          </a:xfrm>
          <a:prstGeom prst="rect">
            <a:avLst/>
          </a:prstGeom>
          <a:noFill/>
        </p:spPr>
        <p:txBody>
          <a:bodyPr wrap="square">
            <a:spAutoFit/>
          </a:bodyPr>
          <a:lstStyle/>
          <a:p>
            <a:pPr algn="l"/>
            <a:r>
              <a:rPr sz="900" b="1" i="0">
                <a:solidFill>
                  <a:srgbClr val="FFFFFF"/>
                </a:solidFill>
              </a:rPr>
              <a:t>Key Validation</a:t>
            </a:r>
          </a:p>
        </p:txBody>
      </p:sp>
      <p:sp>
        <p:nvSpPr>
          <p:cNvPr id="12" name="Rectangle 11"/>
          <p:cNvSpPr/>
          <p:nvPr/>
        </p:nvSpPr>
        <p:spPr>
          <a:xfrm>
            <a:off x="7269480" y="1161288"/>
            <a:ext cx="484632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179576"/>
            <a:ext cx="4773168" cy="219456"/>
          </a:xfrm>
          <a:prstGeom prst="rect">
            <a:avLst/>
          </a:prstGeom>
          <a:noFill/>
        </p:spPr>
        <p:txBody>
          <a:bodyPr wrap="square">
            <a:spAutoFit/>
          </a:bodyPr>
          <a:lstStyle/>
          <a:p>
            <a:pPr algn="l"/>
            <a:r>
              <a:rPr sz="900" b="1" i="0">
                <a:solidFill>
                  <a:srgbClr val="FFFFFF"/>
                </a:solidFill>
              </a:rPr>
              <a:t>Collection Used</a:t>
            </a:r>
          </a:p>
        </p:txBody>
      </p:sp>
      <p:sp>
        <p:nvSpPr>
          <p:cNvPr id="14" name="Rectangle 13"/>
          <p:cNvSpPr/>
          <p:nvPr/>
        </p:nvSpPr>
        <p:spPr>
          <a:xfrm>
            <a:off x="228600" y="1417320"/>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 y="1444752"/>
            <a:ext cx="585216" cy="214884"/>
          </a:xfrm>
          <a:prstGeom prst="rect">
            <a:avLst/>
          </a:prstGeom>
          <a:noFill/>
        </p:spPr>
        <p:txBody>
          <a:bodyPr wrap="square">
            <a:spAutoFit/>
          </a:bodyPr>
          <a:lstStyle/>
          <a:p>
            <a:pPr algn="l"/>
            <a:r>
              <a:rPr sz="800" b="0" i="0">
                <a:solidFill>
                  <a:srgbClr val="0D2B55"/>
                </a:solidFill>
              </a:rPr>
              <a:t>US01</a:t>
            </a:r>
          </a:p>
        </p:txBody>
      </p:sp>
      <p:sp>
        <p:nvSpPr>
          <p:cNvPr id="16" name="Rectangle 15"/>
          <p:cNvSpPr/>
          <p:nvPr/>
        </p:nvSpPr>
        <p:spPr>
          <a:xfrm>
            <a:off x="868680" y="1417320"/>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1444752"/>
            <a:ext cx="2871216" cy="214884"/>
          </a:xfrm>
          <a:prstGeom prst="rect">
            <a:avLst/>
          </a:prstGeom>
          <a:noFill/>
        </p:spPr>
        <p:txBody>
          <a:bodyPr wrap="square">
            <a:spAutoFit/>
          </a:bodyPr>
          <a:lstStyle/>
          <a:p>
            <a:pPr algn="l"/>
            <a:r>
              <a:rPr sz="800" b="0" i="0">
                <a:solidFill>
                  <a:srgbClr val="0D2B55"/>
                </a:solidFill>
              </a:rPr>
              <a:t>UserMgr.register()</a:t>
            </a:r>
          </a:p>
        </p:txBody>
      </p:sp>
      <p:sp>
        <p:nvSpPr>
          <p:cNvPr id="18" name="Rectangle 17"/>
          <p:cNvSpPr/>
          <p:nvPr/>
        </p:nvSpPr>
        <p:spPr>
          <a:xfrm>
            <a:off x="3794760" y="1417320"/>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1336" y="1444752"/>
            <a:ext cx="3419856" cy="214884"/>
          </a:xfrm>
          <a:prstGeom prst="rect">
            <a:avLst/>
          </a:prstGeom>
          <a:noFill/>
        </p:spPr>
        <p:txBody>
          <a:bodyPr wrap="square">
            <a:spAutoFit/>
          </a:bodyPr>
          <a:lstStyle/>
          <a:p>
            <a:pPr algn="l"/>
            <a:r>
              <a:rPr sz="800" b="0" i="0">
                <a:solidFill>
                  <a:srgbClr val="0D2B55"/>
                </a:solidFill>
              </a:rPr>
              <a:t>email/pwd/age/phone/dup check</a:t>
            </a:r>
          </a:p>
        </p:txBody>
      </p:sp>
      <p:sp>
        <p:nvSpPr>
          <p:cNvPr id="20" name="Rectangle 19"/>
          <p:cNvSpPr/>
          <p:nvPr/>
        </p:nvSpPr>
        <p:spPr>
          <a:xfrm>
            <a:off x="7269480" y="1417320"/>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06056" y="1444752"/>
            <a:ext cx="4791456" cy="214884"/>
          </a:xfrm>
          <a:prstGeom prst="rect">
            <a:avLst/>
          </a:prstGeom>
          <a:noFill/>
        </p:spPr>
        <p:txBody>
          <a:bodyPr wrap="square">
            <a:spAutoFit/>
          </a:bodyPr>
          <a:lstStyle/>
          <a:p>
            <a:pPr algn="l"/>
            <a:r>
              <a:rPr sz="800" b="0" i="0">
                <a:solidFill>
                  <a:srgbClr val="0D2B55"/>
                </a:solidFill>
              </a:rPr>
              <a:t>users (ArrayList), usedEmails (HashSet), userByEmail (HashMap)</a:t>
            </a:r>
          </a:p>
        </p:txBody>
      </p:sp>
      <p:sp>
        <p:nvSpPr>
          <p:cNvPr id="22" name="Rectangle 21"/>
          <p:cNvSpPr/>
          <p:nvPr/>
        </p:nvSpPr>
        <p:spPr>
          <a:xfrm>
            <a:off x="228600" y="1693468"/>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 y="1720900"/>
            <a:ext cx="585216" cy="214884"/>
          </a:xfrm>
          <a:prstGeom prst="rect">
            <a:avLst/>
          </a:prstGeom>
          <a:noFill/>
        </p:spPr>
        <p:txBody>
          <a:bodyPr wrap="square">
            <a:spAutoFit/>
          </a:bodyPr>
          <a:lstStyle/>
          <a:p>
            <a:pPr algn="l"/>
            <a:r>
              <a:rPr sz="800" b="0" i="0">
                <a:solidFill>
                  <a:srgbClr val="0D2B55"/>
                </a:solidFill>
              </a:rPr>
              <a:t>US02</a:t>
            </a:r>
          </a:p>
        </p:txBody>
      </p:sp>
      <p:sp>
        <p:nvSpPr>
          <p:cNvPr id="24" name="Rectangle 23"/>
          <p:cNvSpPr/>
          <p:nvPr/>
        </p:nvSpPr>
        <p:spPr>
          <a:xfrm>
            <a:off x="868680" y="1693468"/>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1720900"/>
            <a:ext cx="2871216" cy="214884"/>
          </a:xfrm>
          <a:prstGeom prst="rect">
            <a:avLst/>
          </a:prstGeom>
          <a:noFill/>
        </p:spPr>
        <p:txBody>
          <a:bodyPr wrap="square">
            <a:spAutoFit/>
          </a:bodyPr>
          <a:lstStyle/>
          <a:p>
            <a:pPr algn="l"/>
            <a:r>
              <a:rPr sz="800" b="0" i="0">
                <a:solidFill>
                  <a:srgbClr val="0D2B55"/>
                </a:solidFill>
              </a:rPr>
              <a:t>UserMgr.login()</a:t>
            </a:r>
          </a:p>
        </p:txBody>
      </p:sp>
      <p:sp>
        <p:nvSpPr>
          <p:cNvPr id="26" name="Rectangle 25"/>
          <p:cNvSpPr/>
          <p:nvPr/>
        </p:nvSpPr>
        <p:spPr>
          <a:xfrm>
            <a:off x="3794760" y="1693468"/>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1336" y="1720900"/>
            <a:ext cx="3419856" cy="214884"/>
          </a:xfrm>
          <a:prstGeom prst="rect">
            <a:avLst/>
          </a:prstGeom>
          <a:noFill/>
        </p:spPr>
        <p:txBody>
          <a:bodyPr wrap="square">
            <a:spAutoFit/>
          </a:bodyPr>
          <a:lstStyle/>
          <a:p>
            <a:pPr algn="l"/>
            <a:r>
              <a:rPr sz="800" b="0" i="0">
                <a:solidFill>
                  <a:srgbClr val="0D2B55"/>
                </a:solidFill>
              </a:rPr>
              <a:t>lockout, pending, wrong pwd</a:t>
            </a:r>
          </a:p>
        </p:txBody>
      </p:sp>
      <p:sp>
        <p:nvSpPr>
          <p:cNvPr id="28" name="Rectangle 27"/>
          <p:cNvSpPr/>
          <p:nvPr/>
        </p:nvSpPr>
        <p:spPr>
          <a:xfrm>
            <a:off x="7269480" y="1693468"/>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06056" y="1720900"/>
            <a:ext cx="4791456" cy="214884"/>
          </a:xfrm>
          <a:prstGeom prst="rect">
            <a:avLst/>
          </a:prstGeom>
          <a:noFill/>
        </p:spPr>
        <p:txBody>
          <a:bodyPr wrap="square">
            <a:spAutoFit/>
          </a:bodyPr>
          <a:lstStyle/>
          <a:p>
            <a:pPr algn="l"/>
            <a:r>
              <a:rPr sz="800" b="0" i="0">
                <a:solidFill>
                  <a:srgbClr val="0D2B55"/>
                </a:solidFill>
              </a:rPr>
              <a:t>userByEmail (HashMap)</a:t>
            </a:r>
          </a:p>
        </p:txBody>
      </p:sp>
      <p:sp>
        <p:nvSpPr>
          <p:cNvPr id="30" name="Rectangle 29"/>
          <p:cNvSpPr/>
          <p:nvPr/>
        </p:nvSpPr>
        <p:spPr>
          <a:xfrm>
            <a:off x="228600" y="1969617"/>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5176" y="1997049"/>
            <a:ext cx="585216" cy="214884"/>
          </a:xfrm>
          <a:prstGeom prst="rect">
            <a:avLst/>
          </a:prstGeom>
          <a:noFill/>
        </p:spPr>
        <p:txBody>
          <a:bodyPr wrap="square">
            <a:spAutoFit/>
          </a:bodyPr>
          <a:lstStyle/>
          <a:p>
            <a:pPr algn="l"/>
            <a:r>
              <a:rPr sz="800" b="0" i="0">
                <a:solidFill>
                  <a:srgbClr val="0D2B55"/>
                </a:solidFill>
              </a:rPr>
              <a:t>US03</a:t>
            </a:r>
          </a:p>
        </p:txBody>
      </p:sp>
      <p:sp>
        <p:nvSpPr>
          <p:cNvPr id="32" name="Rectangle 31"/>
          <p:cNvSpPr/>
          <p:nvPr/>
        </p:nvSpPr>
        <p:spPr>
          <a:xfrm>
            <a:off x="868680" y="1969617"/>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1997049"/>
            <a:ext cx="2871216" cy="214884"/>
          </a:xfrm>
          <a:prstGeom prst="rect">
            <a:avLst/>
          </a:prstGeom>
          <a:noFill/>
        </p:spPr>
        <p:txBody>
          <a:bodyPr wrap="square">
            <a:spAutoFit/>
          </a:bodyPr>
          <a:lstStyle/>
          <a:p>
            <a:pPr algn="l"/>
            <a:r>
              <a:rPr sz="800" b="0" i="0">
                <a:solidFill>
                  <a:srgbClr val="0D2B55"/>
                </a:solidFill>
              </a:rPr>
              <a:t>viewRaces()</a:t>
            </a:r>
          </a:p>
        </p:txBody>
      </p:sp>
      <p:sp>
        <p:nvSpPr>
          <p:cNvPr id="34" name="Rectangle 33"/>
          <p:cNvSpPr/>
          <p:nvPr/>
        </p:nvSpPr>
        <p:spPr>
          <a:xfrm>
            <a:off x="3794760" y="1969617"/>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31336" y="1997049"/>
            <a:ext cx="3419856" cy="214884"/>
          </a:xfrm>
          <a:prstGeom prst="rect">
            <a:avLst/>
          </a:prstGeom>
          <a:noFill/>
        </p:spPr>
        <p:txBody>
          <a:bodyPr wrap="square">
            <a:spAutoFit/>
          </a:bodyPr>
          <a:lstStyle/>
          <a:p>
            <a:pPr algn="l"/>
            <a:r>
              <a:rPr sz="800" b="0" i="0">
                <a:solidFill>
                  <a:srgbClr val="0D2B55"/>
                </a:solidFill>
              </a:rPr>
              <a:t>active, 48h open, not signed up</a:t>
            </a:r>
          </a:p>
        </p:txBody>
      </p:sp>
      <p:sp>
        <p:nvSpPr>
          <p:cNvPr id="36" name="Rectangle 35"/>
          <p:cNvSpPr/>
          <p:nvPr/>
        </p:nvSpPr>
        <p:spPr>
          <a:xfrm>
            <a:off x="7269480" y="1969617"/>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06056" y="1997049"/>
            <a:ext cx="4791456" cy="214884"/>
          </a:xfrm>
          <a:prstGeom prst="rect">
            <a:avLst/>
          </a:prstGeom>
          <a:noFill/>
        </p:spPr>
        <p:txBody>
          <a:bodyPr wrap="square">
            <a:spAutoFit/>
          </a:bodyPr>
          <a:lstStyle/>
          <a:p>
            <a:pPr algn="l"/>
            <a:r>
              <a:rPr sz="800" b="0" i="0">
                <a:solidFill>
                  <a:srgbClr val="0D2B55"/>
                </a:solidFill>
              </a:rPr>
              <a:t>races (ArrayList), registrations (ArrayList)</a:t>
            </a:r>
          </a:p>
        </p:txBody>
      </p:sp>
      <p:sp>
        <p:nvSpPr>
          <p:cNvPr id="38" name="Rectangle 37"/>
          <p:cNvSpPr/>
          <p:nvPr/>
        </p:nvSpPr>
        <p:spPr>
          <a:xfrm>
            <a:off x="228600" y="2245766"/>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5176" y="2273198"/>
            <a:ext cx="585216" cy="214884"/>
          </a:xfrm>
          <a:prstGeom prst="rect">
            <a:avLst/>
          </a:prstGeom>
          <a:noFill/>
        </p:spPr>
        <p:txBody>
          <a:bodyPr wrap="square">
            <a:spAutoFit/>
          </a:bodyPr>
          <a:lstStyle/>
          <a:p>
            <a:pPr algn="l"/>
            <a:r>
              <a:rPr sz="800" b="0" i="0">
                <a:solidFill>
                  <a:srgbClr val="0D2B55"/>
                </a:solidFill>
              </a:rPr>
              <a:t>US04</a:t>
            </a:r>
          </a:p>
        </p:txBody>
      </p:sp>
      <p:sp>
        <p:nvSpPr>
          <p:cNvPr id="40" name="Rectangle 39"/>
          <p:cNvSpPr/>
          <p:nvPr/>
        </p:nvSpPr>
        <p:spPr>
          <a:xfrm>
            <a:off x="868680" y="2245766"/>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256" y="2273198"/>
            <a:ext cx="2871216" cy="214884"/>
          </a:xfrm>
          <a:prstGeom prst="rect">
            <a:avLst/>
          </a:prstGeom>
          <a:noFill/>
        </p:spPr>
        <p:txBody>
          <a:bodyPr wrap="square">
            <a:spAutoFit/>
          </a:bodyPr>
          <a:lstStyle/>
          <a:p>
            <a:pPr algn="l"/>
            <a:r>
              <a:rPr sz="800" b="0" i="0">
                <a:solidFill>
                  <a:srgbClr val="0D2B55"/>
                </a:solidFill>
              </a:rPr>
              <a:t>RegMgr.register()</a:t>
            </a:r>
          </a:p>
        </p:txBody>
      </p:sp>
      <p:sp>
        <p:nvSpPr>
          <p:cNvPr id="42" name="Rectangle 41"/>
          <p:cNvSpPr/>
          <p:nvPr/>
        </p:nvSpPr>
        <p:spPr>
          <a:xfrm>
            <a:off x="3794760" y="2245766"/>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31336" y="2273198"/>
            <a:ext cx="3419856" cy="214884"/>
          </a:xfrm>
          <a:prstGeom prst="rect">
            <a:avLst/>
          </a:prstGeom>
          <a:noFill/>
        </p:spPr>
        <p:txBody>
          <a:bodyPr wrap="square">
            <a:spAutoFit/>
          </a:bodyPr>
          <a:lstStyle/>
          <a:p>
            <a:pPr algn="l"/>
            <a:r>
              <a:rPr sz="800" b="0" i="0">
                <a:solidFill>
                  <a:srgbClr val="0D2B55"/>
                </a:solidFill>
              </a:rPr>
              <a:t>≥5 logs, no double-book, capacity</a:t>
            </a:r>
          </a:p>
        </p:txBody>
      </p:sp>
      <p:sp>
        <p:nvSpPr>
          <p:cNvPr id="44" name="Rectangle 43"/>
          <p:cNvSpPr/>
          <p:nvPr/>
        </p:nvSpPr>
        <p:spPr>
          <a:xfrm>
            <a:off x="7269480" y="2245766"/>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06056" y="2273198"/>
            <a:ext cx="4791456" cy="214884"/>
          </a:xfrm>
          <a:prstGeom prst="rect">
            <a:avLst/>
          </a:prstGeom>
          <a:noFill/>
        </p:spPr>
        <p:txBody>
          <a:bodyPr wrap="square">
            <a:spAutoFit/>
          </a:bodyPr>
          <a:lstStyle/>
          <a:p>
            <a:pPr algn="l"/>
            <a:r>
              <a:rPr sz="800" b="0" i="0">
                <a:solidFill>
                  <a:srgbClr val="0D2B55"/>
                </a:solidFill>
              </a:rPr>
              <a:t>registrations (ArrayList), trainingLogs (ArrayList)</a:t>
            </a:r>
          </a:p>
        </p:txBody>
      </p:sp>
      <p:sp>
        <p:nvSpPr>
          <p:cNvPr id="46" name="Rectangle 45"/>
          <p:cNvSpPr/>
          <p:nvPr/>
        </p:nvSpPr>
        <p:spPr>
          <a:xfrm>
            <a:off x="228600" y="2521915"/>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5176" y="2549347"/>
            <a:ext cx="585216" cy="214884"/>
          </a:xfrm>
          <a:prstGeom prst="rect">
            <a:avLst/>
          </a:prstGeom>
          <a:noFill/>
        </p:spPr>
        <p:txBody>
          <a:bodyPr wrap="square">
            <a:spAutoFit/>
          </a:bodyPr>
          <a:lstStyle/>
          <a:p>
            <a:pPr algn="l"/>
            <a:r>
              <a:rPr sz="800" b="0" i="0">
                <a:solidFill>
                  <a:srgbClr val="0D2B55"/>
                </a:solidFill>
              </a:rPr>
              <a:t>US05</a:t>
            </a:r>
          </a:p>
        </p:txBody>
      </p:sp>
      <p:sp>
        <p:nvSpPr>
          <p:cNvPr id="48" name="Rectangle 47"/>
          <p:cNvSpPr/>
          <p:nvPr/>
        </p:nvSpPr>
        <p:spPr>
          <a:xfrm>
            <a:off x="868680" y="2521915"/>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5256" y="2549347"/>
            <a:ext cx="2871216" cy="214884"/>
          </a:xfrm>
          <a:prstGeom prst="rect">
            <a:avLst/>
          </a:prstGeom>
          <a:noFill/>
        </p:spPr>
        <p:txBody>
          <a:bodyPr wrap="square">
            <a:spAutoFit/>
          </a:bodyPr>
          <a:lstStyle/>
          <a:p>
            <a:pPr algn="l"/>
            <a:r>
              <a:rPr sz="800" b="0" i="0">
                <a:solidFill>
                  <a:srgbClr val="0D2B55"/>
                </a:solidFill>
              </a:rPr>
              <a:t>TrainingMgr.addLog()</a:t>
            </a:r>
          </a:p>
        </p:txBody>
      </p:sp>
      <p:sp>
        <p:nvSpPr>
          <p:cNvPr id="50" name="Rectangle 49"/>
          <p:cNvSpPr/>
          <p:nvPr/>
        </p:nvSpPr>
        <p:spPr>
          <a:xfrm>
            <a:off x="3794760" y="2521915"/>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31336" y="2549347"/>
            <a:ext cx="3419856" cy="214884"/>
          </a:xfrm>
          <a:prstGeom prst="rect">
            <a:avLst/>
          </a:prstGeom>
          <a:noFill/>
        </p:spPr>
        <p:txBody>
          <a:bodyPr wrap="square">
            <a:spAutoFit/>
          </a:bodyPr>
          <a:lstStyle/>
          <a:p>
            <a:pPr algn="l"/>
            <a:r>
              <a:rPr sz="800" b="0" i="0">
                <a:solidFill>
                  <a:srgbClr val="0D2B55"/>
                </a:solidFill>
              </a:rPr>
              <a:t>no future, 1-100km, pace 3-10</a:t>
            </a:r>
          </a:p>
        </p:txBody>
      </p:sp>
      <p:sp>
        <p:nvSpPr>
          <p:cNvPr id="52" name="Rectangle 51"/>
          <p:cNvSpPr/>
          <p:nvPr/>
        </p:nvSpPr>
        <p:spPr>
          <a:xfrm>
            <a:off x="7269480" y="2521915"/>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06056" y="2549347"/>
            <a:ext cx="4791456" cy="214884"/>
          </a:xfrm>
          <a:prstGeom prst="rect">
            <a:avLst/>
          </a:prstGeom>
          <a:noFill/>
        </p:spPr>
        <p:txBody>
          <a:bodyPr wrap="square">
            <a:spAutoFit/>
          </a:bodyPr>
          <a:lstStyle/>
          <a:p>
            <a:pPr algn="l"/>
            <a:r>
              <a:rPr sz="800" b="0" i="0">
                <a:solidFill>
                  <a:srgbClr val="0D2B55"/>
                </a:solidFill>
              </a:rPr>
              <a:t>trainingLogs (ArrayList)</a:t>
            </a:r>
          </a:p>
        </p:txBody>
      </p:sp>
      <p:sp>
        <p:nvSpPr>
          <p:cNvPr id="54" name="Rectangle 53"/>
          <p:cNvSpPr/>
          <p:nvPr/>
        </p:nvSpPr>
        <p:spPr>
          <a:xfrm>
            <a:off x="228600" y="2798064"/>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5176" y="2825496"/>
            <a:ext cx="585216" cy="214884"/>
          </a:xfrm>
          <a:prstGeom prst="rect">
            <a:avLst/>
          </a:prstGeom>
          <a:noFill/>
        </p:spPr>
        <p:txBody>
          <a:bodyPr wrap="square">
            <a:spAutoFit/>
          </a:bodyPr>
          <a:lstStyle/>
          <a:p>
            <a:pPr algn="l"/>
            <a:r>
              <a:rPr sz="800" b="0" i="0">
                <a:solidFill>
                  <a:srgbClr val="0D2B55"/>
                </a:solidFill>
              </a:rPr>
              <a:t>US06</a:t>
            </a:r>
          </a:p>
        </p:txBody>
      </p:sp>
      <p:sp>
        <p:nvSpPr>
          <p:cNvPr id="56" name="Rectangle 55"/>
          <p:cNvSpPr/>
          <p:nvPr/>
        </p:nvSpPr>
        <p:spPr>
          <a:xfrm>
            <a:off x="868680" y="2798064"/>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5256" y="2825496"/>
            <a:ext cx="2871216" cy="214884"/>
          </a:xfrm>
          <a:prstGeom prst="rect">
            <a:avLst/>
          </a:prstGeom>
          <a:noFill/>
        </p:spPr>
        <p:txBody>
          <a:bodyPr wrap="square">
            <a:spAutoFit/>
          </a:bodyPr>
          <a:lstStyle/>
          <a:p>
            <a:pPr algn="l"/>
            <a:r>
              <a:rPr sz="800" b="0" i="0">
                <a:solidFill>
                  <a:srgbClr val="0D2B55"/>
                </a:solidFill>
              </a:rPr>
              <a:t>viewTrainingDashboard()</a:t>
            </a:r>
          </a:p>
        </p:txBody>
      </p:sp>
      <p:sp>
        <p:nvSpPr>
          <p:cNvPr id="58" name="Rectangle 57"/>
          <p:cNvSpPr/>
          <p:nvPr/>
        </p:nvSpPr>
        <p:spPr>
          <a:xfrm>
            <a:off x="3794760" y="2798064"/>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31336" y="2825496"/>
            <a:ext cx="3419856" cy="214884"/>
          </a:xfrm>
          <a:prstGeom prst="rect">
            <a:avLst/>
          </a:prstGeom>
          <a:noFill/>
        </p:spPr>
        <p:txBody>
          <a:bodyPr wrap="square">
            <a:spAutoFit/>
          </a:bodyPr>
          <a:lstStyle/>
          <a:p>
            <a:pPr algn="l"/>
            <a:r>
              <a:rPr sz="800" b="0" i="0">
                <a:solidFill>
                  <a:srgbClr val="0D2B55"/>
                </a:solidFill>
              </a:rPr>
              <a:t>avg/best/pace stats + sort</a:t>
            </a:r>
          </a:p>
        </p:txBody>
      </p:sp>
      <p:sp>
        <p:nvSpPr>
          <p:cNvPr id="60" name="Rectangle 59"/>
          <p:cNvSpPr/>
          <p:nvPr/>
        </p:nvSpPr>
        <p:spPr>
          <a:xfrm>
            <a:off x="7269480" y="2798064"/>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06056" y="2825496"/>
            <a:ext cx="4791456" cy="214884"/>
          </a:xfrm>
          <a:prstGeom prst="rect">
            <a:avLst/>
          </a:prstGeom>
          <a:noFill/>
        </p:spPr>
        <p:txBody>
          <a:bodyPr wrap="square">
            <a:spAutoFit/>
          </a:bodyPr>
          <a:lstStyle/>
          <a:p>
            <a:pPr algn="l"/>
            <a:r>
              <a:rPr sz="800" b="0" i="0">
                <a:solidFill>
                  <a:srgbClr val="0D2B55"/>
                </a:solidFill>
              </a:rPr>
              <a:t>trainingLogs (filtered list)</a:t>
            </a:r>
          </a:p>
        </p:txBody>
      </p:sp>
      <p:sp>
        <p:nvSpPr>
          <p:cNvPr id="62" name="Rectangle 61"/>
          <p:cNvSpPr/>
          <p:nvPr/>
        </p:nvSpPr>
        <p:spPr>
          <a:xfrm>
            <a:off x="228600" y="3074212"/>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65176" y="3101644"/>
            <a:ext cx="585216" cy="214884"/>
          </a:xfrm>
          <a:prstGeom prst="rect">
            <a:avLst/>
          </a:prstGeom>
          <a:noFill/>
        </p:spPr>
        <p:txBody>
          <a:bodyPr wrap="square">
            <a:spAutoFit/>
          </a:bodyPr>
          <a:lstStyle/>
          <a:p>
            <a:pPr algn="l"/>
            <a:r>
              <a:rPr sz="800" b="0" i="0">
                <a:solidFill>
                  <a:srgbClr val="0D2B55"/>
                </a:solidFill>
              </a:rPr>
              <a:t>US07</a:t>
            </a:r>
          </a:p>
        </p:txBody>
      </p:sp>
      <p:sp>
        <p:nvSpPr>
          <p:cNvPr id="64" name="Rectangle 63"/>
          <p:cNvSpPr/>
          <p:nvPr/>
        </p:nvSpPr>
        <p:spPr>
          <a:xfrm>
            <a:off x="868680" y="3074212"/>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 y="3101644"/>
            <a:ext cx="2871216" cy="214884"/>
          </a:xfrm>
          <a:prstGeom prst="rect">
            <a:avLst/>
          </a:prstGeom>
          <a:noFill/>
        </p:spPr>
        <p:txBody>
          <a:bodyPr wrap="square">
            <a:spAutoFit/>
          </a:bodyPr>
          <a:lstStyle/>
          <a:p>
            <a:pPr algn="l"/>
            <a:r>
              <a:rPr sz="800" b="0" i="0">
                <a:solidFill>
                  <a:srgbClr val="0D2B55"/>
                </a:solidFill>
              </a:rPr>
              <a:t>ForumMgr.submit()</a:t>
            </a:r>
          </a:p>
        </p:txBody>
      </p:sp>
      <p:sp>
        <p:nvSpPr>
          <p:cNvPr id="66" name="Rectangle 65"/>
          <p:cNvSpPr/>
          <p:nvPr/>
        </p:nvSpPr>
        <p:spPr>
          <a:xfrm>
            <a:off x="3794760" y="3074212"/>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31336" y="3101644"/>
            <a:ext cx="3419856" cy="214884"/>
          </a:xfrm>
          <a:prstGeom prst="rect">
            <a:avLst/>
          </a:prstGeom>
          <a:noFill/>
        </p:spPr>
        <p:txBody>
          <a:bodyPr wrap="square">
            <a:spAutoFit/>
          </a:bodyPr>
          <a:lstStyle/>
          <a:p>
            <a:pPr algn="l"/>
            <a:r>
              <a:rPr sz="800" b="0" i="0">
                <a:solidFill>
                  <a:srgbClr val="0D2B55"/>
                </a:solidFill>
              </a:rPr>
              <a:t>banned words, link detect, ban count</a:t>
            </a:r>
          </a:p>
        </p:txBody>
      </p:sp>
      <p:sp>
        <p:nvSpPr>
          <p:cNvPr id="68" name="Rectangle 67"/>
          <p:cNvSpPr/>
          <p:nvPr/>
        </p:nvSpPr>
        <p:spPr>
          <a:xfrm>
            <a:off x="7269480" y="3074212"/>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06056" y="3101644"/>
            <a:ext cx="4791456" cy="214884"/>
          </a:xfrm>
          <a:prstGeom prst="rect">
            <a:avLst/>
          </a:prstGeom>
          <a:noFill/>
        </p:spPr>
        <p:txBody>
          <a:bodyPr wrap="square">
            <a:spAutoFit/>
          </a:bodyPr>
          <a:lstStyle/>
          <a:p>
            <a:pPr algn="l"/>
            <a:r>
              <a:rPr sz="800" b="0" i="0">
                <a:solidFill>
                  <a:srgbClr val="0D2B55"/>
                </a:solidFill>
              </a:rPr>
              <a:t>forumPosts (ArrayList)</a:t>
            </a:r>
          </a:p>
        </p:txBody>
      </p:sp>
      <p:sp>
        <p:nvSpPr>
          <p:cNvPr id="70" name="Rectangle 69"/>
          <p:cNvSpPr/>
          <p:nvPr/>
        </p:nvSpPr>
        <p:spPr>
          <a:xfrm>
            <a:off x="228600" y="3350361"/>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5176" y="3377793"/>
            <a:ext cx="585216" cy="214884"/>
          </a:xfrm>
          <a:prstGeom prst="rect">
            <a:avLst/>
          </a:prstGeom>
          <a:noFill/>
        </p:spPr>
        <p:txBody>
          <a:bodyPr wrap="square">
            <a:spAutoFit/>
          </a:bodyPr>
          <a:lstStyle/>
          <a:p>
            <a:pPr algn="l"/>
            <a:r>
              <a:rPr sz="800" b="0" i="0">
                <a:solidFill>
                  <a:srgbClr val="0D2B55"/>
                </a:solidFill>
              </a:rPr>
              <a:t>US08</a:t>
            </a:r>
          </a:p>
        </p:txBody>
      </p:sp>
      <p:sp>
        <p:nvSpPr>
          <p:cNvPr id="72" name="Rectangle 71"/>
          <p:cNvSpPr/>
          <p:nvPr/>
        </p:nvSpPr>
        <p:spPr>
          <a:xfrm>
            <a:off x="868680" y="3350361"/>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05256" y="3377793"/>
            <a:ext cx="2871216" cy="214884"/>
          </a:xfrm>
          <a:prstGeom prst="rect">
            <a:avLst/>
          </a:prstGeom>
          <a:noFill/>
        </p:spPr>
        <p:txBody>
          <a:bodyPr wrap="square">
            <a:spAutoFit/>
          </a:bodyPr>
          <a:lstStyle/>
          <a:p>
            <a:pPr algn="l"/>
            <a:r>
              <a:rPr sz="800" b="0" i="0">
                <a:solidFill>
                  <a:srgbClr val="0D2B55"/>
                </a:solidFill>
              </a:rPr>
              <a:t>viewProfile()</a:t>
            </a:r>
          </a:p>
        </p:txBody>
      </p:sp>
      <p:sp>
        <p:nvSpPr>
          <p:cNvPr id="74" name="Rectangle 73"/>
          <p:cNvSpPr/>
          <p:nvPr/>
        </p:nvSpPr>
        <p:spPr>
          <a:xfrm>
            <a:off x="3794760" y="3350361"/>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31336" y="3377793"/>
            <a:ext cx="3419856" cy="214884"/>
          </a:xfrm>
          <a:prstGeom prst="rect">
            <a:avLst/>
          </a:prstGeom>
          <a:noFill/>
        </p:spPr>
        <p:txBody>
          <a:bodyPr wrap="square">
            <a:spAutoFit/>
          </a:bodyPr>
          <a:lstStyle/>
          <a:p>
            <a:pPr algn="l"/>
            <a:r>
              <a:rPr sz="800" b="0" i="0">
                <a:solidFill>
                  <a:srgbClr val="0D2B55"/>
                </a:solidFill>
              </a:rPr>
              <a:t>COMPLETED regs, personal best</a:t>
            </a:r>
          </a:p>
        </p:txBody>
      </p:sp>
      <p:sp>
        <p:nvSpPr>
          <p:cNvPr id="76" name="Rectangle 75"/>
          <p:cNvSpPr/>
          <p:nvPr/>
        </p:nvSpPr>
        <p:spPr>
          <a:xfrm>
            <a:off x="7269480" y="3350361"/>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06056" y="3377793"/>
            <a:ext cx="4791456" cy="214884"/>
          </a:xfrm>
          <a:prstGeom prst="rect">
            <a:avLst/>
          </a:prstGeom>
          <a:noFill/>
        </p:spPr>
        <p:txBody>
          <a:bodyPr wrap="square">
            <a:spAutoFit/>
          </a:bodyPr>
          <a:lstStyle/>
          <a:p>
            <a:pPr algn="l"/>
            <a:r>
              <a:rPr sz="800" b="0" i="0">
                <a:solidFill>
                  <a:srgbClr val="0D2B55"/>
                </a:solidFill>
              </a:rPr>
              <a:t>registrations (ArrayList), HashMap&lt;dist,time&gt;</a:t>
            </a:r>
          </a:p>
        </p:txBody>
      </p:sp>
      <p:sp>
        <p:nvSpPr>
          <p:cNvPr id="78" name="Rectangle 77"/>
          <p:cNvSpPr/>
          <p:nvPr/>
        </p:nvSpPr>
        <p:spPr>
          <a:xfrm>
            <a:off x="228600" y="3626510"/>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65176" y="3653942"/>
            <a:ext cx="585216" cy="214884"/>
          </a:xfrm>
          <a:prstGeom prst="rect">
            <a:avLst/>
          </a:prstGeom>
          <a:noFill/>
        </p:spPr>
        <p:txBody>
          <a:bodyPr wrap="square">
            <a:spAutoFit/>
          </a:bodyPr>
          <a:lstStyle/>
          <a:p>
            <a:pPr algn="l"/>
            <a:r>
              <a:rPr sz="800" b="0" i="0">
                <a:solidFill>
                  <a:srgbClr val="0D2B55"/>
                </a:solidFill>
              </a:rPr>
              <a:t>US09</a:t>
            </a:r>
          </a:p>
        </p:txBody>
      </p:sp>
      <p:sp>
        <p:nvSpPr>
          <p:cNvPr id="80" name="Rectangle 79"/>
          <p:cNvSpPr/>
          <p:nvPr/>
        </p:nvSpPr>
        <p:spPr>
          <a:xfrm>
            <a:off x="868680" y="3626510"/>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5256" y="3653942"/>
            <a:ext cx="2871216" cy="214884"/>
          </a:xfrm>
          <a:prstGeom prst="rect">
            <a:avLst/>
          </a:prstGeom>
          <a:noFill/>
        </p:spPr>
        <p:txBody>
          <a:bodyPr wrap="square">
            <a:spAutoFit/>
          </a:bodyPr>
          <a:lstStyle/>
          <a:p>
            <a:pPr algn="l"/>
            <a:r>
              <a:rPr sz="800" b="0" i="0">
                <a:solidFill>
                  <a:srgbClr val="0D2B55"/>
                </a:solidFill>
              </a:rPr>
              <a:t>adminRaces()  RaceMgr.*</a:t>
            </a:r>
          </a:p>
        </p:txBody>
      </p:sp>
      <p:sp>
        <p:nvSpPr>
          <p:cNvPr id="82" name="Rectangle 81"/>
          <p:cNvSpPr/>
          <p:nvPr/>
        </p:nvSpPr>
        <p:spPr>
          <a:xfrm>
            <a:off x="3794760" y="3626510"/>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831336" y="3653942"/>
            <a:ext cx="3419856" cy="214884"/>
          </a:xfrm>
          <a:prstGeom prst="rect">
            <a:avLst/>
          </a:prstGeom>
          <a:noFill/>
        </p:spPr>
        <p:txBody>
          <a:bodyPr wrap="square">
            <a:spAutoFit/>
          </a:bodyPr>
          <a:lstStyle/>
          <a:p>
            <a:pPr algn="l"/>
            <a:r>
              <a:rPr sz="800" b="0" i="0">
                <a:solidFill>
                  <a:srgbClr val="0D2B55"/>
                </a:solidFill>
              </a:rPr>
              <a:t>7-day future, 24h edit lock, unique name</a:t>
            </a:r>
          </a:p>
        </p:txBody>
      </p:sp>
      <p:sp>
        <p:nvSpPr>
          <p:cNvPr id="84" name="Rectangle 83"/>
          <p:cNvSpPr/>
          <p:nvPr/>
        </p:nvSpPr>
        <p:spPr>
          <a:xfrm>
            <a:off x="7269480" y="3626510"/>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06056" y="3653942"/>
            <a:ext cx="4791456" cy="214884"/>
          </a:xfrm>
          <a:prstGeom prst="rect">
            <a:avLst/>
          </a:prstGeom>
          <a:noFill/>
        </p:spPr>
        <p:txBody>
          <a:bodyPr wrap="square">
            <a:spAutoFit/>
          </a:bodyPr>
          <a:lstStyle/>
          <a:p>
            <a:pPr algn="l"/>
            <a:r>
              <a:rPr sz="800" b="0" i="0">
                <a:solidFill>
                  <a:srgbClr val="0D2B55"/>
                </a:solidFill>
              </a:rPr>
              <a:t>races (ArrayList)</a:t>
            </a:r>
          </a:p>
        </p:txBody>
      </p:sp>
      <p:sp>
        <p:nvSpPr>
          <p:cNvPr id="86" name="Rectangle 85"/>
          <p:cNvSpPr/>
          <p:nvPr/>
        </p:nvSpPr>
        <p:spPr>
          <a:xfrm>
            <a:off x="228600" y="3902659"/>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65176" y="3930091"/>
            <a:ext cx="585216" cy="214884"/>
          </a:xfrm>
          <a:prstGeom prst="rect">
            <a:avLst/>
          </a:prstGeom>
          <a:noFill/>
        </p:spPr>
        <p:txBody>
          <a:bodyPr wrap="square">
            <a:spAutoFit/>
          </a:bodyPr>
          <a:lstStyle/>
          <a:p>
            <a:pPr algn="l"/>
            <a:r>
              <a:rPr sz="800" b="0" i="0">
                <a:solidFill>
                  <a:srgbClr val="0D2B55"/>
                </a:solidFill>
              </a:rPr>
              <a:t>US10</a:t>
            </a:r>
          </a:p>
        </p:txBody>
      </p:sp>
      <p:sp>
        <p:nvSpPr>
          <p:cNvPr id="88" name="Rectangle 87"/>
          <p:cNvSpPr/>
          <p:nvPr/>
        </p:nvSpPr>
        <p:spPr>
          <a:xfrm>
            <a:off x="868680" y="3902659"/>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05256" y="3930091"/>
            <a:ext cx="2871216" cy="214884"/>
          </a:xfrm>
          <a:prstGeom prst="rect">
            <a:avLst/>
          </a:prstGeom>
          <a:noFill/>
        </p:spPr>
        <p:txBody>
          <a:bodyPr wrap="square">
            <a:spAutoFit/>
          </a:bodyPr>
          <a:lstStyle/>
          <a:p>
            <a:pPr algn="l"/>
            <a:r>
              <a:rPr sz="800" b="0" i="0">
                <a:solidFill>
                  <a:srgbClr val="0D2B55"/>
                </a:solidFill>
              </a:rPr>
              <a:t>adminAnalytics()</a:t>
            </a:r>
          </a:p>
        </p:txBody>
      </p:sp>
      <p:sp>
        <p:nvSpPr>
          <p:cNvPr id="90" name="Rectangle 89"/>
          <p:cNvSpPr/>
          <p:nvPr/>
        </p:nvSpPr>
        <p:spPr>
          <a:xfrm>
            <a:off x="3794760" y="3902659"/>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1336" y="3930091"/>
            <a:ext cx="3419856" cy="214884"/>
          </a:xfrm>
          <a:prstGeom prst="rect">
            <a:avLst/>
          </a:prstGeom>
          <a:noFill/>
        </p:spPr>
        <p:txBody>
          <a:bodyPr wrap="square">
            <a:spAutoFit/>
          </a:bodyPr>
          <a:lstStyle/>
          <a:p>
            <a:pPr algn="l"/>
            <a:r>
              <a:rPr sz="800" b="0" i="0">
                <a:solidFill>
                  <a:srgbClr val="0D2B55"/>
                </a:solidFill>
              </a:rPr>
              <a:t>stream().filter().count()</a:t>
            </a:r>
          </a:p>
        </p:txBody>
      </p:sp>
      <p:sp>
        <p:nvSpPr>
          <p:cNvPr id="92" name="Rectangle 91"/>
          <p:cNvSpPr/>
          <p:nvPr/>
        </p:nvSpPr>
        <p:spPr>
          <a:xfrm>
            <a:off x="7269480" y="3902659"/>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06056" y="3930091"/>
            <a:ext cx="4791456" cy="214884"/>
          </a:xfrm>
          <a:prstGeom prst="rect">
            <a:avLst/>
          </a:prstGeom>
          <a:noFill/>
        </p:spPr>
        <p:txBody>
          <a:bodyPr wrap="square">
            <a:spAutoFit/>
          </a:bodyPr>
          <a:lstStyle/>
          <a:p>
            <a:pPr algn="l"/>
            <a:r>
              <a:rPr sz="800" b="0" i="0">
                <a:solidFill>
                  <a:srgbClr val="0D2B55"/>
                </a:solidFill>
              </a:rPr>
              <a:t>All collections (read-only)</a:t>
            </a:r>
          </a:p>
        </p:txBody>
      </p:sp>
      <p:sp>
        <p:nvSpPr>
          <p:cNvPr id="94" name="Rectangle 93"/>
          <p:cNvSpPr/>
          <p:nvPr/>
        </p:nvSpPr>
        <p:spPr>
          <a:xfrm>
            <a:off x="228600" y="4178808"/>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5176" y="4206240"/>
            <a:ext cx="585216" cy="214884"/>
          </a:xfrm>
          <a:prstGeom prst="rect">
            <a:avLst/>
          </a:prstGeom>
          <a:noFill/>
        </p:spPr>
        <p:txBody>
          <a:bodyPr wrap="square">
            <a:spAutoFit/>
          </a:bodyPr>
          <a:lstStyle/>
          <a:p>
            <a:pPr algn="l"/>
            <a:r>
              <a:rPr sz="800" b="0" i="0">
                <a:solidFill>
                  <a:srgbClr val="0D2B55"/>
                </a:solidFill>
              </a:rPr>
              <a:t>US11</a:t>
            </a:r>
          </a:p>
        </p:txBody>
      </p:sp>
      <p:sp>
        <p:nvSpPr>
          <p:cNvPr id="96" name="Rectangle 95"/>
          <p:cNvSpPr/>
          <p:nvPr/>
        </p:nvSpPr>
        <p:spPr>
          <a:xfrm>
            <a:off x="868680" y="4178808"/>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05256" y="4206240"/>
            <a:ext cx="2871216" cy="214884"/>
          </a:xfrm>
          <a:prstGeom prst="rect">
            <a:avLst/>
          </a:prstGeom>
          <a:noFill/>
        </p:spPr>
        <p:txBody>
          <a:bodyPr wrap="square">
            <a:spAutoFit/>
          </a:bodyPr>
          <a:lstStyle/>
          <a:p>
            <a:pPr algn="l"/>
            <a:r>
              <a:rPr sz="800" b="0" i="0">
                <a:solidFill>
                  <a:srgbClr val="0D2B55"/>
                </a:solidFill>
              </a:rPr>
              <a:t>logFailedAttempt()</a:t>
            </a:r>
          </a:p>
        </p:txBody>
      </p:sp>
      <p:sp>
        <p:nvSpPr>
          <p:cNvPr id="98" name="Rectangle 97"/>
          <p:cNvSpPr/>
          <p:nvPr/>
        </p:nvSpPr>
        <p:spPr>
          <a:xfrm>
            <a:off x="3794760" y="4178808"/>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831336" y="4206240"/>
            <a:ext cx="3419856" cy="214884"/>
          </a:xfrm>
          <a:prstGeom prst="rect">
            <a:avLst/>
          </a:prstGeom>
          <a:noFill/>
        </p:spPr>
        <p:txBody>
          <a:bodyPr wrap="square">
            <a:spAutoFit/>
          </a:bodyPr>
          <a:lstStyle/>
          <a:p>
            <a:pPr algn="l"/>
            <a:r>
              <a:rPr sz="800" b="0" i="0">
                <a:solidFill>
                  <a:srgbClr val="0D2B55"/>
                </a:solidFill>
              </a:rPr>
              <a:t>every wrong pwd → security.log</a:t>
            </a:r>
          </a:p>
        </p:txBody>
      </p:sp>
      <p:sp>
        <p:nvSpPr>
          <p:cNvPr id="100" name="Rectangle 99"/>
          <p:cNvSpPr/>
          <p:nvPr/>
        </p:nvSpPr>
        <p:spPr>
          <a:xfrm>
            <a:off x="7269480" y="4178808"/>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306056" y="4206240"/>
            <a:ext cx="4791456" cy="214884"/>
          </a:xfrm>
          <a:prstGeom prst="rect">
            <a:avLst/>
          </a:prstGeom>
          <a:noFill/>
        </p:spPr>
        <p:txBody>
          <a:bodyPr wrap="square">
            <a:spAutoFit/>
          </a:bodyPr>
          <a:lstStyle/>
          <a:p>
            <a:pPr algn="l"/>
            <a:r>
              <a:rPr sz="800" b="0" i="0">
                <a:solidFill>
                  <a:srgbClr val="0D2B55"/>
                </a:solidFill>
              </a:rPr>
              <a:t>File I/O, user.failedAttempts</a:t>
            </a:r>
          </a:p>
        </p:txBody>
      </p:sp>
      <p:sp>
        <p:nvSpPr>
          <p:cNvPr id="102" name="Rectangle 101"/>
          <p:cNvSpPr/>
          <p:nvPr/>
        </p:nvSpPr>
        <p:spPr>
          <a:xfrm>
            <a:off x="228600" y="4454956"/>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65176" y="4482388"/>
            <a:ext cx="585216" cy="214884"/>
          </a:xfrm>
          <a:prstGeom prst="rect">
            <a:avLst/>
          </a:prstGeom>
          <a:noFill/>
        </p:spPr>
        <p:txBody>
          <a:bodyPr wrap="square">
            <a:spAutoFit/>
          </a:bodyPr>
          <a:lstStyle/>
          <a:p>
            <a:pPr algn="l"/>
            <a:r>
              <a:rPr sz="800" b="0" i="0">
                <a:solidFill>
                  <a:srgbClr val="0D2B55"/>
                </a:solidFill>
              </a:rPr>
              <a:t>US12</a:t>
            </a:r>
          </a:p>
        </p:txBody>
      </p:sp>
      <p:sp>
        <p:nvSpPr>
          <p:cNvPr id="104" name="Rectangle 103"/>
          <p:cNvSpPr/>
          <p:nvPr/>
        </p:nvSpPr>
        <p:spPr>
          <a:xfrm>
            <a:off x="868680" y="4454956"/>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05256" y="4482388"/>
            <a:ext cx="2871216" cy="214884"/>
          </a:xfrm>
          <a:prstGeom prst="rect">
            <a:avLst/>
          </a:prstGeom>
          <a:noFill/>
        </p:spPr>
        <p:txBody>
          <a:bodyPr wrap="square">
            <a:spAutoFit/>
          </a:bodyPr>
          <a:lstStyle/>
          <a:p>
            <a:pPr algn="l"/>
            <a:r>
              <a:rPr sz="800" b="0" i="0">
                <a:solidFill>
                  <a:srgbClr val="0D2B55"/>
                </a:solidFill>
              </a:rPr>
              <a:t>RaceMgr.create/edit()</a:t>
            </a:r>
          </a:p>
        </p:txBody>
      </p:sp>
      <p:sp>
        <p:nvSpPr>
          <p:cNvPr id="106" name="Rectangle 105"/>
          <p:cNvSpPr/>
          <p:nvPr/>
        </p:nvSpPr>
        <p:spPr>
          <a:xfrm>
            <a:off x="3794760" y="4454956"/>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831336" y="4482388"/>
            <a:ext cx="3419856" cy="214884"/>
          </a:xfrm>
          <a:prstGeom prst="rect">
            <a:avLst/>
          </a:prstGeom>
          <a:noFill/>
        </p:spPr>
        <p:txBody>
          <a:bodyPr wrap="square">
            <a:spAutoFit/>
          </a:bodyPr>
          <a:lstStyle/>
          <a:p>
            <a:pPr algn="l"/>
            <a:r>
              <a:rPr sz="800" b="0" i="0">
                <a:solidFill>
                  <a:srgbClr val="0D2B55"/>
                </a:solidFill>
              </a:rPr>
              <a:t>7-day future, unique per year, 24h lock</a:t>
            </a:r>
          </a:p>
        </p:txBody>
      </p:sp>
      <p:sp>
        <p:nvSpPr>
          <p:cNvPr id="108" name="Rectangle 107"/>
          <p:cNvSpPr/>
          <p:nvPr/>
        </p:nvSpPr>
        <p:spPr>
          <a:xfrm>
            <a:off x="7269480" y="4454956"/>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306056" y="4482388"/>
            <a:ext cx="4791456" cy="214884"/>
          </a:xfrm>
          <a:prstGeom prst="rect">
            <a:avLst/>
          </a:prstGeom>
          <a:noFill/>
        </p:spPr>
        <p:txBody>
          <a:bodyPr wrap="square">
            <a:spAutoFit/>
          </a:bodyPr>
          <a:lstStyle/>
          <a:p>
            <a:pPr algn="l"/>
            <a:r>
              <a:rPr sz="800" b="0" i="0">
                <a:solidFill>
                  <a:srgbClr val="0D2B55"/>
                </a:solidFill>
              </a:rPr>
              <a:t>races (ArrayList)</a:t>
            </a:r>
          </a:p>
        </p:txBody>
      </p:sp>
      <p:sp>
        <p:nvSpPr>
          <p:cNvPr id="110" name="Rectangle 109"/>
          <p:cNvSpPr/>
          <p:nvPr/>
        </p:nvSpPr>
        <p:spPr>
          <a:xfrm>
            <a:off x="228600" y="4731105"/>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65176" y="4758537"/>
            <a:ext cx="585216" cy="214884"/>
          </a:xfrm>
          <a:prstGeom prst="rect">
            <a:avLst/>
          </a:prstGeom>
          <a:noFill/>
        </p:spPr>
        <p:txBody>
          <a:bodyPr wrap="square">
            <a:spAutoFit/>
          </a:bodyPr>
          <a:lstStyle/>
          <a:p>
            <a:pPr algn="l"/>
            <a:r>
              <a:rPr sz="800" b="0" i="0">
                <a:solidFill>
                  <a:srgbClr val="0D2B55"/>
                </a:solidFill>
              </a:rPr>
              <a:t>US13</a:t>
            </a:r>
          </a:p>
        </p:txBody>
      </p:sp>
      <p:sp>
        <p:nvSpPr>
          <p:cNvPr id="112" name="Rectangle 111"/>
          <p:cNvSpPr/>
          <p:nvPr/>
        </p:nvSpPr>
        <p:spPr>
          <a:xfrm>
            <a:off x="868680" y="4731105"/>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05256" y="4758537"/>
            <a:ext cx="2871216" cy="214884"/>
          </a:xfrm>
          <a:prstGeom prst="rect">
            <a:avLst/>
          </a:prstGeom>
          <a:noFill/>
        </p:spPr>
        <p:txBody>
          <a:bodyPr wrap="square">
            <a:spAutoFit/>
          </a:bodyPr>
          <a:lstStyle/>
          <a:p>
            <a:pPr algn="l"/>
            <a:r>
              <a:rPr sz="800" b="0" i="0">
                <a:solidFill>
                  <a:srgbClr val="0D2B55"/>
                </a:solidFill>
              </a:rPr>
              <a:t>RegMgr.register()</a:t>
            </a:r>
          </a:p>
        </p:txBody>
      </p:sp>
      <p:sp>
        <p:nvSpPr>
          <p:cNvPr id="114" name="Rectangle 113"/>
          <p:cNvSpPr/>
          <p:nvPr/>
        </p:nvSpPr>
        <p:spPr>
          <a:xfrm>
            <a:off x="3794760" y="4731105"/>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831336" y="4758537"/>
            <a:ext cx="3419856" cy="214884"/>
          </a:xfrm>
          <a:prstGeom prst="rect">
            <a:avLst/>
          </a:prstGeom>
          <a:noFill/>
        </p:spPr>
        <p:txBody>
          <a:bodyPr wrap="square">
            <a:spAutoFit/>
          </a:bodyPr>
          <a:lstStyle/>
          <a:p>
            <a:pPr algn="l"/>
            <a:r>
              <a:rPr sz="800" b="0" i="0">
                <a:solidFill>
                  <a:srgbClr val="0D2B55"/>
                </a:solidFill>
              </a:rPr>
              <a:t>≥5 logs, full capacity, late penalty</a:t>
            </a:r>
          </a:p>
        </p:txBody>
      </p:sp>
      <p:sp>
        <p:nvSpPr>
          <p:cNvPr id="116" name="Rectangle 115"/>
          <p:cNvSpPr/>
          <p:nvPr/>
        </p:nvSpPr>
        <p:spPr>
          <a:xfrm>
            <a:off x="7269480" y="4731105"/>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06056" y="4758537"/>
            <a:ext cx="4791456" cy="214884"/>
          </a:xfrm>
          <a:prstGeom prst="rect">
            <a:avLst/>
          </a:prstGeom>
          <a:noFill/>
        </p:spPr>
        <p:txBody>
          <a:bodyPr wrap="square">
            <a:spAutoFit/>
          </a:bodyPr>
          <a:lstStyle/>
          <a:p>
            <a:pPr algn="l"/>
            <a:r>
              <a:rPr sz="800" b="0" i="0">
                <a:solidFill>
                  <a:srgbClr val="0D2B55"/>
                </a:solidFill>
              </a:rPr>
              <a:t>registrations, trainingLogs</a:t>
            </a:r>
          </a:p>
        </p:txBody>
      </p:sp>
      <p:sp>
        <p:nvSpPr>
          <p:cNvPr id="118" name="Rectangle 117"/>
          <p:cNvSpPr/>
          <p:nvPr/>
        </p:nvSpPr>
        <p:spPr>
          <a:xfrm>
            <a:off x="228600" y="5007254"/>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5176" y="5034686"/>
            <a:ext cx="585216" cy="214884"/>
          </a:xfrm>
          <a:prstGeom prst="rect">
            <a:avLst/>
          </a:prstGeom>
          <a:noFill/>
        </p:spPr>
        <p:txBody>
          <a:bodyPr wrap="square">
            <a:spAutoFit/>
          </a:bodyPr>
          <a:lstStyle/>
          <a:p>
            <a:pPr algn="l"/>
            <a:r>
              <a:rPr sz="800" b="0" i="0">
                <a:solidFill>
                  <a:srgbClr val="0D2B55"/>
                </a:solidFill>
              </a:rPr>
              <a:t>US14</a:t>
            </a:r>
          </a:p>
        </p:txBody>
      </p:sp>
      <p:sp>
        <p:nvSpPr>
          <p:cNvPr id="120" name="Rectangle 119"/>
          <p:cNvSpPr/>
          <p:nvPr/>
        </p:nvSpPr>
        <p:spPr>
          <a:xfrm>
            <a:off x="868680" y="5007254"/>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05256" y="5034686"/>
            <a:ext cx="2871216" cy="214884"/>
          </a:xfrm>
          <a:prstGeom prst="rect">
            <a:avLst/>
          </a:prstGeom>
          <a:noFill/>
        </p:spPr>
        <p:txBody>
          <a:bodyPr wrap="square">
            <a:spAutoFit/>
          </a:bodyPr>
          <a:lstStyle/>
          <a:p>
            <a:pPr algn="l"/>
            <a:r>
              <a:rPr sz="800" b="0" i="0">
                <a:solidFill>
                  <a:srgbClr val="0D2B55"/>
                </a:solidFill>
              </a:rPr>
              <a:t>TrainingMgr.addLog()</a:t>
            </a:r>
          </a:p>
        </p:txBody>
      </p:sp>
      <p:sp>
        <p:nvSpPr>
          <p:cNvPr id="122" name="Rectangle 121"/>
          <p:cNvSpPr/>
          <p:nvPr/>
        </p:nvSpPr>
        <p:spPr>
          <a:xfrm>
            <a:off x="3794760" y="5007254"/>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31336" y="5034686"/>
            <a:ext cx="3419856" cy="214884"/>
          </a:xfrm>
          <a:prstGeom prst="rect">
            <a:avLst/>
          </a:prstGeom>
          <a:noFill/>
        </p:spPr>
        <p:txBody>
          <a:bodyPr wrap="square">
            <a:spAutoFit/>
          </a:bodyPr>
          <a:lstStyle/>
          <a:p>
            <a:pPr algn="l"/>
            <a:r>
              <a:rPr sz="800" b="0" i="0">
                <a:solidFill>
                  <a:srgbClr val="0D2B55"/>
                </a:solidFill>
              </a:rPr>
              <a:t>pace 3-10, distance 1-100, 10x flag</a:t>
            </a:r>
          </a:p>
        </p:txBody>
      </p:sp>
      <p:sp>
        <p:nvSpPr>
          <p:cNvPr id="124" name="Rectangle 123"/>
          <p:cNvSpPr/>
          <p:nvPr/>
        </p:nvSpPr>
        <p:spPr>
          <a:xfrm>
            <a:off x="7269480" y="5007254"/>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306056" y="5034686"/>
            <a:ext cx="4791456" cy="214884"/>
          </a:xfrm>
          <a:prstGeom prst="rect">
            <a:avLst/>
          </a:prstGeom>
          <a:noFill/>
        </p:spPr>
        <p:txBody>
          <a:bodyPr wrap="square">
            <a:spAutoFit/>
          </a:bodyPr>
          <a:lstStyle/>
          <a:p>
            <a:pPr algn="l"/>
            <a:r>
              <a:rPr sz="800" b="0" i="0">
                <a:solidFill>
                  <a:srgbClr val="0D2B55"/>
                </a:solidFill>
              </a:rPr>
              <a:t>trainingLogs (ArrayList)</a:t>
            </a:r>
          </a:p>
        </p:txBody>
      </p:sp>
      <p:sp>
        <p:nvSpPr>
          <p:cNvPr id="126" name="Rectangle 125"/>
          <p:cNvSpPr/>
          <p:nvPr/>
        </p:nvSpPr>
        <p:spPr>
          <a:xfrm>
            <a:off x="228600" y="5283403"/>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65176" y="5310835"/>
            <a:ext cx="585216" cy="214884"/>
          </a:xfrm>
          <a:prstGeom prst="rect">
            <a:avLst/>
          </a:prstGeom>
          <a:noFill/>
        </p:spPr>
        <p:txBody>
          <a:bodyPr wrap="square">
            <a:spAutoFit/>
          </a:bodyPr>
          <a:lstStyle/>
          <a:p>
            <a:pPr algn="l"/>
            <a:r>
              <a:rPr sz="800" b="0" i="0">
                <a:solidFill>
                  <a:srgbClr val="0D2B55"/>
                </a:solidFill>
              </a:rPr>
              <a:t>US15</a:t>
            </a:r>
          </a:p>
        </p:txBody>
      </p:sp>
      <p:sp>
        <p:nvSpPr>
          <p:cNvPr id="128" name="Rectangle 127"/>
          <p:cNvSpPr/>
          <p:nvPr/>
        </p:nvSpPr>
        <p:spPr>
          <a:xfrm>
            <a:off x="868680" y="5283403"/>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05256" y="5310835"/>
            <a:ext cx="2871216" cy="214884"/>
          </a:xfrm>
          <a:prstGeom prst="rect">
            <a:avLst/>
          </a:prstGeom>
          <a:noFill/>
        </p:spPr>
        <p:txBody>
          <a:bodyPr wrap="square">
            <a:spAutoFit/>
          </a:bodyPr>
          <a:lstStyle/>
          <a:p>
            <a:pPr algn="l"/>
            <a:r>
              <a:rPr sz="800" b="0" i="0">
                <a:solidFill>
                  <a:srgbClr val="0D2B55"/>
                </a:solidFill>
              </a:rPr>
              <a:t>adminForum()  ForumMgr.cleanup()</a:t>
            </a:r>
          </a:p>
        </p:txBody>
      </p:sp>
      <p:sp>
        <p:nvSpPr>
          <p:cNvPr id="130" name="Rectangle 129"/>
          <p:cNvSpPr/>
          <p:nvPr/>
        </p:nvSpPr>
        <p:spPr>
          <a:xfrm>
            <a:off x="3794760" y="5283403"/>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831336" y="5310835"/>
            <a:ext cx="3419856" cy="214884"/>
          </a:xfrm>
          <a:prstGeom prst="rect">
            <a:avLst/>
          </a:prstGeom>
          <a:noFill/>
        </p:spPr>
        <p:txBody>
          <a:bodyPr wrap="square">
            <a:spAutoFit/>
          </a:bodyPr>
          <a:lstStyle/>
          <a:p>
            <a:pPr algn="l"/>
            <a:r>
              <a:rPr sz="800" b="0" i="0">
                <a:solidFill>
                  <a:srgbClr val="0D2B55"/>
                </a:solidFill>
              </a:rPr>
              <a:t>approve/reject/1-year cleanup</a:t>
            </a:r>
          </a:p>
        </p:txBody>
      </p:sp>
      <p:sp>
        <p:nvSpPr>
          <p:cNvPr id="132" name="Rectangle 131"/>
          <p:cNvSpPr/>
          <p:nvPr/>
        </p:nvSpPr>
        <p:spPr>
          <a:xfrm>
            <a:off x="7269480" y="5283403"/>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306056" y="5310835"/>
            <a:ext cx="4791456" cy="214884"/>
          </a:xfrm>
          <a:prstGeom prst="rect">
            <a:avLst/>
          </a:prstGeom>
          <a:noFill/>
        </p:spPr>
        <p:txBody>
          <a:bodyPr wrap="square">
            <a:spAutoFit/>
          </a:bodyPr>
          <a:lstStyle/>
          <a:p>
            <a:pPr algn="l"/>
            <a:r>
              <a:rPr sz="800" b="0" i="0">
                <a:solidFill>
                  <a:srgbClr val="0D2B55"/>
                </a:solidFill>
              </a:rPr>
              <a:t>forumPosts (ArrayList)</a:t>
            </a:r>
          </a:p>
        </p:txBody>
      </p:sp>
      <p:sp>
        <p:nvSpPr>
          <p:cNvPr id="134" name="Rectangle 133"/>
          <p:cNvSpPr/>
          <p:nvPr/>
        </p:nvSpPr>
        <p:spPr>
          <a:xfrm>
            <a:off x="228600" y="5559552"/>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65176" y="5586984"/>
            <a:ext cx="585216" cy="214884"/>
          </a:xfrm>
          <a:prstGeom prst="rect">
            <a:avLst/>
          </a:prstGeom>
          <a:noFill/>
        </p:spPr>
        <p:txBody>
          <a:bodyPr wrap="square">
            <a:spAutoFit/>
          </a:bodyPr>
          <a:lstStyle/>
          <a:p>
            <a:pPr algn="l"/>
            <a:r>
              <a:rPr sz="800" b="0" i="0">
                <a:solidFill>
                  <a:srgbClr val="0D2B55"/>
                </a:solidFill>
              </a:rPr>
              <a:t>US17</a:t>
            </a:r>
          </a:p>
        </p:txBody>
      </p:sp>
      <p:sp>
        <p:nvSpPr>
          <p:cNvPr id="136" name="Rectangle 135"/>
          <p:cNvSpPr/>
          <p:nvPr/>
        </p:nvSpPr>
        <p:spPr>
          <a:xfrm>
            <a:off x="868680" y="5559552"/>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05256" y="5586984"/>
            <a:ext cx="2871216" cy="214884"/>
          </a:xfrm>
          <a:prstGeom prst="rect">
            <a:avLst/>
          </a:prstGeom>
          <a:noFill/>
        </p:spPr>
        <p:txBody>
          <a:bodyPr wrap="square">
            <a:spAutoFit/>
          </a:bodyPr>
          <a:lstStyle/>
          <a:p>
            <a:pPr algn="l"/>
            <a:r>
              <a:rPr sz="800" b="0" i="0">
                <a:solidFill>
                  <a:srgbClr val="0D2B55"/>
                </a:solidFill>
              </a:rPr>
              <a:t>adminAnalytics()  viewTrainingDashboard()</a:t>
            </a:r>
          </a:p>
        </p:txBody>
      </p:sp>
      <p:sp>
        <p:nvSpPr>
          <p:cNvPr id="138" name="Rectangle 137"/>
          <p:cNvSpPr/>
          <p:nvPr/>
        </p:nvSpPr>
        <p:spPr>
          <a:xfrm>
            <a:off x="3794760" y="5559552"/>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31336" y="5586984"/>
            <a:ext cx="3419856" cy="214884"/>
          </a:xfrm>
          <a:prstGeom prst="rect">
            <a:avLst/>
          </a:prstGeom>
          <a:noFill/>
        </p:spPr>
        <p:txBody>
          <a:bodyPr wrap="square">
            <a:spAutoFit/>
          </a:bodyPr>
          <a:lstStyle/>
          <a:p>
            <a:pPr algn="l"/>
            <a:r>
              <a:rPr sz="800" b="0" i="0">
                <a:solidFill>
                  <a:srgbClr val="0D2B55"/>
                </a:solidFill>
              </a:rPr>
              <a:t>runner stats, injury flag</a:t>
            </a:r>
          </a:p>
        </p:txBody>
      </p:sp>
      <p:sp>
        <p:nvSpPr>
          <p:cNvPr id="140" name="Rectangle 139"/>
          <p:cNvSpPr/>
          <p:nvPr/>
        </p:nvSpPr>
        <p:spPr>
          <a:xfrm>
            <a:off x="7269480" y="5559552"/>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306056" y="5586984"/>
            <a:ext cx="4791456" cy="214884"/>
          </a:xfrm>
          <a:prstGeom prst="rect">
            <a:avLst/>
          </a:prstGeom>
          <a:noFill/>
        </p:spPr>
        <p:txBody>
          <a:bodyPr wrap="square">
            <a:spAutoFit/>
          </a:bodyPr>
          <a:lstStyle/>
          <a:p>
            <a:pPr algn="l"/>
            <a:r>
              <a:rPr sz="800" b="0" i="0">
                <a:solidFill>
                  <a:srgbClr val="0D2B55"/>
                </a:solidFill>
              </a:rPr>
              <a:t>trainingLogs, users</a:t>
            </a:r>
          </a:p>
        </p:txBody>
      </p:sp>
      <p:sp>
        <p:nvSpPr>
          <p:cNvPr id="142" name="Rectangle 141"/>
          <p:cNvSpPr/>
          <p:nvPr/>
        </p:nvSpPr>
        <p:spPr>
          <a:xfrm>
            <a:off x="228600" y="5835700"/>
            <a:ext cx="640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65176" y="5863132"/>
            <a:ext cx="585216" cy="214884"/>
          </a:xfrm>
          <a:prstGeom prst="rect">
            <a:avLst/>
          </a:prstGeom>
          <a:noFill/>
        </p:spPr>
        <p:txBody>
          <a:bodyPr wrap="square">
            <a:spAutoFit/>
          </a:bodyPr>
          <a:lstStyle/>
          <a:p>
            <a:pPr algn="l"/>
            <a:r>
              <a:rPr sz="800" b="0" i="0">
                <a:solidFill>
                  <a:srgbClr val="0D2B55"/>
                </a:solidFill>
              </a:rPr>
              <a:t>US19</a:t>
            </a:r>
          </a:p>
        </p:txBody>
      </p:sp>
      <p:sp>
        <p:nvSpPr>
          <p:cNvPr id="144" name="Rectangle 143"/>
          <p:cNvSpPr/>
          <p:nvPr/>
        </p:nvSpPr>
        <p:spPr>
          <a:xfrm>
            <a:off x="868680" y="5835700"/>
            <a:ext cx="292608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05256" y="5863132"/>
            <a:ext cx="2871216" cy="214884"/>
          </a:xfrm>
          <a:prstGeom prst="rect">
            <a:avLst/>
          </a:prstGeom>
          <a:noFill/>
        </p:spPr>
        <p:txBody>
          <a:bodyPr wrap="square">
            <a:spAutoFit/>
          </a:bodyPr>
          <a:lstStyle/>
          <a:p>
            <a:pPr algn="l"/>
            <a:r>
              <a:rPr sz="800" b="0" i="0">
                <a:solidFill>
                  <a:srgbClr val="0D2B55"/>
                </a:solidFill>
              </a:rPr>
              <a:t>handleLogin() role check</a:t>
            </a:r>
          </a:p>
        </p:txBody>
      </p:sp>
      <p:sp>
        <p:nvSpPr>
          <p:cNvPr id="146" name="Rectangle 145"/>
          <p:cNvSpPr/>
          <p:nvPr/>
        </p:nvSpPr>
        <p:spPr>
          <a:xfrm>
            <a:off x="3794760" y="5835700"/>
            <a:ext cx="34747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831336" y="5863132"/>
            <a:ext cx="3419856" cy="214884"/>
          </a:xfrm>
          <a:prstGeom prst="rect">
            <a:avLst/>
          </a:prstGeom>
          <a:noFill/>
        </p:spPr>
        <p:txBody>
          <a:bodyPr wrap="square">
            <a:spAutoFit/>
          </a:bodyPr>
          <a:lstStyle/>
          <a:p>
            <a:pPr algn="l"/>
            <a:r>
              <a:rPr sz="800" b="0" i="0">
                <a:solidFill>
                  <a:srgbClr val="0D2B55"/>
                </a:solidFill>
              </a:rPr>
              <a:t>ADMIN vs RUNNER routing</a:t>
            </a:r>
          </a:p>
        </p:txBody>
      </p:sp>
      <p:sp>
        <p:nvSpPr>
          <p:cNvPr id="148" name="Rectangle 147"/>
          <p:cNvSpPr/>
          <p:nvPr/>
        </p:nvSpPr>
        <p:spPr>
          <a:xfrm>
            <a:off x="7269480" y="5835700"/>
            <a:ext cx="4846320" cy="269748"/>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306056" y="5863132"/>
            <a:ext cx="4791456" cy="214884"/>
          </a:xfrm>
          <a:prstGeom prst="rect">
            <a:avLst/>
          </a:prstGeom>
          <a:noFill/>
        </p:spPr>
        <p:txBody>
          <a:bodyPr wrap="square">
            <a:spAutoFit/>
          </a:bodyPr>
          <a:lstStyle/>
          <a:p>
            <a:pPr algn="l"/>
            <a:r>
              <a:rPr sz="800" b="0" i="0">
                <a:solidFill>
                  <a:srgbClr val="0D2B55"/>
                </a:solidFill>
              </a:rPr>
              <a:t>currentUser.role</a:t>
            </a:r>
          </a:p>
        </p:txBody>
      </p:sp>
      <p:sp>
        <p:nvSpPr>
          <p:cNvPr id="150" name="Rectangle 149"/>
          <p:cNvSpPr/>
          <p:nvPr/>
        </p:nvSpPr>
        <p:spPr>
          <a:xfrm>
            <a:off x="228600" y="6111849"/>
            <a:ext cx="640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65176" y="6139281"/>
            <a:ext cx="585216" cy="214884"/>
          </a:xfrm>
          <a:prstGeom prst="rect">
            <a:avLst/>
          </a:prstGeom>
          <a:noFill/>
        </p:spPr>
        <p:txBody>
          <a:bodyPr wrap="square">
            <a:spAutoFit/>
          </a:bodyPr>
          <a:lstStyle/>
          <a:p>
            <a:pPr algn="l"/>
            <a:r>
              <a:rPr sz="800" b="0" i="0">
                <a:solidFill>
                  <a:srgbClr val="0D2B55"/>
                </a:solidFill>
              </a:rPr>
              <a:t>US20</a:t>
            </a:r>
          </a:p>
        </p:txBody>
      </p:sp>
      <p:sp>
        <p:nvSpPr>
          <p:cNvPr id="152" name="Rectangle 151"/>
          <p:cNvSpPr/>
          <p:nvPr/>
        </p:nvSpPr>
        <p:spPr>
          <a:xfrm>
            <a:off x="868680" y="6111849"/>
            <a:ext cx="292608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905256" y="6139281"/>
            <a:ext cx="2871216" cy="214884"/>
          </a:xfrm>
          <a:prstGeom prst="rect">
            <a:avLst/>
          </a:prstGeom>
          <a:noFill/>
        </p:spPr>
        <p:txBody>
          <a:bodyPr wrap="square">
            <a:spAutoFit/>
          </a:bodyPr>
          <a:lstStyle/>
          <a:p>
            <a:pPr algn="l"/>
            <a:r>
              <a:rPr sz="800" b="0" i="0">
                <a:solidFill>
                  <a:srgbClr val="0D2B55"/>
                </a:solidFill>
              </a:rPr>
              <a:t>AnalyticsMgr.*  adminExports()</a:t>
            </a:r>
          </a:p>
        </p:txBody>
      </p:sp>
      <p:sp>
        <p:nvSpPr>
          <p:cNvPr id="154" name="Rectangle 153"/>
          <p:cNvSpPr/>
          <p:nvPr/>
        </p:nvSpPr>
        <p:spPr>
          <a:xfrm>
            <a:off x="3794760" y="6111849"/>
            <a:ext cx="34747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31336" y="6139281"/>
            <a:ext cx="3419856" cy="214884"/>
          </a:xfrm>
          <a:prstGeom prst="rect">
            <a:avLst/>
          </a:prstGeom>
          <a:noFill/>
        </p:spPr>
        <p:txBody>
          <a:bodyPr wrap="square">
            <a:spAutoFit/>
          </a:bodyPr>
          <a:lstStyle/>
          <a:p>
            <a:pPr algn="l"/>
            <a:r>
              <a:rPr sz="800" b="0" i="0">
                <a:solidFill>
                  <a:srgbClr val="0D2B55"/>
                </a:solidFill>
              </a:rPr>
              <a:t>export all data types</a:t>
            </a:r>
          </a:p>
        </p:txBody>
      </p:sp>
      <p:sp>
        <p:nvSpPr>
          <p:cNvPr id="156" name="Rectangle 155"/>
          <p:cNvSpPr/>
          <p:nvPr/>
        </p:nvSpPr>
        <p:spPr>
          <a:xfrm>
            <a:off x="7269480" y="6111849"/>
            <a:ext cx="4846320" cy="269748"/>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306056" y="6139281"/>
            <a:ext cx="4791456" cy="214884"/>
          </a:xfrm>
          <a:prstGeom prst="rect">
            <a:avLst/>
          </a:prstGeom>
          <a:noFill/>
        </p:spPr>
        <p:txBody>
          <a:bodyPr wrap="square">
            <a:spAutoFit/>
          </a:bodyPr>
          <a:lstStyle/>
          <a:p>
            <a:pPr algn="l"/>
            <a:r>
              <a:rPr sz="800" b="0" i="0">
                <a:solidFill>
                  <a:srgbClr val="0D2B55"/>
                </a:solidFill>
              </a:rPr>
              <a:t>All collections → CSV files</a:t>
            </a:r>
          </a:p>
        </p:txBody>
      </p:sp>
      <p:sp>
        <p:nvSpPr>
          <p:cNvPr id="158" name="TextBox 15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Validation Flow</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Every validation rule — how errors are caught and reported</a:t>
            </a:r>
          </a:p>
        </p:txBody>
      </p:sp>
      <p:sp>
        <p:nvSpPr>
          <p:cNvPr id="6" name="Rectangle 5"/>
          <p:cNvSpPr/>
          <p:nvPr/>
        </p:nvSpPr>
        <p:spPr>
          <a:xfrm>
            <a:off x="228600" y="1188720"/>
            <a:ext cx="384048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1216152"/>
            <a:ext cx="3749040" cy="292608"/>
          </a:xfrm>
          <a:prstGeom prst="rect">
            <a:avLst/>
          </a:prstGeom>
          <a:noFill/>
        </p:spPr>
        <p:txBody>
          <a:bodyPr wrap="square">
            <a:spAutoFit/>
          </a:bodyPr>
          <a:lstStyle/>
          <a:p>
            <a:pPr algn="l"/>
            <a:r>
              <a:rPr sz="1050" b="1" i="0">
                <a:solidFill>
                  <a:srgbClr val="FFFFFF"/>
                </a:solidFill>
              </a:rPr>
              <a:t>👤  REGISTRATION VALIDATION</a:t>
            </a:r>
          </a:p>
        </p:txBody>
      </p:sp>
      <p:sp>
        <p:nvSpPr>
          <p:cNvPr id="8" name="Rectangle 7"/>
          <p:cNvSpPr/>
          <p:nvPr/>
        </p:nvSpPr>
        <p:spPr>
          <a:xfrm>
            <a:off x="228600" y="1572768"/>
            <a:ext cx="3840480" cy="457200"/>
          </a:xfrm>
          <a:prstGeom prst="rect">
            <a:avLst/>
          </a:prstGeom>
          <a:solidFill>
            <a:srgbClr val="FFFFFF"/>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645920"/>
            <a:ext cx="3703320" cy="347472"/>
          </a:xfrm>
          <a:prstGeom prst="rect">
            <a:avLst/>
          </a:prstGeom>
          <a:noFill/>
        </p:spPr>
        <p:txBody>
          <a:bodyPr wrap="square">
            <a:spAutoFit/>
          </a:bodyPr>
          <a:lstStyle/>
          <a:p>
            <a:pPr algn="l"/>
            <a:r>
              <a:rPr sz="900" b="0" i="0">
                <a:solidFill>
                  <a:srgbClr val="0D2B55"/>
                </a:solidFill>
              </a:rPr>
              <a:t>Username ≥3 chars  [a-zA-Z0-9_]+</a:t>
            </a:r>
          </a:p>
        </p:txBody>
      </p:sp>
      <p:sp>
        <p:nvSpPr>
          <p:cNvPr id="10" name="Rectangle 9"/>
          <p:cNvSpPr/>
          <p:nvPr/>
        </p:nvSpPr>
        <p:spPr>
          <a:xfrm>
            <a:off x="228600" y="2057400"/>
            <a:ext cx="3840480" cy="457200"/>
          </a:xfrm>
          <a:prstGeom prst="rect">
            <a:avLst/>
          </a:prstGeom>
          <a:solidFill>
            <a:srgbClr val="E8F0FE"/>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30552"/>
            <a:ext cx="3703320" cy="347472"/>
          </a:xfrm>
          <a:prstGeom prst="rect">
            <a:avLst/>
          </a:prstGeom>
          <a:noFill/>
        </p:spPr>
        <p:txBody>
          <a:bodyPr wrap="square">
            <a:spAutoFit/>
          </a:bodyPr>
          <a:lstStyle/>
          <a:p>
            <a:pPr algn="l"/>
            <a:r>
              <a:rPr sz="900" b="0" i="0">
                <a:solidFill>
                  <a:srgbClr val="0D2B55"/>
                </a:solidFill>
              </a:rPr>
              <a:t>Email: @gmail.com or @yahoo.com only</a:t>
            </a:r>
          </a:p>
        </p:txBody>
      </p:sp>
      <p:sp>
        <p:nvSpPr>
          <p:cNvPr id="12" name="Rectangle 11"/>
          <p:cNvSpPr/>
          <p:nvPr/>
        </p:nvSpPr>
        <p:spPr>
          <a:xfrm>
            <a:off x="228600" y="2542032"/>
            <a:ext cx="3840480" cy="457200"/>
          </a:xfrm>
          <a:prstGeom prst="rect">
            <a:avLst/>
          </a:prstGeom>
          <a:solidFill>
            <a:srgbClr val="FFFFFF"/>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615184"/>
            <a:ext cx="3703320" cy="347472"/>
          </a:xfrm>
          <a:prstGeom prst="rect">
            <a:avLst/>
          </a:prstGeom>
          <a:noFill/>
        </p:spPr>
        <p:txBody>
          <a:bodyPr wrap="square">
            <a:spAutoFit/>
          </a:bodyPr>
          <a:lstStyle/>
          <a:p>
            <a:pPr algn="l"/>
            <a:r>
              <a:rPr sz="900" b="0" i="0">
                <a:solidFill>
                  <a:srgbClr val="0D2B55"/>
                </a:solidFill>
              </a:rPr>
              <a:t>Email: must not exist in usedEmails HashSet</a:t>
            </a:r>
          </a:p>
        </p:txBody>
      </p:sp>
      <p:sp>
        <p:nvSpPr>
          <p:cNvPr id="14" name="Rectangle 13"/>
          <p:cNvSpPr/>
          <p:nvPr/>
        </p:nvSpPr>
        <p:spPr>
          <a:xfrm>
            <a:off x="228600" y="3026664"/>
            <a:ext cx="3840480" cy="457200"/>
          </a:xfrm>
          <a:prstGeom prst="rect">
            <a:avLst/>
          </a:prstGeom>
          <a:solidFill>
            <a:srgbClr val="E8F0FE"/>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3099816"/>
            <a:ext cx="3703320" cy="347472"/>
          </a:xfrm>
          <a:prstGeom prst="rect">
            <a:avLst/>
          </a:prstGeom>
          <a:noFill/>
        </p:spPr>
        <p:txBody>
          <a:bodyPr wrap="square">
            <a:spAutoFit/>
          </a:bodyPr>
          <a:lstStyle/>
          <a:p>
            <a:pPr algn="l"/>
            <a:r>
              <a:rPr sz="900" b="0" i="0">
                <a:solidFill>
                  <a:srgbClr val="0D2B55"/>
                </a:solidFill>
              </a:rPr>
              <a:t>Password: ≥12 chars + UPPER + DIGIT + SPECIAL</a:t>
            </a:r>
          </a:p>
        </p:txBody>
      </p:sp>
      <p:sp>
        <p:nvSpPr>
          <p:cNvPr id="16" name="Rectangle 15"/>
          <p:cNvSpPr/>
          <p:nvPr/>
        </p:nvSpPr>
        <p:spPr>
          <a:xfrm>
            <a:off x="228600" y="3511296"/>
            <a:ext cx="3840480" cy="457200"/>
          </a:xfrm>
          <a:prstGeom prst="rect">
            <a:avLst/>
          </a:prstGeom>
          <a:solidFill>
            <a:srgbClr val="FFFFFF"/>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584448"/>
            <a:ext cx="3703320" cy="347472"/>
          </a:xfrm>
          <a:prstGeom prst="rect">
            <a:avLst/>
          </a:prstGeom>
          <a:noFill/>
        </p:spPr>
        <p:txBody>
          <a:bodyPr wrap="square">
            <a:spAutoFit/>
          </a:bodyPr>
          <a:lstStyle/>
          <a:p>
            <a:pPr algn="l"/>
            <a:r>
              <a:rPr sz="900" b="0" i="0">
                <a:solidFill>
                  <a:srgbClr val="0D2B55"/>
                </a:solidFill>
              </a:rPr>
              <a:t>Age: between 18 and 40</a:t>
            </a:r>
          </a:p>
        </p:txBody>
      </p:sp>
      <p:sp>
        <p:nvSpPr>
          <p:cNvPr id="18" name="Rectangle 17"/>
          <p:cNvSpPr/>
          <p:nvPr/>
        </p:nvSpPr>
        <p:spPr>
          <a:xfrm>
            <a:off x="228600" y="3995928"/>
            <a:ext cx="3840480" cy="457200"/>
          </a:xfrm>
          <a:prstGeom prst="rect">
            <a:avLst/>
          </a:prstGeom>
          <a:solidFill>
            <a:srgbClr val="E8F0FE"/>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4069080"/>
            <a:ext cx="3703320" cy="347472"/>
          </a:xfrm>
          <a:prstGeom prst="rect">
            <a:avLst/>
          </a:prstGeom>
          <a:noFill/>
        </p:spPr>
        <p:txBody>
          <a:bodyPr wrap="square">
            <a:spAutoFit/>
          </a:bodyPr>
          <a:lstStyle/>
          <a:p>
            <a:pPr algn="l"/>
            <a:r>
              <a:rPr sz="900" b="0" i="0">
                <a:solidFill>
                  <a:srgbClr val="0D2B55"/>
                </a:solidFill>
              </a:rPr>
              <a:t>Phone: exactly 10 digits  \d{10}</a:t>
            </a:r>
          </a:p>
        </p:txBody>
      </p:sp>
      <p:sp>
        <p:nvSpPr>
          <p:cNvPr id="20" name="Rectangle 19"/>
          <p:cNvSpPr/>
          <p:nvPr/>
        </p:nvSpPr>
        <p:spPr>
          <a:xfrm>
            <a:off x="228600" y="4480560"/>
            <a:ext cx="3840480" cy="457200"/>
          </a:xfrm>
          <a:prstGeom prst="rect">
            <a:avLst/>
          </a:prstGeom>
          <a:solidFill>
            <a:srgbClr val="FFFFFF"/>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4553712"/>
            <a:ext cx="3703320" cy="347472"/>
          </a:xfrm>
          <a:prstGeom prst="rect">
            <a:avLst/>
          </a:prstGeom>
          <a:noFill/>
        </p:spPr>
        <p:txBody>
          <a:bodyPr wrap="square">
            <a:spAutoFit/>
          </a:bodyPr>
          <a:lstStyle/>
          <a:p>
            <a:pPr algn="l"/>
            <a:r>
              <a:rPr sz="900" b="0" i="0">
                <a:solidFill>
                  <a:srgbClr val="0D2B55"/>
                </a:solidFill>
              </a:rPr>
              <a:t>→  throw Exception(message) if any fails</a:t>
            </a:r>
          </a:p>
        </p:txBody>
      </p:sp>
      <p:sp>
        <p:nvSpPr>
          <p:cNvPr id="22" name="Rectangle 21"/>
          <p:cNvSpPr/>
          <p:nvPr/>
        </p:nvSpPr>
        <p:spPr>
          <a:xfrm>
            <a:off x="228600" y="4965192"/>
            <a:ext cx="3840480" cy="457200"/>
          </a:xfrm>
          <a:prstGeom prst="rect">
            <a:avLst/>
          </a:prstGeom>
          <a:solidFill>
            <a:srgbClr val="E8F0FE"/>
          </a:solidFill>
          <a:ln w="63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5038344"/>
            <a:ext cx="3703320" cy="347472"/>
          </a:xfrm>
          <a:prstGeom prst="rect">
            <a:avLst/>
          </a:prstGeom>
          <a:noFill/>
        </p:spPr>
        <p:txBody>
          <a:bodyPr wrap="square">
            <a:spAutoFit/>
          </a:bodyPr>
          <a:lstStyle/>
          <a:p>
            <a:pPr algn="l"/>
            <a:r>
              <a:rPr sz="900" b="0" i="0">
                <a:solidFill>
                  <a:srgbClr val="0D2B55"/>
                </a:solidFill>
              </a:rPr>
              <a:t>→  ok() on success + PENDING status</a:t>
            </a:r>
          </a:p>
        </p:txBody>
      </p:sp>
      <p:sp>
        <p:nvSpPr>
          <p:cNvPr id="24" name="Rectangle 23"/>
          <p:cNvSpPr/>
          <p:nvPr/>
        </p:nvSpPr>
        <p:spPr>
          <a:xfrm>
            <a:off x="4206240" y="1188720"/>
            <a:ext cx="3840480" cy="347472"/>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79392" y="1216152"/>
            <a:ext cx="3749040" cy="292608"/>
          </a:xfrm>
          <a:prstGeom prst="rect">
            <a:avLst/>
          </a:prstGeom>
          <a:noFill/>
        </p:spPr>
        <p:txBody>
          <a:bodyPr wrap="square">
            <a:spAutoFit/>
          </a:bodyPr>
          <a:lstStyle/>
          <a:p>
            <a:pPr algn="l"/>
            <a:r>
              <a:rPr sz="1050" b="1" i="0">
                <a:solidFill>
                  <a:srgbClr val="FFFFFF"/>
                </a:solidFill>
              </a:rPr>
              <a:t>🏁  RACE &amp; REGISTRATION VALIDATION</a:t>
            </a:r>
          </a:p>
        </p:txBody>
      </p:sp>
      <p:sp>
        <p:nvSpPr>
          <p:cNvPr id="26" name="Rectangle 25"/>
          <p:cNvSpPr/>
          <p:nvPr/>
        </p:nvSpPr>
        <p:spPr>
          <a:xfrm>
            <a:off x="4206240" y="1572768"/>
            <a:ext cx="3840480" cy="457200"/>
          </a:xfrm>
          <a:prstGeom prst="rect">
            <a:avLst/>
          </a:prstGeom>
          <a:solidFill>
            <a:srgbClr val="FFFFFF"/>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1645920"/>
            <a:ext cx="3703320" cy="347472"/>
          </a:xfrm>
          <a:prstGeom prst="rect">
            <a:avLst/>
          </a:prstGeom>
          <a:noFill/>
        </p:spPr>
        <p:txBody>
          <a:bodyPr wrap="square">
            <a:spAutoFit/>
          </a:bodyPr>
          <a:lstStyle/>
          <a:p>
            <a:pPr algn="l"/>
            <a:r>
              <a:rPr sz="900" b="0" i="0">
                <a:solidFill>
                  <a:srgbClr val="0D2B55"/>
                </a:solidFill>
              </a:rPr>
              <a:t>Race date: ≥7 days in future (ChronoUnit.DAYS)</a:t>
            </a:r>
          </a:p>
        </p:txBody>
      </p:sp>
      <p:sp>
        <p:nvSpPr>
          <p:cNvPr id="28" name="Rectangle 27"/>
          <p:cNvSpPr/>
          <p:nvPr/>
        </p:nvSpPr>
        <p:spPr>
          <a:xfrm>
            <a:off x="4206240" y="2057400"/>
            <a:ext cx="3840480" cy="457200"/>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130552"/>
            <a:ext cx="3703320" cy="347472"/>
          </a:xfrm>
          <a:prstGeom prst="rect">
            <a:avLst/>
          </a:prstGeom>
          <a:noFill/>
        </p:spPr>
        <p:txBody>
          <a:bodyPr wrap="square">
            <a:spAutoFit/>
          </a:bodyPr>
          <a:lstStyle/>
          <a:p>
            <a:pPr algn="l"/>
            <a:r>
              <a:rPr sz="900" b="0" i="0">
                <a:solidFill>
                  <a:srgbClr val="0D2B55"/>
                </a:solidFill>
              </a:rPr>
              <a:t>Race name: unique per year (loop + equalsIgnoreCase)</a:t>
            </a:r>
          </a:p>
        </p:txBody>
      </p:sp>
      <p:sp>
        <p:nvSpPr>
          <p:cNvPr id="30" name="Rectangle 29"/>
          <p:cNvSpPr/>
          <p:nvPr/>
        </p:nvSpPr>
        <p:spPr>
          <a:xfrm>
            <a:off x="4206240" y="2542032"/>
            <a:ext cx="3840480" cy="457200"/>
          </a:xfrm>
          <a:prstGeom prst="rect">
            <a:avLst/>
          </a:prstGeom>
          <a:solidFill>
            <a:srgbClr val="FFFFFF"/>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7680" y="2615184"/>
            <a:ext cx="3703320" cy="347472"/>
          </a:xfrm>
          <a:prstGeom prst="rect">
            <a:avLst/>
          </a:prstGeom>
          <a:noFill/>
        </p:spPr>
        <p:txBody>
          <a:bodyPr wrap="square">
            <a:spAutoFit/>
          </a:bodyPr>
          <a:lstStyle/>
          <a:p>
            <a:pPr algn="l"/>
            <a:r>
              <a:rPr sz="900" b="0" i="0">
                <a:solidFill>
                  <a:srgbClr val="0D2B55"/>
                </a:solidFill>
              </a:rPr>
              <a:t>Race capacity: ≥10 participants</a:t>
            </a:r>
          </a:p>
        </p:txBody>
      </p:sp>
      <p:sp>
        <p:nvSpPr>
          <p:cNvPr id="32" name="Rectangle 31"/>
          <p:cNvSpPr/>
          <p:nvPr/>
        </p:nvSpPr>
        <p:spPr>
          <a:xfrm>
            <a:off x="4206240" y="3026664"/>
            <a:ext cx="3840480" cy="457200"/>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3099816"/>
            <a:ext cx="3703320" cy="347472"/>
          </a:xfrm>
          <a:prstGeom prst="rect">
            <a:avLst/>
          </a:prstGeom>
          <a:noFill/>
        </p:spPr>
        <p:txBody>
          <a:bodyPr wrap="square">
            <a:spAutoFit/>
          </a:bodyPr>
          <a:lstStyle/>
          <a:p>
            <a:pPr algn="l"/>
            <a:r>
              <a:rPr sz="900" b="0" i="0">
                <a:solidFill>
                  <a:srgbClr val="0D2B55"/>
                </a:solidFill>
              </a:rPr>
              <a:t>Race edit: blocked if &lt;24h to start</a:t>
            </a:r>
          </a:p>
        </p:txBody>
      </p:sp>
      <p:sp>
        <p:nvSpPr>
          <p:cNvPr id="34" name="Rectangle 33"/>
          <p:cNvSpPr/>
          <p:nvPr/>
        </p:nvSpPr>
        <p:spPr>
          <a:xfrm>
            <a:off x="4206240" y="3511296"/>
            <a:ext cx="3840480" cy="457200"/>
          </a:xfrm>
          <a:prstGeom prst="rect">
            <a:avLst/>
          </a:prstGeom>
          <a:solidFill>
            <a:srgbClr val="FFFFFF"/>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0" y="3584448"/>
            <a:ext cx="3703320" cy="347472"/>
          </a:xfrm>
          <a:prstGeom prst="rect">
            <a:avLst/>
          </a:prstGeom>
          <a:noFill/>
        </p:spPr>
        <p:txBody>
          <a:bodyPr wrap="square">
            <a:spAutoFit/>
          </a:bodyPr>
          <a:lstStyle/>
          <a:p>
            <a:pPr algn="l"/>
            <a:r>
              <a:rPr sz="900" b="0" i="0">
                <a:solidFill>
                  <a:srgbClr val="0D2B55"/>
                </a:solidFill>
              </a:rPr>
              <a:t>Registration: race must be ACTIVE</a:t>
            </a:r>
          </a:p>
        </p:txBody>
      </p:sp>
      <p:sp>
        <p:nvSpPr>
          <p:cNvPr id="36" name="Rectangle 35"/>
          <p:cNvSpPr/>
          <p:nvPr/>
        </p:nvSpPr>
        <p:spPr>
          <a:xfrm>
            <a:off x="4206240" y="3995928"/>
            <a:ext cx="3840480" cy="457200"/>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7680" y="4069080"/>
            <a:ext cx="3703320" cy="347472"/>
          </a:xfrm>
          <a:prstGeom prst="rect">
            <a:avLst/>
          </a:prstGeom>
          <a:noFill/>
        </p:spPr>
        <p:txBody>
          <a:bodyPr wrap="square">
            <a:spAutoFit/>
          </a:bodyPr>
          <a:lstStyle/>
          <a:p>
            <a:pPr algn="l"/>
            <a:r>
              <a:rPr sz="900" b="0" i="0">
                <a:solidFill>
                  <a:srgbClr val="0D2B55"/>
                </a:solidFill>
              </a:rPr>
              <a:t>Registration: must be open (≥48h, isRegistrationOpen())</a:t>
            </a:r>
          </a:p>
        </p:txBody>
      </p:sp>
      <p:sp>
        <p:nvSpPr>
          <p:cNvPr id="38" name="Rectangle 37"/>
          <p:cNvSpPr/>
          <p:nvPr/>
        </p:nvSpPr>
        <p:spPr>
          <a:xfrm>
            <a:off x="4206240" y="4480560"/>
            <a:ext cx="3840480" cy="457200"/>
          </a:xfrm>
          <a:prstGeom prst="rect">
            <a:avLst/>
          </a:prstGeom>
          <a:solidFill>
            <a:srgbClr val="FFFFFF"/>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4553712"/>
            <a:ext cx="3703320" cy="347472"/>
          </a:xfrm>
          <a:prstGeom prst="rect">
            <a:avLst/>
          </a:prstGeom>
          <a:noFill/>
        </p:spPr>
        <p:txBody>
          <a:bodyPr wrap="square">
            <a:spAutoFit/>
          </a:bodyPr>
          <a:lstStyle/>
          <a:p>
            <a:pPr algn="l"/>
            <a:r>
              <a:rPr sz="900" b="0" i="0">
                <a:solidFill>
                  <a:srgbClr val="0D2B55"/>
                </a:solidFill>
              </a:rPr>
              <a:t>Registration: race not full (isFull())</a:t>
            </a:r>
          </a:p>
        </p:txBody>
      </p:sp>
      <p:sp>
        <p:nvSpPr>
          <p:cNvPr id="40" name="Rectangle 39"/>
          <p:cNvSpPr/>
          <p:nvPr/>
        </p:nvSpPr>
        <p:spPr>
          <a:xfrm>
            <a:off x="4206240" y="4965192"/>
            <a:ext cx="3840480" cy="457200"/>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7680" y="5038344"/>
            <a:ext cx="3703320" cy="347472"/>
          </a:xfrm>
          <a:prstGeom prst="rect">
            <a:avLst/>
          </a:prstGeom>
          <a:noFill/>
        </p:spPr>
        <p:txBody>
          <a:bodyPr wrap="square">
            <a:spAutoFit/>
          </a:bodyPr>
          <a:lstStyle/>
          <a:p>
            <a:pPr algn="l"/>
            <a:r>
              <a:rPr sz="900" b="0" i="0">
                <a:solidFill>
                  <a:srgbClr val="0D2B55"/>
                </a:solidFill>
              </a:rPr>
              <a:t>Registration: no double-booking same date</a:t>
            </a:r>
          </a:p>
        </p:txBody>
      </p:sp>
      <p:sp>
        <p:nvSpPr>
          <p:cNvPr id="42" name="Rectangle 41"/>
          <p:cNvSpPr/>
          <p:nvPr/>
        </p:nvSpPr>
        <p:spPr>
          <a:xfrm>
            <a:off x="4206240" y="5449824"/>
            <a:ext cx="3840480" cy="457200"/>
          </a:xfrm>
          <a:prstGeom prst="rect">
            <a:avLst/>
          </a:prstGeom>
          <a:solidFill>
            <a:srgbClr val="FFFFFF"/>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7680" y="5522976"/>
            <a:ext cx="3703320" cy="347472"/>
          </a:xfrm>
          <a:prstGeom prst="rect">
            <a:avLst/>
          </a:prstGeom>
          <a:noFill/>
        </p:spPr>
        <p:txBody>
          <a:bodyPr wrap="square">
            <a:spAutoFit/>
          </a:bodyPr>
          <a:lstStyle/>
          <a:p>
            <a:pPr algn="l"/>
            <a:r>
              <a:rPr sz="900" b="0" i="0">
                <a:solidFill>
                  <a:srgbClr val="0D2B55"/>
                </a:solidFill>
              </a:rPr>
              <a:t>Registration: ≥5 training logs in 30 days</a:t>
            </a:r>
          </a:p>
        </p:txBody>
      </p:sp>
      <p:sp>
        <p:nvSpPr>
          <p:cNvPr id="44" name="Rectangle 43"/>
          <p:cNvSpPr/>
          <p:nvPr/>
        </p:nvSpPr>
        <p:spPr>
          <a:xfrm>
            <a:off x="4206240" y="5934456"/>
            <a:ext cx="3840480" cy="457200"/>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7680" y="6007608"/>
            <a:ext cx="3703320" cy="347472"/>
          </a:xfrm>
          <a:prstGeom prst="rect">
            <a:avLst/>
          </a:prstGeom>
          <a:noFill/>
        </p:spPr>
        <p:txBody>
          <a:bodyPr wrap="square">
            <a:spAutoFit/>
          </a:bodyPr>
          <a:lstStyle/>
          <a:p>
            <a:pPr algn="l"/>
            <a:r>
              <a:rPr sz="900" b="0" i="0">
                <a:solidFill>
                  <a:srgbClr val="0D2B55"/>
                </a:solidFill>
              </a:rPr>
              <a:t>Late penalty: −50 pts if within 7 days</a:t>
            </a:r>
          </a:p>
        </p:txBody>
      </p:sp>
      <p:sp>
        <p:nvSpPr>
          <p:cNvPr id="46" name="Rectangle 45"/>
          <p:cNvSpPr/>
          <p:nvPr/>
        </p:nvSpPr>
        <p:spPr>
          <a:xfrm>
            <a:off x="8183879" y="1188720"/>
            <a:ext cx="3840480" cy="347472"/>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216152"/>
            <a:ext cx="3749040" cy="292608"/>
          </a:xfrm>
          <a:prstGeom prst="rect">
            <a:avLst/>
          </a:prstGeom>
          <a:noFill/>
        </p:spPr>
        <p:txBody>
          <a:bodyPr wrap="square">
            <a:spAutoFit/>
          </a:bodyPr>
          <a:lstStyle/>
          <a:p>
            <a:pPr algn="l"/>
            <a:r>
              <a:rPr sz="1050" b="1" i="0">
                <a:solidFill>
                  <a:srgbClr val="FFFFFF"/>
                </a:solidFill>
              </a:rPr>
              <a:t>📝  TRAINING &amp; FORUM VALIDATION</a:t>
            </a:r>
          </a:p>
        </p:txBody>
      </p:sp>
      <p:sp>
        <p:nvSpPr>
          <p:cNvPr id="48" name="Rectangle 47"/>
          <p:cNvSpPr/>
          <p:nvPr/>
        </p:nvSpPr>
        <p:spPr>
          <a:xfrm>
            <a:off x="8183879" y="1572768"/>
            <a:ext cx="3840480" cy="457200"/>
          </a:xfrm>
          <a:prstGeom prst="rect">
            <a:avLst/>
          </a:prstGeom>
          <a:solidFill>
            <a:srgbClr val="FFFFFF"/>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75319" y="1645920"/>
            <a:ext cx="3703320" cy="347472"/>
          </a:xfrm>
          <a:prstGeom prst="rect">
            <a:avLst/>
          </a:prstGeom>
          <a:noFill/>
        </p:spPr>
        <p:txBody>
          <a:bodyPr wrap="square">
            <a:spAutoFit/>
          </a:bodyPr>
          <a:lstStyle/>
          <a:p>
            <a:pPr algn="l"/>
            <a:r>
              <a:rPr sz="900" b="0" i="0">
                <a:solidFill>
                  <a:srgbClr val="0D2B55"/>
                </a:solidFill>
              </a:rPr>
              <a:t>Training: no future dates</a:t>
            </a:r>
          </a:p>
        </p:txBody>
      </p:sp>
      <p:sp>
        <p:nvSpPr>
          <p:cNvPr id="50" name="Rectangle 49"/>
          <p:cNvSpPr/>
          <p:nvPr/>
        </p:nvSpPr>
        <p:spPr>
          <a:xfrm>
            <a:off x="8183879" y="2057400"/>
            <a:ext cx="3840480" cy="457200"/>
          </a:xfrm>
          <a:prstGeom prst="rect">
            <a:avLst/>
          </a:prstGeom>
          <a:solidFill>
            <a:srgbClr val="E8F0FE"/>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75319" y="2130552"/>
            <a:ext cx="3703320" cy="347472"/>
          </a:xfrm>
          <a:prstGeom prst="rect">
            <a:avLst/>
          </a:prstGeom>
          <a:noFill/>
        </p:spPr>
        <p:txBody>
          <a:bodyPr wrap="square">
            <a:spAutoFit/>
          </a:bodyPr>
          <a:lstStyle/>
          <a:p>
            <a:pPr algn="l"/>
            <a:r>
              <a:rPr sz="900" b="0" i="0">
                <a:solidFill>
                  <a:srgbClr val="0D2B55"/>
                </a:solidFill>
              </a:rPr>
              <a:t>Training: distance 1.0 – 100.0 km</a:t>
            </a:r>
          </a:p>
        </p:txBody>
      </p:sp>
      <p:sp>
        <p:nvSpPr>
          <p:cNvPr id="52" name="Rectangle 51"/>
          <p:cNvSpPr/>
          <p:nvPr/>
        </p:nvSpPr>
        <p:spPr>
          <a:xfrm>
            <a:off x="8183879" y="2542032"/>
            <a:ext cx="3840480" cy="457200"/>
          </a:xfrm>
          <a:prstGeom prst="rect">
            <a:avLst/>
          </a:prstGeom>
          <a:solidFill>
            <a:srgbClr val="FFFFFF"/>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75319" y="2615184"/>
            <a:ext cx="3703320" cy="347472"/>
          </a:xfrm>
          <a:prstGeom prst="rect">
            <a:avLst/>
          </a:prstGeom>
          <a:noFill/>
        </p:spPr>
        <p:txBody>
          <a:bodyPr wrap="square">
            <a:spAutoFit/>
          </a:bodyPr>
          <a:lstStyle/>
          <a:p>
            <a:pPr algn="l"/>
            <a:r>
              <a:rPr sz="900" b="0" i="0">
                <a:solidFill>
                  <a:srgbClr val="0D2B55"/>
                </a:solidFill>
              </a:rPr>
              <a:t>Training: pace 3.0 – 10.0 min/km</a:t>
            </a:r>
          </a:p>
        </p:txBody>
      </p:sp>
      <p:sp>
        <p:nvSpPr>
          <p:cNvPr id="54" name="Rectangle 53"/>
          <p:cNvSpPr/>
          <p:nvPr/>
        </p:nvSpPr>
        <p:spPr>
          <a:xfrm>
            <a:off x="8183879" y="3026664"/>
            <a:ext cx="3840480" cy="457200"/>
          </a:xfrm>
          <a:prstGeom prst="rect">
            <a:avLst/>
          </a:prstGeom>
          <a:solidFill>
            <a:srgbClr val="E8F0FE"/>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75319" y="3099816"/>
            <a:ext cx="3703320" cy="347472"/>
          </a:xfrm>
          <a:prstGeom prst="rect">
            <a:avLst/>
          </a:prstGeom>
          <a:noFill/>
        </p:spPr>
        <p:txBody>
          <a:bodyPr wrap="square">
            <a:spAutoFit/>
          </a:bodyPr>
          <a:lstStyle/>
          <a:p>
            <a:pPr algn="l"/>
            <a:r>
              <a:rPr sz="900" b="0" i="0">
                <a:solidFill>
                  <a:srgbClr val="0D2B55"/>
                </a:solidFill>
              </a:rPr>
              <a:t>Training: no duplicate (same date + distance)</a:t>
            </a:r>
          </a:p>
        </p:txBody>
      </p:sp>
      <p:sp>
        <p:nvSpPr>
          <p:cNvPr id="56" name="Rectangle 55"/>
          <p:cNvSpPr/>
          <p:nvPr/>
        </p:nvSpPr>
        <p:spPr>
          <a:xfrm>
            <a:off x="8183879" y="3511296"/>
            <a:ext cx="3840480" cy="457200"/>
          </a:xfrm>
          <a:prstGeom prst="rect">
            <a:avLst/>
          </a:prstGeom>
          <a:solidFill>
            <a:srgbClr val="FFFFFF"/>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75319" y="3584448"/>
            <a:ext cx="3703320" cy="347472"/>
          </a:xfrm>
          <a:prstGeom prst="rect">
            <a:avLst/>
          </a:prstGeom>
          <a:noFill/>
        </p:spPr>
        <p:txBody>
          <a:bodyPr wrap="square">
            <a:spAutoFit/>
          </a:bodyPr>
          <a:lstStyle/>
          <a:p>
            <a:pPr algn="l"/>
            <a:r>
              <a:rPr sz="900" b="0" i="0">
                <a:solidFill>
                  <a:srgbClr val="0D2B55"/>
                </a:solidFill>
              </a:rPr>
              <a:t>Training: edit blocked if log &gt;6 months old</a:t>
            </a:r>
          </a:p>
        </p:txBody>
      </p:sp>
      <p:sp>
        <p:nvSpPr>
          <p:cNvPr id="58" name="Rectangle 57"/>
          <p:cNvSpPr/>
          <p:nvPr/>
        </p:nvSpPr>
        <p:spPr>
          <a:xfrm>
            <a:off x="8183879" y="3995928"/>
            <a:ext cx="3840480" cy="457200"/>
          </a:xfrm>
          <a:prstGeom prst="rect">
            <a:avLst/>
          </a:prstGeom>
          <a:solidFill>
            <a:srgbClr val="E8F0FE"/>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75319" y="4069080"/>
            <a:ext cx="3703320" cy="347472"/>
          </a:xfrm>
          <a:prstGeom prst="rect">
            <a:avLst/>
          </a:prstGeom>
          <a:noFill/>
        </p:spPr>
        <p:txBody>
          <a:bodyPr wrap="square">
            <a:spAutoFit/>
          </a:bodyPr>
          <a:lstStyle/>
          <a:p>
            <a:pPr algn="l"/>
            <a:r>
              <a:rPr sz="900" b="0" i="0">
                <a:solidFill>
                  <a:srgbClr val="0D2B55"/>
                </a:solidFill>
              </a:rPr>
              <a:t>Training: auto-flag if distance ≥10× average</a:t>
            </a:r>
          </a:p>
        </p:txBody>
      </p:sp>
      <p:sp>
        <p:nvSpPr>
          <p:cNvPr id="60" name="Rectangle 59"/>
          <p:cNvSpPr/>
          <p:nvPr/>
        </p:nvSpPr>
        <p:spPr>
          <a:xfrm>
            <a:off x="8183879" y="4480560"/>
            <a:ext cx="3840480" cy="457200"/>
          </a:xfrm>
          <a:prstGeom prst="rect">
            <a:avLst/>
          </a:prstGeom>
          <a:solidFill>
            <a:srgbClr val="FFFFFF"/>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75319" y="4553712"/>
            <a:ext cx="3703320" cy="347472"/>
          </a:xfrm>
          <a:prstGeom prst="rect">
            <a:avLst/>
          </a:prstGeom>
          <a:noFill/>
        </p:spPr>
        <p:txBody>
          <a:bodyPr wrap="square">
            <a:spAutoFit/>
          </a:bodyPr>
          <a:lstStyle/>
          <a:p>
            <a:pPr algn="l"/>
            <a:r>
              <a:rPr sz="900" b="0" i="0">
                <a:solidFill>
                  <a:srgbClr val="0D2B55"/>
                </a:solidFill>
              </a:rPr>
              <a:t>Forum: not banned (forumBanned == false)</a:t>
            </a:r>
          </a:p>
        </p:txBody>
      </p:sp>
      <p:sp>
        <p:nvSpPr>
          <p:cNvPr id="62" name="Rectangle 61"/>
          <p:cNvSpPr/>
          <p:nvPr/>
        </p:nvSpPr>
        <p:spPr>
          <a:xfrm>
            <a:off x="8183879" y="4965192"/>
            <a:ext cx="3840480" cy="457200"/>
          </a:xfrm>
          <a:prstGeom prst="rect">
            <a:avLst/>
          </a:prstGeom>
          <a:solidFill>
            <a:srgbClr val="E8F0FE"/>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75319" y="5038344"/>
            <a:ext cx="3703320" cy="347472"/>
          </a:xfrm>
          <a:prstGeom prst="rect">
            <a:avLst/>
          </a:prstGeom>
          <a:noFill/>
        </p:spPr>
        <p:txBody>
          <a:bodyPr wrap="square">
            <a:spAutoFit/>
          </a:bodyPr>
          <a:lstStyle/>
          <a:p>
            <a:pPr algn="l"/>
            <a:r>
              <a:rPr sz="900" b="0" i="0">
                <a:solidFill>
                  <a:srgbClr val="0D2B55"/>
                </a:solidFill>
              </a:rPr>
              <a:t>Forum: title ≥5 chars, content ≥10 chars</a:t>
            </a:r>
          </a:p>
        </p:txBody>
      </p:sp>
      <p:sp>
        <p:nvSpPr>
          <p:cNvPr id="64" name="Rectangle 63"/>
          <p:cNvSpPr/>
          <p:nvPr/>
        </p:nvSpPr>
        <p:spPr>
          <a:xfrm>
            <a:off x="8183879" y="5449824"/>
            <a:ext cx="3840480" cy="457200"/>
          </a:xfrm>
          <a:prstGeom prst="rect">
            <a:avLst/>
          </a:prstGeom>
          <a:solidFill>
            <a:srgbClr val="FFFFFF"/>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75319" y="5522976"/>
            <a:ext cx="3703320" cy="347472"/>
          </a:xfrm>
          <a:prstGeom prst="rect">
            <a:avLst/>
          </a:prstGeom>
          <a:noFill/>
        </p:spPr>
        <p:txBody>
          <a:bodyPr wrap="square">
            <a:spAutoFit/>
          </a:bodyPr>
          <a:lstStyle/>
          <a:p>
            <a:pPr algn="l"/>
            <a:r>
              <a:rPr sz="900" b="0" i="0">
                <a:solidFill>
                  <a:srgbClr val="0D2B55"/>
                </a:solidFill>
              </a:rPr>
              <a:t>Forum: BLACKLIST word scan → FLAGGED</a:t>
            </a:r>
          </a:p>
        </p:txBody>
      </p:sp>
      <p:sp>
        <p:nvSpPr>
          <p:cNvPr id="66" name="Rectangle 65"/>
          <p:cNvSpPr/>
          <p:nvPr/>
        </p:nvSpPr>
        <p:spPr>
          <a:xfrm>
            <a:off x="8183879" y="5934456"/>
            <a:ext cx="3840480" cy="457200"/>
          </a:xfrm>
          <a:prstGeom prst="rect">
            <a:avLst/>
          </a:prstGeom>
          <a:solidFill>
            <a:srgbClr val="E8F0FE"/>
          </a:solidFill>
          <a:ln w="6350">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75319" y="6007608"/>
            <a:ext cx="3703320" cy="347472"/>
          </a:xfrm>
          <a:prstGeom prst="rect">
            <a:avLst/>
          </a:prstGeom>
          <a:noFill/>
        </p:spPr>
        <p:txBody>
          <a:bodyPr wrap="square">
            <a:spAutoFit/>
          </a:bodyPr>
          <a:lstStyle/>
          <a:p>
            <a:pPr algn="l"/>
            <a:r>
              <a:rPr sz="900" b="0" i="0">
                <a:solidFill>
                  <a:srgbClr val="0D2B55"/>
                </a:solidFill>
              </a:rPr>
              <a:t>Forum: 3 flagged posts → forumBanned = true</a:t>
            </a:r>
          </a:p>
        </p:txBody>
      </p:sp>
      <p:sp>
        <p:nvSpPr>
          <p:cNvPr id="68" name="TextBox 6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Java Collections Used</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Why each collection was chosen</a:t>
            </a:r>
          </a:p>
        </p:txBody>
      </p:sp>
      <p:sp>
        <p:nvSpPr>
          <p:cNvPr id="6" name="Rectangle 5"/>
          <p:cNvSpPr/>
          <p:nvPr/>
        </p:nvSpPr>
        <p:spPr>
          <a:xfrm>
            <a:off x="228600" y="1234440"/>
            <a:ext cx="2743200" cy="4114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1289304"/>
            <a:ext cx="2633472" cy="292608"/>
          </a:xfrm>
          <a:prstGeom prst="rect">
            <a:avLst/>
          </a:prstGeom>
          <a:noFill/>
        </p:spPr>
        <p:txBody>
          <a:bodyPr wrap="square">
            <a:spAutoFit/>
          </a:bodyPr>
          <a:lstStyle/>
          <a:p>
            <a:pPr algn="l"/>
            <a:r>
              <a:rPr sz="1000" b="1" i="0">
                <a:solidFill>
                  <a:srgbClr val="FFFFFF"/>
                </a:solidFill>
              </a:rPr>
              <a:t>ArrayList&lt;User&gt;</a:t>
            </a:r>
          </a:p>
        </p:txBody>
      </p:sp>
      <p:sp>
        <p:nvSpPr>
          <p:cNvPr id="8" name="Rectangle 7"/>
          <p:cNvSpPr/>
          <p:nvPr/>
        </p:nvSpPr>
        <p:spPr>
          <a:xfrm>
            <a:off x="228600" y="1645920"/>
            <a:ext cx="2743200" cy="1920240"/>
          </a:xfrm>
          <a:prstGeom prst="rect">
            <a:avLst/>
          </a:prstGeom>
          <a:solidFill>
            <a:srgbClr val="FFFFF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 y="1673352"/>
            <a:ext cx="2633472" cy="228600"/>
          </a:xfrm>
          <a:prstGeom prst="rect">
            <a:avLst/>
          </a:prstGeom>
          <a:noFill/>
        </p:spPr>
        <p:txBody>
          <a:bodyPr wrap="square">
            <a:spAutoFit/>
          </a:bodyPr>
          <a:lstStyle/>
          <a:p>
            <a:pPr algn="l"/>
            <a:r>
              <a:rPr sz="850" b="1" i="1">
                <a:solidFill>
                  <a:srgbClr val="9E9E9E"/>
                </a:solidFill>
              </a:rPr>
              <a:t>var: users</a:t>
            </a:r>
          </a:p>
        </p:txBody>
      </p:sp>
      <p:sp>
        <p:nvSpPr>
          <p:cNvPr id="10" name="TextBox 9"/>
          <p:cNvSpPr txBox="1"/>
          <p:nvPr/>
        </p:nvSpPr>
        <p:spPr>
          <a:xfrm>
            <a:off x="301752" y="1892808"/>
            <a:ext cx="2633472" cy="1600200"/>
          </a:xfrm>
          <a:prstGeom prst="rect">
            <a:avLst/>
          </a:prstGeom>
          <a:noFill/>
        </p:spPr>
        <p:txBody>
          <a:bodyPr wrap="square">
            <a:spAutoFit/>
          </a:bodyPr>
          <a:lstStyle/>
          <a:p>
            <a:pPr algn="l"/>
            <a:r>
              <a:rPr sz="950" b="0" i="0">
                <a:solidFill>
                  <a:srgbClr val="0D2B55"/>
                </a:solidFill>
              </a:rPr>
              <a:t>• Ordered list of all accounts
• Iterable for admin user list
• Add: O(1) amortised
• Search: O(n) loop</a:t>
            </a:r>
          </a:p>
        </p:txBody>
      </p:sp>
      <p:sp>
        <p:nvSpPr>
          <p:cNvPr id="11" name="Rectangle 10"/>
          <p:cNvSpPr/>
          <p:nvPr/>
        </p:nvSpPr>
        <p:spPr>
          <a:xfrm>
            <a:off x="3200400" y="1234440"/>
            <a:ext cx="2743200" cy="411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73552" y="1289304"/>
            <a:ext cx="2633472" cy="292608"/>
          </a:xfrm>
          <a:prstGeom prst="rect">
            <a:avLst/>
          </a:prstGeom>
          <a:noFill/>
        </p:spPr>
        <p:txBody>
          <a:bodyPr wrap="square">
            <a:spAutoFit/>
          </a:bodyPr>
          <a:lstStyle/>
          <a:p>
            <a:pPr algn="l"/>
            <a:r>
              <a:rPr sz="1000" b="1" i="0">
                <a:solidFill>
                  <a:srgbClr val="FFFFFF"/>
                </a:solidFill>
              </a:rPr>
              <a:t>ArrayList&lt;Race&gt;</a:t>
            </a:r>
          </a:p>
        </p:txBody>
      </p:sp>
      <p:sp>
        <p:nvSpPr>
          <p:cNvPr id="13" name="Rectangle 12"/>
          <p:cNvSpPr/>
          <p:nvPr/>
        </p:nvSpPr>
        <p:spPr>
          <a:xfrm>
            <a:off x="3200400" y="1645920"/>
            <a:ext cx="2743200" cy="1920240"/>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3552" y="1673352"/>
            <a:ext cx="2633472" cy="228600"/>
          </a:xfrm>
          <a:prstGeom prst="rect">
            <a:avLst/>
          </a:prstGeom>
          <a:noFill/>
        </p:spPr>
        <p:txBody>
          <a:bodyPr wrap="square">
            <a:spAutoFit/>
          </a:bodyPr>
          <a:lstStyle/>
          <a:p>
            <a:pPr algn="l"/>
            <a:r>
              <a:rPr sz="850" b="1" i="1">
                <a:solidFill>
                  <a:srgbClr val="9E9E9E"/>
                </a:solidFill>
              </a:rPr>
              <a:t>var: races</a:t>
            </a:r>
          </a:p>
        </p:txBody>
      </p:sp>
      <p:sp>
        <p:nvSpPr>
          <p:cNvPr id="15" name="TextBox 14"/>
          <p:cNvSpPr txBox="1"/>
          <p:nvPr/>
        </p:nvSpPr>
        <p:spPr>
          <a:xfrm>
            <a:off x="3273552" y="1892808"/>
            <a:ext cx="2633472" cy="1600200"/>
          </a:xfrm>
          <a:prstGeom prst="rect">
            <a:avLst/>
          </a:prstGeom>
          <a:noFill/>
        </p:spPr>
        <p:txBody>
          <a:bodyPr wrap="square">
            <a:spAutoFit/>
          </a:bodyPr>
          <a:lstStyle/>
          <a:p>
            <a:pPr algn="l"/>
            <a:r>
              <a:rPr sz="950" b="0" i="0">
                <a:solidFill>
                  <a:srgbClr val="0D2B55"/>
                </a:solidFill>
              </a:rPr>
              <a:t>• All race events in order
• Filterable for runner view
• Add: O(1)
• Supports removeIf()</a:t>
            </a:r>
          </a:p>
        </p:txBody>
      </p:sp>
      <p:sp>
        <p:nvSpPr>
          <p:cNvPr id="16" name="Rectangle 15"/>
          <p:cNvSpPr/>
          <p:nvPr/>
        </p:nvSpPr>
        <p:spPr>
          <a:xfrm>
            <a:off x="6172200" y="1234440"/>
            <a:ext cx="2743200"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5352" y="1289304"/>
            <a:ext cx="2633472" cy="292608"/>
          </a:xfrm>
          <a:prstGeom prst="rect">
            <a:avLst/>
          </a:prstGeom>
          <a:noFill/>
        </p:spPr>
        <p:txBody>
          <a:bodyPr wrap="square">
            <a:spAutoFit/>
          </a:bodyPr>
          <a:lstStyle/>
          <a:p>
            <a:pPr algn="l"/>
            <a:r>
              <a:rPr sz="1000" b="1" i="0">
                <a:solidFill>
                  <a:srgbClr val="FFFFFF"/>
                </a:solidFill>
              </a:rPr>
              <a:t>ArrayList&lt;TrainingLog&gt;</a:t>
            </a:r>
          </a:p>
        </p:txBody>
      </p:sp>
      <p:sp>
        <p:nvSpPr>
          <p:cNvPr id="18" name="Rectangle 17"/>
          <p:cNvSpPr/>
          <p:nvPr/>
        </p:nvSpPr>
        <p:spPr>
          <a:xfrm>
            <a:off x="6172200" y="1645920"/>
            <a:ext cx="2743200" cy="1920240"/>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1673352"/>
            <a:ext cx="2633472" cy="228600"/>
          </a:xfrm>
          <a:prstGeom prst="rect">
            <a:avLst/>
          </a:prstGeom>
          <a:noFill/>
        </p:spPr>
        <p:txBody>
          <a:bodyPr wrap="square">
            <a:spAutoFit/>
          </a:bodyPr>
          <a:lstStyle/>
          <a:p>
            <a:pPr algn="l"/>
            <a:r>
              <a:rPr sz="850" b="1" i="1">
                <a:solidFill>
                  <a:srgbClr val="9E9E9E"/>
                </a:solidFill>
              </a:rPr>
              <a:t>var: trainingLogs</a:t>
            </a:r>
          </a:p>
        </p:txBody>
      </p:sp>
      <p:sp>
        <p:nvSpPr>
          <p:cNvPr id="20" name="TextBox 19"/>
          <p:cNvSpPr txBox="1"/>
          <p:nvPr/>
        </p:nvSpPr>
        <p:spPr>
          <a:xfrm>
            <a:off x="6245352" y="1892808"/>
            <a:ext cx="2633472" cy="1600200"/>
          </a:xfrm>
          <a:prstGeom prst="rect">
            <a:avLst/>
          </a:prstGeom>
          <a:noFill/>
        </p:spPr>
        <p:txBody>
          <a:bodyPr wrap="square">
            <a:spAutoFit/>
          </a:bodyPr>
          <a:lstStyle/>
          <a:p>
            <a:pPr algn="l"/>
            <a:r>
              <a:rPr sz="950" b="0" i="0">
                <a:solidFill>
                  <a:srgbClr val="0D2B55"/>
                </a:solidFill>
              </a:rPr>
              <a:t>• All workouts for all runners
• Filter by runnerId
• Sortable with lambda
• Add: O(1)</a:t>
            </a:r>
          </a:p>
        </p:txBody>
      </p:sp>
      <p:sp>
        <p:nvSpPr>
          <p:cNvPr id="21" name="Rectangle 20"/>
          <p:cNvSpPr/>
          <p:nvPr/>
        </p:nvSpPr>
        <p:spPr>
          <a:xfrm>
            <a:off x="9144000" y="1234440"/>
            <a:ext cx="2743200" cy="41148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1289304"/>
            <a:ext cx="2633472" cy="292608"/>
          </a:xfrm>
          <a:prstGeom prst="rect">
            <a:avLst/>
          </a:prstGeom>
          <a:noFill/>
        </p:spPr>
        <p:txBody>
          <a:bodyPr wrap="square">
            <a:spAutoFit/>
          </a:bodyPr>
          <a:lstStyle/>
          <a:p>
            <a:pPr algn="l"/>
            <a:r>
              <a:rPr sz="1000" b="1" i="0">
                <a:solidFill>
                  <a:srgbClr val="FFFFFF"/>
                </a:solidFill>
              </a:rPr>
              <a:t>ArrayList&lt;Registration&gt;</a:t>
            </a:r>
          </a:p>
        </p:txBody>
      </p:sp>
      <p:sp>
        <p:nvSpPr>
          <p:cNvPr id="23" name="Rectangle 22"/>
          <p:cNvSpPr/>
          <p:nvPr/>
        </p:nvSpPr>
        <p:spPr>
          <a:xfrm>
            <a:off x="9144000" y="1645920"/>
            <a:ext cx="2743200" cy="1920240"/>
          </a:xfrm>
          <a:prstGeom prst="rect">
            <a:avLst/>
          </a:prstGeom>
          <a:solidFill>
            <a:srgbClr val="FFFFFF"/>
          </a:solidFill>
          <a:ln w="9525">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7152" y="1673352"/>
            <a:ext cx="2633472" cy="228600"/>
          </a:xfrm>
          <a:prstGeom prst="rect">
            <a:avLst/>
          </a:prstGeom>
          <a:noFill/>
        </p:spPr>
        <p:txBody>
          <a:bodyPr wrap="square">
            <a:spAutoFit/>
          </a:bodyPr>
          <a:lstStyle/>
          <a:p>
            <a:pPr algn="l"/>
            <a:r>
              <a:rPr sz="850" b="1" i="1">
                <a:solidFill>
                  <a:srgbClr val="9E9E9E"/>
                </a:solidFill>
              </a:rPr>
              <a:t>var: registrations</a:t>
            </a:r>
          </a:p>
        </p:txBody>
      </p:sp>
      <p:sp>
        <p:nvSpPr>
          <p:cNvPr id="25" name="TextBox 24"/>
          <p:cNvSpPr txBox="1"/>
          <p:nvPr/>
        </p:nvSpPr>
        <p:spPr>
          <a:xfrm>
            <a:off x="9217152" y="1892808"/>
            <a:ext cx="2633472" cy="1600200"/>
          </a:xfrm>
          <a:prstGeom prst="rect">
            <a:avLst/>
          </a:prstGeom>
          <a:noFill/>
        </p:spPr>
        <p:txBody>
          <a:bodyPr wrap="square">
            <a:spAutoFit/>
          </a:bodyPr>
          <a:lstStyle/>
          <a:p>
            <a:pPr algn="l"/>
            <a:r>
              <a:rPr sz="950" b="0" i="0">
                <a:solidFill>
                  <a:srgbClr val="0D2B55"/>
                </a:solidFill>
              </a:rPr>
              <a:t>• All race signups
• Double-booking check
• Eligibility count source
• Completion tracking</a:t>
            </a:r>
          </a:p>
        </p:txBody>
      </p:sp>
      <p:sp>
        <p:nvSpPr>
          <p:cNvPr id="26" name="Rectangle 25"/>
          <p:cNvSpPr/>
          <p:nvPr/>
        </p:nvSpPr>
        <p:spPr>
          <a:xfrm>
            <a:off x="228600" y="3749039"/>
            <a:ext cx="2743200" cy="41148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 y="3803903"/>
            <a:ext cx="2633472" cy="292608"/>
          </a:xfrm>
          <a:prstGeom prst="rect">
            <a:avLst/>
          </a:prstGeom>
          <a:noFill/>
        </p:spPr>
        <p:txBody>
          <a:bodyPr wrap="square">
            <a:spAutoFit/>
          </a:bodyPr>
          <a:lstStyle/>
          <a:p>
            <a:pPr algn="l"/>
            <a:r>
              <a:rPr sz="1000" b="1" i="0">
                <a:solidFill>
                  <a:srgbClr val="FFFFFF"/>
                </a:solidFill>
              </a:rPr>
              <a:t>ArrayList&lt;ForumPost&gt;</a:t>
            </a:r>
          </a:p>
        </p:txBody>
      </p:sp>
      <p:sp>
        <p:nvSpPr>
          <p:cNvPr id="28" name="Rectangle 27"/>
          <p:cNvSpPr/>
          <p:nvPr/>
        </p:nvSpPr>
        <p:spPr>
          <a:xfrm>
            <a:off x="228600" y="4160519"/>
            <a:ext cx="2743200" cy="1920240"/>
          </a:xfrm>
          <a:prstGeom prst="rect">
            <a:avLst/>
          </a:prstGeom>
          <a:solidFill>
            <a:srgbClr val="FFFFFF"/>
          </a:solidFill>
          <a:ln w="9525">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 y="4187951"/>
            <a:ext cx="2633472" cy="228600"/>
          </a:xfrm>
          <a:prstGeom prst="rect">
            <a:avLst/>
          </a:prstGeom>
          <a:noFill/>
        </p:spPr>
        <p:txBody>
          <a:bodyPr wrap="square">
            <a:spAutoFit/>
          </a:bodyPr>
          <a:lstStyle/>
          <a:p>
            <a:pPr algn="l"/>
            <a:r>
              <a:rPr sz="850" b="1" i="1">
                <a:solidFill>
                  <a:srgbClr val="9E9E9E"/>
                </a:solidFill>
              </a:rPr>
              <a:t>var: forumPosts</a:t>
            </a:r>
          </a:p>
        </p:txBody>
      </p:sp>
      <p:sp>
        <p:nvSpPr>
          <p:cNvPr id="30" name="TextBox 29"/>
          <p:cNvSpPr txBox="1"/>
          <p:nvPr/>
        </p:nvSpPr>
        <p:spPr>
          <a:xfrm>
            <a:off x="301752" y="4407407"/>
            <a:ext cx="2633472" cy="1600200"/>
          </a:xfrm>
          <a:prstGeom prst="rect">
            <a:avLst/>
          </a:prstGeom>
          <a:noFill/>
        </p:spPr>
        <p:txBody>
          <a:bodyPr wrap="square">
            <a:spAutoFit/>
          </a:bodyPr>
          <a:lstStyle/>
          <a:p>
            <a:pPr algn="l"/>
            <a:r>
              <a:rPr sz="950" b="0" i="0">
                <a:solidFill>
                  <a:srgbClr val="0D2B55"/>
                </a:solidFill>
              </a:rPr>
              <a:t>• All forum posts
• Filter by status
• removeIf() for cleanup
• Admin review queue</a:t>
            </a:r>
          </a:p>
        </p:txBody>
      </p:sp>
      <p:sp>
        <p:nvSpPr>
          <p:cNvPr id="31" name="Rectangle 30"/>
          <p:cNvSpPr/>
          <p:nvPr/>
        </p:nvSpPr>
        <p:spPr>
          <a:xfrm>
            <a:off x="3200400" y="3749039"/>
            <a:ext cx="2743200"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73552" y="3803903"/>
            <a:ext cx="2633472" cy="292608"/>
          </a:xfrm>
          <a:prstGeom prst="rect">
            <a:avLst/>
          </a:prstGeom>
          <a:noFill/>
        </p:spPr>
        <p:txBody>
          <a:bodyPr wrap="square">
            <a:spAutoFit/>
          </a:bodyPr>
          <a:lstStyle/>
          <a:p>
            <a:pPr algn="l"/>
            <a:r>
              <a:rPr sz="1000" b="1" i="0">
                <a:solidFill>
                  <a:srgbClr val="FFFFFF"/>
                </a:solidFill>
              </a:rPr>
              <a:t>HashMap&lt;String,User&gt;</a:t>
            </a:r>
          </a:p>
        </p:txBody>
      </p:sp>
      <p:sp>
        <p:nvSpPr>
          <p:cNvPr id="33" name="Rectangle 32"/>
          <p:cNvSpPr/>
          <p:nvPr/>
        </p:nvSpPr>
        <p:spPr>
          <a:xfrm>
            <a:off x="3200400" y="4160519"/>
            <a:ext cx="2743200" cy="1920240"/>
          </a:xfrm>
          <a:prstGeom prst="rect">
            <a:avLst/>
          </a:prstGeom>
          <a:solidFill>
            <a:srgbClr val="FFFFFF"/>
          </a:solidFill>
          <a:ln w="9525">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73552" y="4187951"/>
            <a:ext cx="2633472" cy="228600"/>
          </a:xfrm>
          <a:prstGeom prst="rect">
            <a:avLst/>
          </a:prstGeom>
          <a:noFill/>
        </p:spPr>
        <p:txBody>
          <a:bodyPr wrap="square">
            <a:spAutoFit/>
          </a:bodyPr>
          <a:lstStyle/>
          <a:p>
            <a:pPr algn="l"/>
            <a:r>
              <a:rPr sz="850" b="1" i="1">
                <a:solidFill>
                  <a:srgbClr val="9E9E9E"/>
                </a:solidFill>
              </a:rPr>
              <a:t>var: userByEmail</a:t>
            </a:r>
          </a:p>
        </p:txBody>
      </p:sp>
      <p:sp>
        <p:nvSpPr>
          <p:cNvPr id="35" name="TextBox 34"/>
          <p:cNvSpPr txBox="1"/>
          <p:nvPr/>
        </p:nvSpPr>
        <p:spPr>
          <a:xfrm>
            <a:off x="3273552" y="4407407"/>
            <a:ext cx="2633472" cy="1600200"/>
          </a:xfrm>
          <a:prstGeom prst="rect">
            <a:avLst/>
          </a:prstGeom>
          <a:noFill/>
        </p:spPr>
        <p:txBody>
          <a:bodyPr wrap="square">
            <a:spAutoFit/>
          </a:bodyPr>
          <a:lstStyle/>
          <a:p>
            <a:pPr algn="l"/>
            <a:r>
              <a:rPr sz="950" b="0" i="0">
                <a:solidFill>
                  <a:srgbClr val="0D2B55"/>
                </a:solidFill>
              </a:rPr>
              <a:t>• Key: email → Value: User
• O(1) average lookup
• Used every login call
• Prevents O(n) scan</a:t>
            </a:r>
          </a:p>
        </p:txBody>
      </p:sp>
      <p:sp>
        <p:nvSpPr>
          <p:cNvPr id="36" name="Rectangle 35"/>
          <p:cNvSpPr/>
          <p:nvPr/>
        </p:nvSpPr>
        <p:spPr>
          <a:xfrm>
            <a:off x="6172200" y="3749039"/>
            <a:ext cx="2743200" cy="41148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5352" y="3803903"/>
            <a:ext cx="2633472" cy="292608"/>
          </a:xfrm>
          <a:prstGeom prst="rect">
            <a:avLst/>
          </a:prstGeom>
          <a:noFill/>
        </p:spPr>
        <p:txBody>
          <a:bodyPr wrap="square">
            <a:spAutoFit/>
          </a:bodyPr>
          <a:lstStyle/>
          <a:p>
            <a:pPr algn="l"/>
            <a:r>
              <a:rPr sz="1000" b="1" i="0">
                <a:solidFill>
                  <a:srgbClr val="FFFFFF"/>
                </a:solidFill>
              </a:rPr>
              <a:t>HashSet&lt;String&gt;</a:t>
            </a:r>
          </a:p>
        </p:txBody>
      </p:sp>
      <p:sp>
        <p:nvSpPr>
          <p:cNvPr id="38" name="Rectangle 37"/>
          <p:cNvSpPr/>
          <p:nvPr/>
        </p:nvSpPr>
        <p:spPr>
          <a:xfrm>
            <a:off x="6172200" y="4160519"/>
            <a:ext cx="2743200" cy="1920240"/>
          </a:xfrm>
          <a:prstGeom prst="rect">
            <a:avLst/>
          </a:prstGeom>
          <a:solidFill>
            <a:srgbClr val="FFFF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4187951"/>
            <a:ext cx="2633472" cy="228600"/>
          </a:xfrm>
          <a:prstGeom prst="rect">
            <a:avLst/>
          </a:prstGeom>
          <a:noFill/>
        </p:spPr>
        <p:txBody>
          <a:bodyPr wrap="square">
            <a:spAutoFit/>
          </a:bodyPr>
          <a:lstStyle/>
          <a:p>
            <a:pPr algn="l"/>
            <a:r>
              <a:rPr sz="850" b="1" i="1">
                <a:solidFill>
                  <a:srgbClr val="9E9E9E"/>
                </a:solidFill>
              </a:rPr>
              <a:t>var: usedEmails</a:t>
            </a:r>
          </a:p>
        </p:txBody>
      </p:sp>
      <p:sp>
        <p:nvSpPr>
          <p:cNvPr id="40" name="TextBox 39"/>
          <p:cNvSpPr txBox="1"/>
          <p:nvPr/>
        </p:nvSpPr>
        <p:spPr>
          <a:xfrm>
            <a:off x="6245352" y="4407407"/>
            <a:ext cx="2633472" cy="1600200"/>
          </a:xfrm>
          <a:prstGeom prst="rect">
            <a:avLst/>
          </a:prstGeom>
          <a:noFill/>
        </p:spPr>
        <p:txBody>
          <a:bodyPr wrap="square">
            <a:spAutoFit/>
          </a:bodyPr>
          <a:lstStyle/>
          <a:p>
            <a:pPr algn="l"/>
            <a:r>
              <a:rPr sz="950" b="0" i="0">
                <a:solidFill>
                  <a:srgbClr val="0D2B55"/>
                </a:solidFill>
              </a:rPr>
              <a:t>• Set of registered emails
• O(1) duplicate check
• contains() on every signup
• Prevents duplicate accounts</a:t>
            </a:r>
          </a:p>
        </p:txBody>
      </p:sp>
      <p:sp>
        <p:nvSpPr>
          <p:cNvPr id="41" name="TextBox 40"/>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OOP Concepts Demonstrated</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Where every concept appears in the code</a:t>
            </a:r>
          </a:p>
        </p:txBody>
      </p:sp>
      <p:sp>
        <p:nvSpPr>
          <p:cNvPr id="6" name="Rectangle 5"/>
          <p:cNvSpPr/>
          <p:nvPr/>
        </p:nvSpPr>
        <p:spPr>
          <a:xfrm>
            <a:off x="228600" y="1234440"/>
            <a:ext cx="2743200" cy="38404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1289304"/>
            <a:ext cx="2633472" cy="292608"/>
          </a:xfrm>
          <a:prstGeom prst="rect">
            <a:avLst/>
          </a:prstGeom>
          <a:noFill/>
        </p:spPr>
        <p:txBody>
          <a:bodyPr wrap="square">
            <a:spAutoFit/>
          </a:bodyPr>
          <a:lstStyle/>
          <a:p>
            <a:pPr algn="l"/>
            <a:r>
              <a:rPr sz="1000" b="1" i="0">
                <a:solidFill>
                  <a:srgbClr val="FFFFFF"/>
                </a:solidFill>
              </a:rPr>
              <a:t>🔒  Encapsulation</a:t>
            </a:r>
          </a:p>
        </p:txBody>
      </p:sp>
      <p:sp>
        <p:nvSpPr>
          <p:cNvPr id="8" name="Rectangle 7"/>
          <p:cNvSpPr/>
          <p:nvPr/>
        </p:nvSpPr>
        <p:spPr>
          <a:xfrm>
            <a:off x="228600" y="1618488"/>
            <a:ext cx="2743200" cy="1947672"/>
          </a:xfrm>
          <a:prstGeom prst="rect">
            <a:avLst/>
          </a:prstGeom>
          <a:solidFill>
            <a:srgbClr val="FFFFF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 y="1691640"/>
            <a:ext cx="2633472" cy="1828800"/>
          </a:xfrm>
          <a:prstGeom prst="rect">
            <a:avLst/>
          </a:prstGeom>
          <a:noFill/>
        </p:spPr>
        <p:txBody>
          <a:bodyPr wrap="square">
            <a:spAutoFit/>
          </a:bodyPr>
          <a:lstStyle/>
          <a:p>
            <a:pPr algn="l"/>
            <a:r>
              <a:rPr sz="1000" b="0" i="0">
                <a:solidFill>
                  <a:srgbClr val="0D2B55"/>
                </a:solidFill>
              </a:rPr>
              <a:t>User, Race, TrainingLog group related fields.
UserMgr encapsulates all auth logic.
Menus call managers without knowing internals.</a:t>
            </a:r>
          </a:p>
        </p:txBody>
      </p:sp>
      <p:sp>
        <p:nvSpPr>
          <p:cNvPr id="10" name="Rectangle 9"/>
          <p:cNvSpPr/>
          <p:nvPr/>
        </p:nvSpPr>
        <p:spPr>
          <a:xfrm>
            <a:off x="3200400" y="1234440"/>
            <a:ext cx="2743200" cy="38404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73552" y="1289304"/>
            <a:ext cx="2633472" cy="292608"/>
          </a:xfrm>
          <a:prstGeom prst="rect">
            <a:avLst/>
          </a:prstGeom>
          <a:noFill/>
        </p:spPr>
        <p:txBody>
          <a:bodyPr wrap="square">
            <a:spAutoFit/>
          </a:bodyPr>
          <a:lstStyle/>
          <a:p>
            <a:pPr algn="l"/>
            <a:r>
              <a:rPr sz="1000" b="1" i="0">
                <a:solidFill>
                  <a:srgbClr val="FFFFFF"/>
                </a:solidFill>
              </a:rPr>
              <a:t>🎭  Abstraction</a:t>
            </a:r>
          </a:p>
        </p:txBody>
      </p:sp>
      <p:sp>
        <p:nvSpPr>
          <p:cNvPr id="12" name="Rectangle 11"/>
          <p:cNvSpPr/>
          <p:nvPr/>
        </p:nvSpPr>
        <p:spPr>
          <a:xfrm>
            <a:off x="3200400" y="1618488"/>
            <a:ext cx="2743200" cy="1947672"/>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1691640"/>
            <a:ext cx="2633472" cy="1828800"/>
          </a:xfrm>
          <a:prstGeom prst="rect">
            <a:avLst/>
          </a:prstGeom>
          <a:noFill/>
        </p:spPr>
        <p:txBody>
          <a:bodyPr wrap="square">
            <a:spAutoFit/>
          </a:bodyPr>
          <a:lstStyle/>
          <a:p>
            <a:pPr algn="l"/>
            <a:r>
              <a:rPr sz="1000" b="0" i="0">
                <a:solidFill>
                  <a:srgbClr val="0D2B55"/>
                </a:solidFill>
              </a:rPr>
              <a:t>showRunnerMenu() calls addTraining()
which calls TrainingMgr.addLog().
Each level hides its complexity.</a:t>
            </a:r>
          </a:p>
        </p:txBody>
      </p:sp>
      <p:sp>
        <p:nvSpPr>
          <p:cNvPr id="14" name="Rectangle 13"/>
          <p:cNvSpPr/>
          <p:nvPr/>
        </p:nvSpPr>
        <p:spPr>
          <a:xfrm>
            <a:off x="6172200" y="1234440"/>
            <a:ext cx="2743200" cy="38404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5352" y="1289304"/>
            <a:ext cx="2633472" cy="292608"/>
          </a:xfrm>
          <a:prstGeom prst="rect">
            <a:avLst/>
          </a:prstGeom>
          <a:noFill/>
        </p:spPr>
        <p:txBody>
          <a:bodyPr wrap="square">
            <a:spAutoFit/>
          </a:bodyPr>
          <a:lstStyle/>
          <a:p>
            <a:pPr algn="l"/>
            <a:r>
              <a:rPr sz="1000" b="1" i="0">
                <a:solidFill>
                  <a:srgbClr val="FFFFFF"/>
                </a:solidFill>
              </a:rPr>
              <a:t>🔄  Polymorphism</a:t>
            </a:r>
          </a:p>
        </p:txBody>
      </p:sp>
      <p:sp>
        <p:nvSpPr>
          <p:cNvPr id="16" name="Rectangle 15"/>
          <p:cNvSpPr/>
          <p:nvPr/>
        </p:nvSpPr>
        <p:spPr>
          <a:xfrm>
            <a:off x="6172200" y="1618488"/>
            <a:ext cx="2743200" cy="1947672"/>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5352" y="1691640"/>
            <a:ext cx="2633472" cy="1828800"/>
          </a:xfrm>
          <a:prstGeom prst="rect">
            <a:avLst/>
          </a:prstGeom>
          <a:noFill/>
        </p:spPr>
        <p:txBody>
          <a:bodyPr wrap="square">
            <a:spAutoFit/>
          </a:bodyPr>
          <a:lstStyle/>
          <a:p>
            <a:pPr algn="l"/>
            <a:r>
              <a:rPr sz="1000" b="0" i="0">
                <a:solidFill>
                  <a:srgbClr val="0D2B55"/>
                </a:solidFill>
              </a:rPr>
              <a:t>Lambda comparators passed to sort():
(a,b)-&gt;b.date.compareTo(a.date)
Same sort() method, different behavior.</a:t>
            </a:r>
          </a:p>
        </p:txBody>
      </p:sp>
      <p:sp>
        <p:nvSpPr>
          <p:cNvPr id="18" name="Rectangle 17"/>
          <p:cNvSpPr/>
          <p:nvPr/>
        </p:nvSpPr>
        <p:spPr>
          <a:xfrm>
            <a:off x="9144000" y="1234440"/>
            <a:ext cx="2743200" cy="38404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7152" y="1289304"/>
            <a:ext cx="2633472" cy="292608"/>
          </a:xfrm>
          <a:prstGeom prst="rect">
            <a:avLst/>
          </a:prstGeom>
          <a:noFill/>
        </p:spPr>
        <p:txBody>
          <a:bodyPr wrap="square">
            <a:spAutoFit/>
          </a:bodyPr>
          <a:lstStyle/>
          <a:p>
            <a:pPr algn="l"/>
            <a:r>
              <a:rPr sz="1000" b="1" i="0">
                <a:solidFill>
                  <a:srgbClr val="FFFFFF"/>
                </a:solidFill>
              </a:rPr>
              <a:t>📦  Static Members</a:t>
            </a:r>
          </a:p>
        </p:txBody>
      </p:sp>
      <p:sp>
        <p:nvSpPr>
          <p:cNvPr id="20" name="Rectangle 19"/>
          <p:cNvSpPr/>
          <p:nvPr/>
        </p:nvSpPr>
        <p:spPr>
          <a:xfrm>
            <a:off x="9144000" y="1618488"/>
            <a:ext cx="2743200" cy="1947672"/>
          </a:xfrm>
          <a:prstGeom prst="rect">
            <a:avLst/>
          </a:prstGeom>
          <a:solidFill>
            <a:srgbClr val="FFFFFF"/>
          </a:solidFill>
          <a:ln w="9525">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1691640"/>
            <a:ext cx="2633472" cy="1828800"/>
          </a:xfrm>
          <a:prstGeom prst="rect">
            <a:avLst/>
          </a:prstGeom>
          <a:noFill/>
        </p:spPr>
        <p:txBody>
          <a:bodyPr wrap="square">
            <a:spAutoFit/>
          </a:bodyPr>
          <a:lstStyle/>
          <a:p>
            <a:pPr algn="l"/>
            <a:r>
              <a:rPr sz="1000" b="0" i="0">
                <a:solidFill>
                  <a:srgbClr val="0D2B55"/>
                </a:solidFill>
              </a:rPr>
              <a:t>Collections &amp; ID counters are static.
Shared across all methods in the class.
Acts as the application's data store.</a:t>
            </a:r>
          </a:p>
        </p:txBody>
      </p:sp>
      <p:sp>
        <p:nvSpPr>
          <p:cNvPr id="22" name="Rectangle 21"/>
          <p:cNvSpPr/>
          <p:nvPr/>
        </p:nvSpPr>
        <p:spPr>
          <a:xfrm>
            <a:off x="228600" y="3749039"/>
            <a:ext cx="2743200" cy="384048"/>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1752" y="3803903"/>
            <a:ext cx="2633472" cy="292608"/>
          </a:xfrm>
          <a:prstGeom prst="rect">
            <a:avLst/>
          </a:prstGeom>
          <a:noFill/>
        </p:spPr>
        <p:txBody>
          <a:bodyPr wrap="square">
            <a:spAutoFit/>
          </a:bodyPr>
          <a:lstStyle/>
          <a:p>
            <a:pPr algn="l"/>
            <a:r>
              <a:rPr sz="1000" b="1" i="0">
                <a:solidFill>
                  <a:srgbClr val="FFFFFF"/>
                </a:solidFill>
              </a:rPr>
              <a:t>🏗️  Inner Classes</a:t>
            </a:r>
          </a:p>
        </p:txBody>
      </p:sp>
      <p:sp>
        <p:nvSpPr>
          <p:cNvPr id="24" name="Rectangle 23"/>
          <p:cNvSpPr/>
          <p:nvPr/>
        </p:nvSpPr>
        <p:spPr>
          <a:xfrm>
            <a:off x="228600" y="4133087"/>
            <a:ext cx="2743200" cy="1947672"/>
          </a:xfrm>
          <a:prstGeom prst="rect">
            <a:avLst/>
          </a:prstGeom>
          <a:solidFill>
            <a:srgbClr val="FFFFFF"/>
          </a:solidFill>
          <a:ln w="9525">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 y="4206239"/>
            <a:ext cx="2633472" cy="1828800"/>
          </a:xfrm>
          <a:prstGeom prst="rect">
            <a:avLst/>
          </a:prstGeom>
          <a:noFill/>
        </p:spPr>
        <p:txBody>
          <a:bodyPr wrap="square">
            <a:spAutoFit/>
          </a:bodyPr>
          <a:lstStyle/>
          <a:p>
            <a:pPr algn="l"/>
            <a:r>
              <a:rPr sz="1000" b="0" i="0">
                <a:solidFill>
                  <a:srgbClr val="0D2B55"/>
                </a:solidFill>
              </a:rPr>
              <a:t>UserMgr, RaceMgr etc. are static inner
classes of MarathonPortal.
Keeps code in one compilable file.</a:t>
            </a:r>
          </a:p>
        </p:txBody>
      </p:sp>
      <p:sp>
        <p:nvSpPr>
          <p:cNvPr id="26" name="Rectangle 25"/>
          <p:cNvSpPr/>
          <p:nvPr/>
        </p:nvSpPr>
        <p:spPr>
          <a:xfrm>
            <a:off x="3200400" y="3749039"/>
            <a:ext cx="2743200" cy="38404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73552" y="3803903"/>
            <a:ext cx="2633472" cy="292608"/>
          </a:xfrm>
          <a:prstGeom prst="rect">
            <a:avLst/>
          </a:prstGeom>
          <a:noFill/>
        </p:spPr>
        <p:txBody>
          <a:bodyPr wrap="square">
            <a:spAutoFit/>
          </a:bodyPr>
          <a:lstStyle/>
          <a:p>
            <a:pPr algn="l"/>
            <a:r>
              <a:rPr sz="1000" b="1" i="0">
                <a:solidFill>
                  <a:srgbClr val="FFFFFF"/>
                </a:solidFill>
              </a:rPr>
              <a:t>⚠️  Exception Handling</a:t>
            </a:r>
          </a:p>
        </p:txBody>
      </p:sp>
      <p:sp>
        <p:nvSpPr>
          <p:cNvPr id="28" name="Rectangle 27"/>
          <p:cNvSpPr/>
          <p:nvPr/>
        </p:nvSpPr>
        <p:spPr>
          <a:xfrm>
            <a:off x="3200400" y="4133087"/>
            <a:ext cx="2743200" cy="1947672"/>
          </a:xfrm>
          <a:prstGeom prst="rect">
            <a:avLst/>
          </a:prstGeom>
          <a:solidFill>
            <a:srgbClr val="FFFFFF"/>
          </a:solidFill>
          <a:ln w="9525">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73552" y="4206239"/>
            <a:ext cx="2633472" cy="1828800"/>
          </a:xfrm>
          <a:prstGeom prst="rect">
            <a:avLst/>
          </a:prstGeom>
          <a:noFill/>
        </p:spPr>
        <p:txBody>
          <a:bodyPr wrap="square">
            <a:spAutoFit/>
          </a:bodyPr>
          <a:lstStyle/>
          <a:p>
            <a:pPr algn="l"/>
            <a:r>
              <a:rPr sz="1000" b="0" i="0">
                <a:solidFill>
                  <a:srgbClr val="0D2B55"/>
                </a:solidFill>
              </a:rPr>
              <a:t>All validations throw Exception.
Menus use try-catch to display err().
Specific messages guide users.</a:t>
            </a:r>
          </a:p>
        </p:txBody>
      </p:sp>
      <p:sp>
        <p:nvSpPr>
          <p:cNvPr id="30" name="Rectangle 29"/>
          <p:cNvSpPr/>
          <p:nvPr/>
        </p:nvSpPr>
        <p:spPr>
          <a:xfrm>
            <a:off x="6172200" y="3749039"/>
            <a:ext cx="2743200" cy="38404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5352" y="3803903"/>
            <a:ext cx="2633472" cy="292608"/>
          </a:xfrm>
          <a:prstGeom prst="rect">
            <a:avLst/>
          </a:prstGeom>
          <a:noFill/>
        </p:spPr>
        <p:txBody>
          <a:bodyPr wrap="square">
            <a:spAutoFit/>
          </a:bodyPr>
          <a:lstStyle/>
          <a:p>
            <a:pPr algn="l"/>
            <a:r>
              <a:rPr sz="1000" b="1" i="0">
                <a:solidFill>
                  <a:srgbClr val="FFFFFF"/>
                </a:solidFill>
              </a:rPr>
              <a:t>📁  File Handling</a:t>
            </a:r>
          </a:p>
        </p:txBody>
      </p:sp>
      <p:sp>
        <p:nvSpPr>
          <p:cNvPr id="32" name="Rectangle 31"/>
          <p:cNvSpPr/>
          <p:nvPr/>
        </p:nvSpPr>
        <p:spPr>
          <a:xfrm>
            <a:off x="6172200" y="4133087"/>
            <a:ext cx="2743200" cy="1947672"/>
          </a:xfrm>
          <a:prstGeom prst="rect">
            <a:avLst/>
          </a:prstGeom>
          <a:solidFill>
            <a:srgbClr val="FFFF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45352" y="4206239"/>
            <a:ext cx="2633472" cy="1828800"/>
          </a:xfrm>
          <a:prstGeom prst="rect">
            <a:avLst/>
          </a:prstGeom>
          <a:noFill/>
        </p:spPr>
        <p:txBody>
          <a:bodyPr wrap="square">
            <a:spAutoFit/>
          </a:bodyPr>
          <a:lstStyle/>
          <a:p>
            <a:pPr algn="l"/>
            <a:r>
              <a:rPr sz="1000" b="0" i="0">
                <a:solidFill>
                  <a:srgbClr val="0D2B55"/>
                </a:solidFill>
              </a:rPr>
              <a:t>try-with-resources PrintWriter (CSV export).
BufferedReader reads security.log.
File.mkdirs() creates output folders.</a:t>
            </a:r>
          </a:p>
        </p:txBody>
      </p:sp>
      <p:sp>
        <p:nvSpPr>
          <p:cNvPr id="34" name="Rectangle 33"/>
          <p:cNvSpPr/>
          <p:nvPr/>
        </p:nvSpPr>
        <p:spPr>
          <a:xfrm>
            <a:off x="9144000" y="3749039"/>
            <a:ext cx="2743200" cy="384048"/>
          </a:xfrm>
          <a:prstGeom prst="rect">
            <a:avLst/>
          </a:prstGeom>
          <a:solidFill>
            <a:srgbClr val="34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17152" y="3803903"/>
            <a:ext cx="2633472" cy="292608"/>
          </a:xfrm>
          <a:prstGeom prst="rect">
            <a:avLst/>
          </a:prstGeom>
          <a:noFill/>
        </p:spPr>
        <p:txBody>
          <a:bodyPr wrap="square">
            <a:spAutoFit/>
          </a:bodyPr>
          <a:lstStyle/>
          <a:p>
            <a:pPr algn="l"/>
            <a:r>
              <a:rPr sz="1000" b="1" i="0">
                <a:solidFill>
                  <a:srgbClr val="FFFFFF"/>
                </a:solidFill>
              </a:rPr>
              <a:t>⏰  Java Time API</a:t>
            </a:r>
          </a:p>
        </p:txBody>
      </p:sp>
      <p:sp>
        <p:nvSpPr>
          <p:cNvPr id="36" name="Rectangle 35"/>
          <p:cNvSpPr/>
          <p:nvPr/>
        </p:nvSpPr>
        <p:spPr>
          <a:xfrm>
            <a:off x="9144000" y="4133087"/>
            <a:ext cx="2743200" cy="1947672"/>
          </a:xfrm>
          <a:prstGeom prst="rect">
            <a:avLst/>
          </a:prstGeom>
          <a:solidFill>
            <a:srgbClr val="FFFFFF"/>
          </a:solidFill>
          <a:ln w="9525">
            <a:solidFill>
              <a:srgbClr val="34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17152" y="4206239"/>
            <a:ext cx="2633472" cy="1828800"/>
          </a:xfrm>
          <a:prstGeom prst="rect">
            <a:avLst/>
          </a:prstGeom>
          <a:noFill/>
        </p:spPr>
        <p:txBody>
          <a:bodyPr wrap="square">
            <a:spAutoFit/>
          </a:bodyPr>
          <a:lstStyle/>
          <a:p>
            <a:pPr algn="l"/>
            <a:r>
              <a:rPr sz="1000" b="0" i="0">
                <a:solidFill>
                  <a:srgbClr val="0D2B55"/>
                </a:solidFill>
              </a:rPr>
              <a:t>LocalDate, LocalDateTime, ChronoUnit.
Race window checks, lockout timers,
training age calculations.</a:t>
            </a:r>
          </a:p>
        </p:txBody>
      </p:sp>
      <p:sp>
        <p:nvSpPr>
          <p:cNvPr id="38" name="TextBox 37"/>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Testing — 14 Automated + 28 Manual Tests</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TestPortal.java · All tests PASS</a:t>
            </a:r>
          </a:p>
        </p:txBody>
      </p:sp>
      <p:sp>
        <p:nvSpPr>
          <p:cNvPr id="6" name="Rectangle 5"/>
          <p:cNvSpPr/>
          <p:nvPr/>
        </p:nvSpPr>
        <p:spPr>
          <a:xfrm>
            <a:off x="228600" y="1234440"/>
            <a:ext cx="347472" cy="56692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648" y="1234440"/>
            <a:ext cx="3840480" cy="566928"/>
          </a:xfrm>
          <a:prstGeom prst="rect">
            <a:avLst/>
          </a:prstGeom>
          <a:solidFill>
            <a:srgbClr val="FFFFFF"/>
          </a:solidFill>
          <a:ln>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3657600" cy="274320"/>
          </a:xfrm>
          <a:prstGeom prst="rect">
            <a:avLst/>
          </a:prstGeom>
          <a:noFill/>
        </p:spPr>
        <p:txBody>
          <a:bodyPr wrap="square">
            <a:spAutoFit/>
          </a:bodyPr>
          <a:lstStyle/>
          <a:p>
            <a:pPr algn="l"/>
            <a:r>
              <a:rPr sz="1100" b="1" i="0">
                <a:solidFill>
                  <a:srgbClr val="34A853"/>
                </a:solidFill>
              </a:rPr>
              <a:t>Positive Testing</a:t>
            </a:r>
          </a:p>
        </p:txBody>
      </p:sp>
      <p:sp>
        <p:nvSpPr>
          <p:cNvPr id="9" name="TextBox 8"/>
          <p:cNvSpPr txBox="1"/>
          <p:nvPr/>
        </p:nvSpPr>
        <p:spPr>
          <a:xfrm>
            <a:off x="658368" y="1545336"/>
            <a:ext cx="3657600" cy="219456"/>
          </a:xfrm>
          <a:prstGeom prst="rect">
            <a:avLst/>
          </a:prstGeom>
          <a:noFill/>
        </p:spPr>
        <p:txBody>
          <a:bodyPr wrap="square">
            <a:spAutoFit/>
          </a:bodyPr>
          <a:lstStyle/>
          <a:p>
            <a:pPr algn="l"/>
            <a:r>
              <a:rPr sz="900" b="0" i="0">
                <a:solidFill>
                  <a:srgbClr val="0D2B55"/>
                </a:solidFill>
              </a:rPr>
              <a:t>Valid inputs accepted correctly</a:t>
            </a:r>
          </a:p>
        </p:txBody>
      </p:sp>
      <p:sp>
        <p:nvSpPr>
          <p:cNvPr id="10" name="Rectangle 9"/>
          <p:cNvSpPr/>
          <p:nvPr/>
        </p:nvSpPr>
        <p:spPr>
          <a:xfrm>
            <a:off x="228600" y="1947672"/>
            <a:ext cx="347472" cy="56692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1947672"/>
            <a:ext cx="3840480" cy="566928"/>
          </a:xfrm>
          <a:prstGeom prst="rect">
            <a:avLst/>
          </a:prstGeom>
          <a:solidFill>
            <a:srgbClr val="FFFFFF"/>
          </a:solidFill>
          <a:ln>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993392"/>
            <a:ext cx="3657600" cy="274320"/>
          </a:xfrm>
          <a:prstGeom prst="rect">
            <a:avLst/>
          </a:prstGeom>
          <a:noFill/>
        </p:spPr>
        <p:txBody>
          <a:bodyPr wrap="square">
            <a:spAutoFit/>
          </a:bodyPr>
          <a:lstStyle/>
          <a:p>
            <a:pPr algn="l"/>
            <a:r>
              <a:rPr sz="1100" b="1" i="0">
                <a:solidFill>
                  <a:srgbClr val="EA4335"/>
                </a:solidFill>
              </a:rPr>
              <a:t>Negative Testing</a:t>
            </a:r>
          </a:p>
        </p:txBody>
      </p:sp>
      <p:sp>
        <p:nvSpPr>
          <p:cNvPr id="13" name="TextBox 12"/>
          <p:cNvSpPr txBox="1"/>
          <p:nvPr/>
        </p:nvSpPr>
        <p:spPr>
          <a:xfrm>
            <a:off x="658368" y="2258568"/>
            <a:ext cx="3657600" cy="219456"/>
          </a:xfrm>
          <a:prstGeom prst="rect">
            <a:avLst/>
          </a:prstGeom>
          <a:noFill/>
        </p:spPr>
        <p:txBody>
          <a:bodyPr wrap="square">
            <a:spAutoFit/>
          </a:bodyPr>
          <a:lstStyle/>
          <a:p>
            <a:pPr algn="l"/>
            <a:r>
              <a:rPr sz="900" b="0" i="0">
                <a:solidFill>
                  <a:srgbClr val="0D2B55"/>
                </a:solidFill>
              </a:rPr>
              <a:t>Invalid inputs blocked with clear errors</a:t>
            </a:r>
          </a:p>
        </p:txBody>
      </p:sp>
      <p:sp>
        <p:nvSpPr>
          <p:cNvPr id="14" name="Rectangle 13"/>
          <p:cNvSpPr/>
          <p:nvPr/>
        </p:nvSpPr>
        <p:spPr>
          <a:xfrm>
            <a:off x="228600" y="2660904"/>
            <a:ext cx="347472" cy="56692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 y="2660904"/>
            <a:ext cx="3840480" cy="566928"/>
          </a:xfrm>
          <a:prstGeom prst="rect">
            <a:avLst/>
          </a:prstGeom>
          <a:solidFill>
            <a:srgbClr val="FFFFFF"/>
          </a:solidFill>
          <a:ln>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706624"/>
            <a:ext cx="3657600" cy="274320"/>
          </a:xfrm>
          <a:prstGeom prst="rect">
            <a:avLst/>
          </a:prstGeom>
          <a:noFill/>
        </p:spPr>
        <p:txBody>
          <a:bodyPr wrap="square">
            <a:spAutoFit/>
          </a:bodyPr>
          <a:lstStyle/>
          <a:p>
            <a:pPr algn="l"/>
            <a:r>
              <a:rPr sz="1100" b="1" i="0">
                <a:solidFill>
                  <a:srgbClr val="FF6D00"/>
                </a:solidFill>
              </a:rPr>
              <a:t>Boundary Testing</a:t>
            </a:r>
          </a:p>
        </p:txBody>
      </p:sp>
      <p:sp>
        <p:nvSpPr>
          <p:cNvPr id="17" name="TextBox 16"/>
          <p:cNvSpPr txBox="1"/>
          <p:nvPr/>
        </p:nvSpPr>
        <p:spPr>
          <a:xfrm>
            <a:off x="658368" y="2971800"/>
            <a:ext cx="3657600" cy="219456"/>
          </a:xfrm>
          <a:prstGeom prst="rect">
            <a:avLst/>
          </a:prstGeom>
          <a:noFill/>
        </p:spPr>
        <p:txBody>
          <a:bodyPr wrap="square">
            <a:spAutoFit/>
          </a:bodyPr>
          <a:lstStyle/>
          <a:p>
            <a:pPr algn="l"/>
            <a:r>
              <a:rPr sz="900" b="0" i="0">
                <a:solidFill>
                  <a:srgbClr val="0D2B55"/>
                </a:solidFill>
              </a:rPr>
              <a:t>Edge values (age=18/40, dist=1/100, pace=3/10)</a:t>
            </a:r>
          </a:p>
        </p:txBody>
      </p:sp>
      <p:sp>
        <p:nvSpPr>
          <p:cNvPr id="18" name="Rectangle 17"/>
          <p:cNvSpPr/>
          <p:nvPr/>
        </p:nvSpPr>
        <p:spPr>
          <a:xfrm>
            <a:off x="228600" y="3374136"/>
            <a:ext cx="347472" cy="56692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3374136"/>
            <a:ext cx="3840480" cy="566928"/>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419856"/>
            <a:ext cx="3657600" cy="274320"/>
          </a:xfrm>
          <a:prstGeom prst="rect">
            <a:avLst/>
          </a:prstGeom>
          <a:noFill/>
        </p:spPr>
        <p:txBody>
          <a:bodyPr wrap="square">
            <a:spAutoFit/>
          </a:bodyPr>
          <a:lstStyle/>
          <a:p>
            <a:pPr algn="l"/>
            <a:r>
              <a:rPr sz="1100" b="1" i="0">
                <a:solidFill>
                  <a:srgbClr val="1A73E8"/>
                </a:solidFill>
              </a:rPr>
              <a:t>Exception Testing</a:t>
            </a:r>
          </a:p>
        </p:txBody>
      </p:sp>
      <p:sp>
        <p:nvSpPr>
          <p:cNvPr id="21" name="TextBox 20"/>
          <p:cNvSpPr txBox="1"/>
          <p:nvPr/>
        </p:nvSpPr>
        <p:spPr>
          <a:xfrm>
            <a:off x="658368" y="3685032"/>
            <a:ext cx="3657600" cy="219456"/>
          </a:xfrm>
          <a:prstGeom prst="rect">
            <a:avLst/>
          </a:prstGeom>
          <a:noFill/>
        </p:spPr>
        <p:txBody>
          <a:bodyPr wrap="square">
            <a:spAutoFit/>
          </a:bodyPr>
          <a:lstStyle/>
          <a:p>
            <a:pPr algn="l"/>
            <a:r>
              <a:rPr sz="900" b="0" i="0">
                <a:solidFill>
                  <a:srgbClr val="0D2B55"/>
                </a:solidFill>
              </a:rPr>
              <a:t>All exceptions caught, messages readable</a:t>
            </a:r>
          </a:p>
        </p:txBody>
      </p:sp>
      <p:sp>
        <p:nvSpPr>
          <p:cNvPr id="22" name="Rectangle 21"/>
          <p:cNvSpPr/>
          <p:nvPr/>
        </p:nvSpPr>
        <p:spPr>
          <a:xfrm>
            <a:off x="228600" y="4087368"/>
            <a:ext cx="347472" cy="56692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4087368"/>
            <a:ext cx="3840480" cy="566928"/>
          </a:xfrm>
          <a:prstGeom prst="rect">
            <a:avLst/>
          </a:prstGeom>
          <a:solidFill>
            <a:srgbClr val="FFFFFF"/>
          </a:solidFill>
          <a:ln>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133088"/>
            <a:ext cx="3657600" cy="274320"/>
          </a:xfrm>
          <a:prstGeom prst="rect">
            <a:avLst/>
          </a:prstGeom>
          <a:noFill/>
        </p:spPr>
        <p:txBody>
          <a:bodyPr wrap="square">
            <a:spAutoFit/>
          </a:bodyPr>
          <a:lstStyle/>
          <a:p>
            <a:pPr algn="l"/>
            <a:r>
              <a:rPr sz="1100" b="1" i="0">
                <a:solidFill>
                  <a:srgbClr val="0D2B55"/>
                </a:solidFill>
              </a:rPr>
              <a:t>Role-Based Testing</a:t>
            </a:r>
          </a:p>
        </p:txBody>
      </p:sp>
      <p:sp>
        <p:nvSpPr>
          <p:cNvPr id="25" name="TextBox 24"/>
          <p:cNvSpPr txBox="1"/>
          <p:nvPr/>
        </p:nvSpPr>
        <p:spPr>
          <a:xfrm>
            <a:off x="658368" y="4398264"/>
            <a:ext cx="3657600" cy="219456"/>
          </a:xfrm>
          <a:prstGeom prst="rect">
            <a:avLst/>
          </a:prstGeom>
          <a:noFill/>
        </p:spPr>
        <p:txBody>
          <a:bodyPr wrap="square">
            <a:spAutoFit/>
          </a:bodyPr>
          <a:lstStyle/>
          <a:p>
            <a:pPr algn="l"/>
            <a:r>
              <a:rPr sz="900" b="0" i="0">
                <a:solidFill>
                  <a:srgbClr val="0D2B55"/>
                </a:solidFill>
              </a:rPr>
              <a:t>Admin sees admin menu, Runner sees runner menu</a:t>
            </a:r>
          </a:p>
        </p:txBody>
      </p:sp>
      <p:sp>
        <p:nvSpPr>
          <p:cNvPr id="26" name="Rectangle 25"/>
          <p:cNvSpPr/>
          <p:nvPr/>
        </p:nvSpPr>
        <p:spPr>
          <a:xfrm>
            <a:off x="228600" y="4800600"/>
            <a:ext cx="347472" cy="566928"/>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 y="4800600"/>
            <a:ext cx="3840480" cy="566928"/>
          </a:xfrm>
          <a:prstGeom prst="rect">
            <a:avLst/>
          </a:prstGeom>
          <a:solidFill>
            <a:srgbClr val="FFFFFF"/>
          </a:solidFill>
          <a:ln>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846320"/>
            <a:ext cx="3657600" cy="274320"/>
          </a:xfrm>
          <a:prstGeom prst="rect">
            <a:avLst/>
          </a:prstGeom>
          <a:noFill/>
        </p:spPr>
        <p:txBody>
          <a:bodyPr wrap="square">
            <a:spAutoFit/>
          </a:bodyPr>
          <a:lstStyle/>
          <a:p>
            <a:pPr algn="l"/>
            <a:r>
              <a:rPr sz="1100" b="1" i="0">
                <a:solidFill>
                  <a:srgbClr val="8E24AA"/>
                </a:solidFill>
              </a:rPr>
              <a:t>Integration Testing</a:t>
            </a:r>
          </a:p>
        </p:txBody>
      </p:sp>
      <p:sp>
        <p:nvSpPr>
          <p:cNvPr id="29" name="TextBox 28"/>
          <p:cNvSpPr txBox="1"/>
          <p:nvPr/>
        </p:nvSpPr>
        <p:spPr>
          <a:xfrm>
            <a:off x="658368" y="5111496"/>
            <a:ext cx="3657600" cy="219456"/>
          </a:xfrm>
          <a:prstGeom prst="rect">
            <a:avLst/>
          </a:prstGeom>
          <a:noFill/>
        </p:spPr>
        <p:txBody>
          <a:bodyPr wrap="square">
            <a:spAutoFit/>
          </a:bodyPr>
          <a:lstStyle/>
          <a:p>
            <a:pPr algn="l"/>
            <a:r>
              <a:rPr sz="900" b="0" i="0">
                <a:solidFill>
                  <a:srgbClr val="0D2B55"/>
                </a:solidFill>
              </a:rPr>
              <a:t>Register→Verify→Login→Register Race→Log Training</a:t>
            </a:r>
          </a:p>
        </p:txBody>
      </p:sp>
      <p:sp>
        <p:nvSpPr>
          <p:cNvPr id="30" name="Rectangle 29"/>
          <p:cNvSpPr/>
          <p:nvPr/>
        </p:nvSpPr>
        <p:spPr>
          <a:xfrm>
            <a:off x="228600" y="5513831"/>
            <a:ext cx="347472" cy="56692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 y="5513831"/>
            <a:ext cx="3840480" cy="566928"/>
          </a:xfrm>
          <a:prstGeom prst="rect">
            <a:avLst/>
          </a:prstGeom>
          <a:solidFill>
            <a:srgbClr val="FFFFFF"/>
          </a:solidFill>
          <a:ln>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559551"/>
            <a:ext cx="3657600" cy="274320"/>
          </a:xfrm>
          <a:prstGeom prst="rect">
            <a:avLst/>
          </a:prstGeom>
          <a:noFill/>
        </p:spPr>
        <p:txBody>
          <a:bodyPr wrap="square">
            <a:spAutoFit/>
          </a:bodyPr>
          <a:lstStyle/>
          <a:p>
            <a:pPr algn="l"/>
            <a:r>
              <a:rPr sz="1100" b="1" i="0">
                <a:solidFill>
                  <a:srgbClr val="00897B"/>
                </a:solidFill>
              </a:rPr>
              <a:t>Regression Testing</a:t>
            </a:r>
          </a:p>
        </p:txBody>
      </p:sp>
      <p:sp>
        <p:nvSpPr>
          <p:cNvPr id="33" name="TextBox 32"/>
          <p:cNvSpPr txBox="1"/>
          <p:nvPr/>
        </p:nvSpPr>
        <p:spPr>
          <a:xfrm>
            <a:off x="658368" y="5824727"/>
            <a:ext cx="3657600" cy="219456"/>
          </a:xfrm>
          <a:prstGeom prst="rect">
            <a:avLst/>
          </a:prstGeom>
          <a:noFill/>
        </p:spPr>
        <p:txBody>
          <a:bodyPr wrap="square">
            <a:spAutoFit/>
          </a:bodyPr>
          <a:lstStyle/>
          <a:p>
            <a:pPr algn="l"/>
            <a:r>
              <a:rPr sz="900" b="0" i="0">
                <a:solidFill>
                  <a:srgbClr val="0D2B55"/>
                </a:solidFill>
              </a:rPr>
              <a:t>All 14 automated tests re-run after every change</a:t>
            </a:r>
          </a:p>
        </p:txBody>
      </p:sp>
      <p:sp>
        <p:nvSpPr>
          <p:cNvPr id="34" name="Rectangle 33"/>
          <p:cNvSpPr/>
          <p:nvPr/>
        </p:nvSpPr>
        <p:spPr>
          <a:xfrm>
            <a:off x="4846320" y="1161288"/>
            <a:ext cx="100584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82896" y="1170432"/>
            <a:ext cx="950976" cy="219456"/>
          </a:xfrm>
          <a:prstGeom prst="rect">
            <a:avLst/>
          </a:prstGeom>
          <a:noFill/>
        </p:spPr>
        <p:txBody>
          <a:bodyPr wrap="square">
            <a:spAutoFit/>
          </a:bodyPr>
          <a:lstStyle/>
          <a:p>
            <a:pPr algn="l"/>
            <a:r>
              <a:rPr sz="900" b="1" i="0">
                <a:solidFill>
                  <a:srgbClr val="FFFFFF"/>
                </a:solidFill>
              </a:rPr>
              <a:t>Test ID</a:t>
            </a:r>
          </a:p>
        </p:txBody>
      </p:sp>
      <p:sp>
        <p:nvSpPr>
          <p:cNvPr id="36" name="Rectangle 35"/>
          <p:cNvSpPr/>
          <p:nvPr/>
        </p:nvSpPr>
        <p:spPr>
          <a:xfrm>
            <a:off x="5852160" y="1161288"/>
            <a:ext cx="228600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88736" y="1170432"/>
            <a:ext cx="2231136" cy="219456"/>
          </a:xfrm>
          <a:prstGeom prst="rect">
            <a:avLst/>
          </a:prstGeom>
          <a:noFill/>
        </p:spPr>
        <p:txBody>
          <a:bodyPr wrap="square">
            <a:spAutoFit/>
          </a:bodyPr>
          <a:lstStyle/>
          <a:p>
            <a:pPr algn="l"/>
            <a:r>
              <a:rPr sz="900" b="1" i="0">
                <a:solidFill>
                  <a:srgbClr val="FFFFFF"/>
                </a:solidFill>
              </a:rPr>
              <a:t>Scenario</a:t>
            </a:r>
          </a:p>
        </p:txBody>
      </p:sp>
      <p:sp>
        <p:nvSpPr>
          <p:cNvPr id="38" name="Rectangle 37"/>
          <p:cNvSpPr/>
          <p:nvPr/>
        </p:nvSpPr>
        <p:spPr>
          <a:xfrm>
            <a:off x="8138160" y="1161288"/>
            <a:ext cx="777240"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74736" y="1170432"/>
            <a:ext cx="722376" cy="219456"/>
          </a:xfrm>
          <a:prstGeom prst="rect">
            <a:avLst/>
          </a:prstGeom>
          <a:noFill/>
        </p:spPr>
        <p:txBody>
          <a:bodyPr wrap="square">
            <a:spAutoFit/>
          </a:bodyPr>
          <a:lstStyle/>
          <a:p>
            <a:pPr algn="l"/>
            <a:r>
              <a:rPr sz="900" b="1" i="0">
                <a:solidFill>
                  <a:srgbClr val="FFFFFF"/>
                </a:solidFill>
              </a:rPr>
              <a:t>Result</a:t>
            </a:r>
          </a:p>
        </p:txBody>
      </p:sp>
      <p:sp>
        <p:nvSpPr>
          <p:cNvPr id="40" name="Rectangle 39"/>
          <p:cNvSpPr/>
          <p:nvPr/>
        </p:nvSpPr>
        <p:spPr>
          <a:xfrm>
            <a:off x="4846320" y="1417320"/>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82896" y="1463040"/>
            <a:ext cx="950976" cy="237744"/>
          </a:xfrm>
          <a:prstGeom prst="rect">
            <a:avLst/>
          </a:prstGeom>
          <a:noFill/>
        </p:spPr>
        <p:txBody>
          <a:bodyPr wrap="square">
            <a:spAutoFit/>
          </a:bodyPr>
          <a:lstStyle/>
          <a:p>
            <a:pPr algn="l"/>
            <a:r>
              <a:rPr sz="850" b="0" i="0">
                <a:solidFill>
                  <a:srgbClr val="0D2B55"/>
                </a:solidFill>
              </a:rPr>
              <a:t>TC-001</a:t>
            </a:r>
          </a:p>
        </p:txBody>
      </p:sp>
      <p:sp>
        <p:nvSpPr>
          <p:cNvPr id="42" name="Rectangle 41"/>
          <p:cNvSpPr/>
          <p:nvPr/>
        </p:nvSpPr>
        <p:spPr>
          <a:xfrm>
            <a:off x="5852160" y="1417320"/>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88736" y="1463040"/>
            <a:ext cx="2231136" cy="237744"/>
          </a:xfrm>
          <a:prstGeom prst="rect">
            <a:avLst/>
          </a:prstGeom>
          <a:noFill/>
        </p:spPr>
        <p:txBody>
          <a:bodyPr wrap="square">
            <a:spAutoFit/>
          </a:bodyPr>
          <a:lstStyle/>
          <a:p>
            <a:pPr algn="l"/>
            <a:r>
              <a:rPr sz="850" b="0" i="0">
                <a:solidFill>
                  <a:srgbClr val="0D2B55"/>
                </a:solidFill>
              </a:rPr>
              <a:t>Valid Signup</a:t>
            </a:r>
          </a:p>
        </p:txBody>
      </p:sp>
      <p:sp>
        <p:nvSpPr>
          <p:cNvPr id="44" name="Rectangle 43"/>
          <p:cNvSpPr/>
          <p:nvPr/>
        </p:nvSpPr>
        <p:spPr>
          <a:xfrm>
            <a:off x="8138160" y="1417320"/>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74736" y="1463040"/>
            <a:ext cx="722376" cy="237744"/>
          </a:xfrm>
          <a:prstGeom prst="rect">
            <a:avLst/>
          </a:prstGeom>
          <a:noFill/>
        </p:spPr>
        <p:txBody>
          <a:bodyPr wrap="square">
            <a:spAutoFit/>
          </a:bodyPr>
          <a:lstStyle/>
          <a:p>
            <a:pPr algn="l"/>
            <a:r>
              <a:rPr sz="850" b="1" i="0">
                <a:solidFill>
                  <a:srgbClr val="34A853"/>
                </a:solidFill>
              </a:rPr>
              <a:t>✅ PASS</a:t>
            </a:r>
          </a:p>
        </p:txBody>
      </p:sp>
      <p:sp>
        <p:nvSpPr>
          <p:cNvPr id="46" name="Rectangle 45"/>
          <p:cNvSpPr/>
          <p:nvPr/>
        </p:nvSpPr>
        <p:spPr>
          <a:xfrm>
            <a:off x="4846320" y="1755648"/>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82896" y="1801368"/>
            <a:ext cx="950976" cy="237744"/>
          </a:xfrm>
          <a:prstGeom prst="rect">
            <a:avLst/>
          </a:prstGeom>
          <a:noFill/>
        </p:spPr>
        <p:txBody>
          <a:bodyPr wrap="square">
            <a:spAutoFit/>
          </a:bodyPr>
          <a:lstStyle/>
          <a:p>
            <a:pPr algn="l"/>
            <a:r>
              <a:rPr sz="850" b="0" i="0">
                <a:solidFill>
                  <a:srgbClr val="0D2B55"/>
                </a:solidFill>
              </a:rPr>
              <a:t>TC-002</a:t>
            </a:r>
          </a:p>
        </p:txBody>
      </p:sp>
      <p:sp>
        <p:nvSpPr>
          <p:cNvPr id="48" name="Rectangle 47"/>
          <p:cNvSpPr/>
          <p:nvPr/>
        </p:nvSpPr>
        <p:spPr>
          <a:xfrm>
            <a:off x="5852160" y="1755648"/>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88736" y="1801368"/>
            <a:ext cx="2231136" cy="237744"/>
          </a:xfrm>
          <a:prstGeom prst="rect">
            <a:avLst/>
          </a:prstGeom>
          <a:noFill/>
        </p:spPr>
        <p:txBody>
          <a:bodyPr wrap="square">
            <a:spAutoFit/>
          </a:bodyPr>
          <a:lstStyle/>
          <a:p>
            <a:pPr algn="l"/>
            <a:r>
              <a:rPr sz="850" b="0" i="0">
                <a:solidFill>
                  <a:srgbClr val="0D2B55"/>
                </a:solidFill>
              </a:rPr>
              <a:t>Dup Email</a:t>
            </a:r>
          </a:p>
        </p:txBody>
      </p:sp>
      <p:sp>
        <p:nvSpPr>
          <p:cNvPr id="50" name="Rectangle 49"/>
          <p:cNvSpPr/>
          <p:nvPr/>
        </p:nvSpPr>
        <p:spPr>
          <a:xfrm>
            <a:off x="8138160" y="1755648"/>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74736" y="1801368"/>
            <a:ext cx="722376" cy="237744"/>
          </a:xfrm>
          <a:prstGeom prst="rect">
            <a:avLst/>
          </a:prstGeom>
          <a:noFill/>
        </p:spPr>
        <p:txBody>
          <a:bodyPr wrap="square">
            <a:spAutoFit/>
          </a:bodyPr>
          <a:lstStyle/>
          <a:p>
            <a:pPr algn="l"/>
            <a:r>
              <a:rPr sz="850" b="1" i="0">
                <a:solidFill>
                  <a:srgbClr val="34A853"/>
                </a:solidFill>
              </a:rPr>
              <a:t>✅ PASS</a:t>
            </a:r>
          </a:p>
        </p:txBody>
      </p:sp>
      <p:sp>
        <p:nvSpPr>
          <p:cNvPr id="52" name="Rectangle 51"/>
          <p:cNvSpPr/>
          <p:nvPr/>
        </p:nvSpPr>
        <p:spPr>
          <a:xfrm>
            <a:off x="4846320" y="2093976"/>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82896" y="2139696"/>
            <a:ext cx="950976" cy="237744"/>
          </a:xfrm>
          <a:prstGeom prst="rect">
            <a:avLst/>
          </a:prstGeom>
          <a:noFill/>
        </p:spPr>
        <p:txBody>
          <a:bodyPr wrap="square">
            <a:spAutoFit/>
          </a:bodyPr>
          <a:lstStyle/>
          <a:p>
            <a:pPr algn="l"/>
            <a:r>
              <a:rPr sz="850" b="0" i="0">
                <a:solidFill>
                  <a:srgbClr val="0D2B55"/>
                </a:solidFill>
              </a:rPr>
              <a:t>TC-003</a:t>
            </a:r>
          </a:p>
        </p:txBody>
      </p:sp>
      <p:sp>
        <p:nvSpPr>
          <p:cNvPr id="54" name="Rectangle 53"/>
          <p:cNvSpPr/>
          <p:nvPr/>
        </p:nvSpPr>
        <p:spPr>
          <a:xfrm>
            <a:off x="5852160" y="2093976"/>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88736" y="2139696"/>
            <a:ext cx="2231136" cy="237744"/>
          </a:xfrm>
          <a:prstGeom prst="rect">
            <a:avLst/>
          </a:prstGeom>
          <a:noFill/>
        </p:spPr>
        <p:txBody>
          <a:bodyPr wrap="square">
            <a:spAutoFit/>
          </a:bodyPr>
          <a:lstStyle/>
          <a:p>
            <a:pPr algn="l"/>
            <a:r>
              <a:rPr sz="850" b="0" i="0">
                <a:solidFill>
                  <a:srgbClr val="0D2B55"/>
                </a:solidFill>
              </a:rPr>
              <a:t>Weak Password</a:t>
            </a:r>
          </a:p>
        </p:txBody>
      </p:sp>
      <p:sp>
        <p:nvSpPr>
          <p:cNvPr id="56" name="Rectangle 55"/>
          <p:cNvSpPr/>
          <p:nvPr/>
        </p:nvSpPr>
        <p:spPr>
          <a:xfrm>
            <a:off x="8138160" y="2093976"/>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74736" y="2139696"/>
            <a:ext cx="722376" cy="237744"/>
          </a:xfrm>
          <a:prstGeom prst="rect">
            <a:avLst/>
          </a:prstGeom>
          <a:noFill/>
        </p:spPr>
        <p:txBody>
          <a:bodyPr wrap="square">
            <a:spAutoFit/>
          </a:bodyPr>
          <a:lstStyle/>
          <a:p>
            <a:pPr algn="l"/>
            <a:r>
              <a:rPr sz="850" b="1" i="0">
                <a:solidFill>
                  <a:srgbClr val="34A853"/>
                </a:solidFill>
              </a:rPr>
              <a:t>✅ PASS</a:t>
            </a:r>
          </a:p>
        </p:txBody>
      </p:sp>
      <p:sp>
        <p:nvSpPr>
          <p:cNvPr id="58" name="Rectangle 57"/>
          <p:cNvSpPr/>
          <p:nvPr/>
        </p:nvSpPr>
        <p:spPr>
          <a:xfrm>
            <a:off x="4846320" y="2432304"/>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82896" y="2478024"/>
            <a:ext cx="950976" cy="237744"/>
          </a:xfrm>
          <a:prstGeom prst="rect">
            <a:avLst/>
          </a:prstGeom>
          <a:noFill/>
        </p:spPr>
        <p:txBody>
          <a:bodyPr wrap="square">
            <a:spAutoFit/>
          </a:bodyPr>
          <a:lstStyle/>
          <a:p>
            <a:pPr algn="l"/>
            <a:r>
              <a:rPr sz="850" b="0" i="0">
                <a:solidFill>
                  <a:srgbClr val="0D2B55"/>
                </a:solidFill>
              </a:rPr>
              <a:t>TC-004</a:t>
            </a:r>
          </a:p>
        </p:txBody>
      </p:sp>
      <p:sp>
        <p:nvSpPr>
          <p:cNvPr id="60" name="Rectangle 59"/>
          <p:cNvSpPr/>
          <p:nvPr/>
        </p:nvSpPr>
        <p:spPr>
          <a:xfrm>
            <a:off x="5852160" y="2432304"/>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88736" y="2478024"/>
            <a:ext cx="2231136" cy="237744"/>
          </a:xfrm>
          <a:prstGeom prst="rect">
            <a:avLst/>
          </a:prstGeom>
          <a:noFill/>
        </p:spPr>
        <p:txBody>
          <a:bodyPr wrap="square">
            <a:spAutoFit/>
          </a:bodyPr>
          <a:lstStyle/>
          <a:p>
            <a:pPr algn="l"/>
            <a:r>
              <a:rPr sz="850" b="0" i="0">
                <a:solidFill>
                  <a:srgbClr val="0D2B55"/>
                </a:solidFill>
              </a:rPr>
              <a:t>Age &lt; 18</a:t>
            </a:r>
          </a:p>
        </p:txBody>
      </p:sp>
      <p:sp>
        <p:nvSpPr>
          <p:cNvPr id="62" name="Rectangle 61"/>
          <p:cNvSpPr/>
          <p:nvPr/>
        </p:nvSpPr>
        <p:spPr>
          <a:xfrm>
            <a:off x="8138160" y="2432304"/>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74736" y="2478024"/>
            <a:ext cx="722376" cy="237744"/>
          </a:xfrm>
          <a:prstGeom prst="rect">
            <a:avLst/>
          </a:prstGeom>
          <a:noFill/>
        </p:spPr>
        <p:txBody>
          <a:bodyPr wrap="square">
            <a:spAutoFit/>
          </a:bodyPr>
          <a:lstStyle/>
          <a:p>
            <a:pPr algn="l"/>
            <a:r>
              <a:rPr sz="850" b="1" i="0">
                <a:solidFill>
                  <a:srgbClr val="34A853"/>
                </a:solidFill>
              </a:rPr>
              <a:t>✅ PASS</a:t>
            </a:r>
          </a:p>
        </p:txBody>
      </p:sp>
      <p:sp>
        <p:nvSpPr>
          <p:cNvPr id="64" name="Rectangle 63"/>
          <p:cNvSpPr/>
          <p:nvPr/>
        </p:nvSpPr>
        <p:spPr>
          <a:xfrm>
            <a:off x="4846320" y="2770632"/>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882896" y="2816352"/>
            <a:ext cx="950976" cy="237744"/>
          </a:xfrm>
          <a:prstGeom prst="rect">
            <a:avLst/>
          </a:prstGeom>
          <a:noFill/>
        </p:spPr>
        <p:txBody>
          <a:bodyPr wrap="square">
            <a:spAutoFit/>
          </a:bodyPr>
          <a:lstStyle/>
          <a:p>
            <a:pPr algn="l"/>
            <a:r>
              <a:rPr sz="850" b="0" i="0">
                <a:solidFill>
                  <a:srgbClr val="0D2B55"/>
                </a:solidFill>
              </a:rPr>
              <a:t>TC-005</a:t>
            </a:r>
          </a:p>
        </p:txBody>
      </p:sp>
      <p:sp>
        <p:nvSpPr>
          <p:cNvPr id="66" name="Rectangle 65"/>
          <p:cNvSpPr/>
          <p:nvPr/>
        </p:nvSpPr>
        <p:spPr>
          <a:xfrm>
            <a:off x="5852160" y="2770632"/>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888736" y="2816352"/>
            <a:ext cx="2231136" cy="237744"/>
          </a:xfrm>
          <a:prstGeom prst="rect">
            <a:avLst/>
          </a:prstGeom>
          <a:noFill/>
        </p:spPr>
        <p:txBody>
          <a:bodyPr wrap="square">
            <a:spAutoFit/>
          </a:bodyPr>
          <a:lstStyle/>
          <a:p>
            <a:pPr algn="l"/>
            <a:r>
              <a:rPr sz="850" b="0" i="0">
                <a:solidFill>
                  <a:srgbClr val="0D2B55"/>
                </a:solidFill>
              </a:rPr>
              <a:t>Unverified Login</a:t>
            </a:r>
          </a:p>
        </p:txBody>
      </p:sp>
      <p:sp>
        <p:nvSpPr>
          <p:cNvPr id="68" name="Rectangle 67"/>
          <p:cNvSpPr/>
          <p:nvPr/>
        </p:nvSpPr>
        <p:spPr>
          <a:xfrm>
            <a:off x="8138160" y="2770632"/>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74736" y="2816352"/>
            <a:ext cx="722376" cy="237744"/>
          </a:xfrm>
          <a:prstGeom prst="rect">
            <a:avLst/>
          </a:prstGeom>
          <a:noFill/>
        </p:spPr>
        <p:txBody>
          <a:bodyPr wrap="square">
            <a:spAutoFit/>
          </a:bodyPr>
          <a:lstStyle/>
          <a:p>
            <a:pPr algn="l"/>
            <a:r>
              <a:rPr sz="850" b="1" i="0">
                <a:solidFill>
                  <a:srgbClr val="34A853"/>
                </a:solidFill>
              </a:rPr>
              <a:t>✅ PASS</a:t>
            </a:r>
          </a:p>
        </p:txBody>
      </p:sp>
      <p:sp>
        <p:nvSpPr>
          <p:cNvPr id="70" name="Rectangle 69"/>
          <p:cNvSpPr/>
          <p:nvPr/>
        </p:nvSpPr>
        <p:spPr>
          <a:xfrm>
            <a:off x="4846320" y="3108960"/>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82896" y="3154680"/>
            <a:ext cx="950976" cy="237744"/>
          </a:xfrm>
          <a:prstGeom prst="rect">
            <a:avLst/>
          </a:prstGeom>
          <a:noFill/>
        </p:spPr>
        <p:txBody>
          <a:bodyPr wrap="square">
            <a:spAutoFit/>
          </a:bodyPr>
          <a:lstStyle/>
          <a:p>
            <a:pPr algn="l"/>
            <a:r>
              <a:rPr sz="850" b="0" i="0">
                <a:solidFill>
                  <a:srgbClr val="0D2B55"/>
                </a:solidFill>
              </a:rPr>
              <a:t>TC-006</a:t>
            </a:r>
          </a:p>
        </p:txBody>
      </p:sp>
      <p:sp>
        <p:nvSpPr>
          <p:cNvPr id="72" name="Rectangle 71"/>
          <p:cNvSpPr/>
          <p:nvPr/>
        </p:nvSpPr>
        <p:spPr>
          <a:xfrm>
            <a:off x="5852160" y="3108960"/>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888736" y="3154680"/>
            <a:ext cx="2231136" cy="237744"/>
          </a:xfrm>
          <a:prstGeom prst="rect">
            <a:avLst/>
          </a:prstGeom>
          <a:noFill/>
        </p:spPr>
        <p:txBody>
          <a:bodyPr wrap="square">
            <a:spAutoFit/>
          </a:bodyPr>
          <a:lstStyle/>
          <a:p>
            <a:pPr algn="l"/>
            <a:r>
              <a:rPr sz="850" b="0" i="0">
                <a:solidFill>
                  <a:srgbClr val="0D2B55"/>
                </a:solidFill>
              </a:rPr>
              <a:t>5x Lockout</a:t>
            </a:r>
          </a:p>
        </p:txBody>
      </p:sp>
      <p:sp>
        <p:nvSpPr>
          <p:cNvPr id="74" name="Rectangle 73"/>
          <p:cNvSpPr/>
          <p:nvPr/>
        </p:nvSpPr>
        <p:spPr>
          <a:xfrm>
            <a:off x="8138160" y="3108960"/>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174736" y="3154680"/>
            <a:ext cx="722376" cy="237744"/>
          </a:xfrm>
          <a:prstGeom prst="rect">
            <a:avLst/>
          </a:prstGeom>
          <a:noFill/>
        </p:spPr>
        <p:txBody>
          <a:bodyPr wrap="square">
            <a:spAutoFit/>
          </a:bodyPr>
          <a:lstStyle/>
          <a:p>
            <a:pPr algn="l"/>
            <a:r>
              <a:rPr sz="850" b="1" i="0">
                <a:solidFill>
                  <a:srgbClr val="34A853"/>
                </a:solidFill>
              </a:rPr>
              <a:t>✅ PASS</a:t>
            </a:r>
          </a:p>
        </p:txBody>
      </p:sp>
      <p:sp>
        <p:nvSpPr>
          <p:cNvPr id="76" name="Rectangle 75"/>
          <p:cNvSpPr/>
          <p:nvPr/>
        </p:nvSpPr>
        <p:spPr>
          <a:xfrm>
            <a:off x="4846320" y="3447287"/>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882896" y="3493007"/>
            <a:ext cx="950976" cy="237744"/>
          </a:xfrm>
          <a:prstGeom prst="rect">
            <a:avLst/>
          </a:prstGeom>
          <a:noFill/>
        </p:spPr>
        <p:txBody>
          <a:bodyPr wrap="square">
            <a:spAutoFit/>
          </a:bodyPr>
          <a:lstStyle/>
          <a:p>
            <a:pPr algn="l"/>
            <a:r>
              <a:rPr sz="850" b="0" i="0">
                <a:solidFill>
                  <a:srgbClr val="0D2B55"/>
                </a:solidFill>
              </a:rPr>
              <a:t>TC-007</a:t>
            </a:r>
          </a:p>
        </p:txBody>
      </p:sp>
      <p:sp>
        <p:nvSpPr>
          <p:cNvPr id="78" name="Rectangle 77"/>
          <p:cNvSpPr/>
          <p:nvPr/>
        </p:nvSpPr>
        <p:spPr>
          <a:xfrm>
            <a:off x="5852160" y="3447287"/>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888736" y="3493007"/>
            <a:ext cx="2231136" cy="237744"/>
          </a:xfrm>
          <a:prstGeom prst="rect">
            <a:avLst/>
          </a:prstGeom>
          <a:noFill/>
        </p:spPr>
        <p:txBody>
          <a:bodyPr wrap="square">
            <a:spAutoFit/>
          </a:bodyPr>
          <a:lstStyle/>
          <a:p>
            <a:pPr algn="l"/>
            <a:r>
              <a:rPr sz="850" b="0" i="0">
                <a:solidFill>
                  <a:srgbClr val="0D2B55"/>
                </a:solidFill>
              </a:rPr>
              <a:t>Future Training</a:t>
            </a:r>
          </a:p>
        </p:txBody>
      </p:sp>
      <p:sp>
        <p:nvSpPr>
          <p:cNvPr id="80" name="Rectangle 79"/>
          <p:cNvSpPr/>
          <p:nvPr/>
        </p:nvSpPr>
        <p:spPr>
          <a:xfrm>
            <a:off x="8138160" y="3447287"/>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174736" y="3493007"/>
            <a:ext cx="722376" cy="237744"/>
          </a:xfrm>
          <a:prstGeom prst="rect">
            <a:avLst/>
          </a:prstGeom>
          <a:noFill/>
        </p:spPr>
        <p:txBody>
          <a:bodyPr wrap="square">
            <a:spAutoFit/>
          </a:bodyPr>
          <a:lstStyle/>
          <a:p>
            <a:pPr algn="l"/>
            <a:r>
              <a:rPr sz="850" b="1" i="0">
                <a:solidFill>
                  <a:srgbClr val="34A853"/>
                </a:solidFill>
              </a:rPr>
              <a:t>✅ PASS</a:t>
            </a:r>
          </a:p>
        </p:txBody>
      </p:sp>
      <p:sp>
        <p:nvSpPr>
          <p:cNvPr id="82" name="Rectangle 81"/>
          <p:cNvSpPr/>
          <p:nvPr/>
        </p:nvSpPr>
        <p:spPr>
          <a:xfrm>
            <a:off x="4846320" y="3785615"/>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882896" y="3831335"/>
            <a:ext cx="950976" cy="237744"/>
          </a:xfrm>
          <a:prstGeom prst="rect">
            <a:avLst/>
          </a:prstGeom>
          <a:noFill/>
        </p:spPr>
        <p:txBody>
          <a:bodyPr wrap="square">
            <a:spAutoFit/>
          </a:bodyPr>
          <a:lstStyle/>
          <a:p>
            <a:pPr algn="l"/>
            <a:r>
              <a:rPr sz="850" b="0" i="0">
                <a:solidFill>
                  <a:srgbClr val="0D2B55"/>
                </a:solidFill>
              </a:rPr>
              <a:t>TC-008</a:t>
            </a:r>
          </a:p>
        </p:txBody>
      </p:sp>
      <p:sp>
        <p:nvSpPr>
          <p:cNvPr id="84" name="Rectangle 83"/>
          <p:cNvSpPr/>
          <p:nvPr/>
        </p:nvSpPr>
        <p:spPr>
          <a:xfrm>
            <a:off x="5852160" y="3785615"/>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888736" y="3831335"/>
            <a:ext cx="2231136" cy="237744"/>
          </a:xfrm>
          <a:prstGeom prst="rect">
            <a:avLst/>
          </a:prstGeom>
          <a:noFill/>
        </p:spPr>
        <p:txBody>
          <a:bodyPr wrap="square">
            <a:spAutoFit/>
          </a:bodyPr>
          <a:lstStyle/>
          <a:p>
            <a:pPr algn="l"/>
            <a:r>
              <a:rPr sz="850" b="0" i="0">
                <a:solidFill>
                  <a:srgbClr val="0D2B55"/>
                </a:solidFill>
              </a:rPr>
              <a:t>Fast Pace</a:t>
            </a:r>
          </a:p>
        </p:txBody>
      </p:sp>
      <p:sp>
        <p:nvSpPr>
          <p:cNvPr id="86" name="Rectangle 85"/>
          <p:cNvSpPr/>
          <p:nvPr/>
        </p:nvSpPr>
        <p:spPr>
          <a:xfrm>
            <a:off x="8138160" y="3785615"/>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74736" y="3831335"/>
            <a:ext cx="722376" cy="237744"/>
          </a:xfrm>
          <a:prstGeom prst="rect">
            <a:avLst/>
          </a:prstGeom>
          <a:noFill/>
        </p:spPr>
        <p:txBody>
          <a:bodyPr wrap="square">
            <a:spAutoFit/>
          </a:bodyPr>
          <a:lstStyle/>
          <a:p>
            <a:pPr algn="l"/>
            <a:r>
              <a:rPr sz="850" b="1" i="0">
                <a:solidFill>
                  <a:srgbClr val="34A853"/>
                </a:solidFill>
              </a:rPr>
              <a:t>✅ PASS</a:t>
            </a:r>
          </a:p>
        </p:txBody>
      </p:sp>
      <p:sp>
        <p:nvSpPr>
          <p:cNvPr id="88" name="Rectangle 87"/>
          <p:cNvSpPr/>
          <p:nvPr/>
        </p:nvSpPr>
        <p:spPr>
          <a:xfrm>
            <a:off x="4846320" y="4123944"/>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882896" y="4169664"/>
            <a:ext cx="950976" cy="237744"/>
          </a:xfrm>
          <a:prstGeom prst="rect">
            <a:avLst/>
          </a:prstGeom>
          <a:noFill/>
        </p:spPr>
        <p:txBody>
          <a:bodyPr wrap="square">
            <a:spAutoFit/>
          </a:bodyPr>
          <a:lstStyle/>
          <a:p>
            <a:pPr algn="l"/>
            <a:r>
              <a:rPr sz="850" b="0" i="0">
                <a:solidFill>
                  <a:srgbClr val="0D2B55"/>
                </a:solidFill>
              </a:rPr>
              <a:t>TC-009</a:t>
            </a:r>
          </a:p>
        </p:txBody>
      </p:sp>
      <p:sp>
        <p:nvSpPr>
          <p:cNvPr id="90" name="Rectangle 89"/>
          <p:cNvSpPr/>
          <p:nvPr/>
        </p:nvSpPr>
        <p:spPr>
          <a:xfrm>
            <a:off x="5852160" y="4123944"/>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888736" y="4169664"/>
            <a:ext cx="2231136" cy="237744"/>
          </a:xfrm>
          <a:prstGeom prst="rect">
            <a:avLst/>
          </a:prstGeom>
          <a:noFill/>
        </p:spPr>
        <p:txBody>
          <a:bodyPr wrap="square">
            <a:spAutoFit/>
          </a:bodyPr>
          <a:lstStyle/>
          <a:p>
            <a:pPr algn="l"/>
            <a:r>
              <a:rPr sz="850" b="0" i="0">
                <a:solidFill>
                  <a:srgbClr val="0D2B55"/>
                </a:solidFill>
              </a:rPr>
              <a:t>10x Outlier Flag</a:t>
            </a:r>
          </a:p>
        </p:txBody>
      </p:sp>
      <p:sp>
        <p:nvSpPr>
          <p:cNvPr id="92" name="Rectangle 91"/>
          <p:cNvSpPr/>
          <p:nvPr/>
        </p:nvSpPr>
        <p:spPr>
          <a:xfrm>
            <a:off x="8138160" y="4123944"/>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174736" y="4169664"/>
            <a:ext cx="722376" cy="237744"/>
          </a:xfrm>
          <a:prstGeom prst="rect">
            <a:avLst/>
          </a:prstGeom>
          <a:noFill/>
        </p:spPr>
        <p:txBody>
          <a:bodyPr wrap="square">
            <a:spAutoFit/>
          </a:bodyPr>
          <a:lstStyle/>
          <a:p>
            <a:pPr algn="l"/>
            <a:r>
              <a:rPr sz="850" b="1" i="0">
                <a:solidFill>
                  <a:srgbClr val="34A853"/>
                </a:solidFill>
              </a:rPr>
              <a:t>✅ PASS</a:t>
            </a:r>
          </a:p>
        </p:txBody>
      </p:sp>
      <p:sp>
        <p:nvSpPr>
          <p:cNvPr id="94" name="Rectangle 93"/>
          <p:cNvSpPr/>
          <p:nvPr/>
        </p:nvSpPr>
        <p:spPr>
          <a:xfrm>
            <a:off x="4846320" y="4462272"/>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882896" y="4507992"/>
            <a:ext cx="950976" cy="237744"/>
          </a:xfrm>
          <a:prstGeom prst="rect">
            <a:avLst/>
          </a:prstGeom>
          <a:noFill/>
        </p:spPr>
        <p:txBody>
          <a:bodyPr wrap="square">
            <a:spAutoFit/>
          </a:bodyPr>
          <a:lstStyle/>
          <a:p>
            <a:pPr algn="l"/>
            <a:r>
              <a:rPr sz="850" b="0" i="0">
                <a:solidFill>
                  <a:srgbClr val="0D2B55"/>
                </a:solidFill>
              </a:rPr>
              <a:t>TC-010</a:t>
            </a:r>
          </a:p>
        </p:txBody>
      </p:sp>
      <p:sp>
        <p:nvSpPr>
          <p:cNvPr id="96" name="Rectangle 95"/>
          <p:cNvSpPr/>
          <p:nvPr/>
        </p:nvSpPr>
        <p:spPr>
          <a:xfrm>
            <a:off x="5852160" y="4462272"/>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888736" y="4507992"/>
            <a:ext cx="2231136" cy="237744"/>
          </a:xfrm>
          <a:prstGeom prst="rect">
            <a:avLst/>
          </a:prstGeom>
          <a:noFill/>
        </p:spPr>
        <p:txBody>
          <a:bodyPr wrap="square">
            <a:spAutoFit/>
          </a:bodyPr>
          <a:lstStyle/>
          <a:p>
            <a:pPr algn="l"/>
            <a:r>
              <a:rPr sz="850" b="0" i="0">
                <a:solidFill>
                  <a:srgbClr val="0D2B55"/>
                </a:solidFill>
              </a:rPr>
              <a:t>&lt;5 Logs Eligibility</a:t>
            </a:r>
          </a:p>
        </p:txBody>
      </p:sp>
      <p:sp>
        <p:nvSpPr>
          <p:cNvPr id="98" name="Rectangle 97"/>
          <p:cNvSpPr/>
          <p:nvPr/>
        </p:nvSpPr>
        <p:spPr>
          <a:xfrm>
            <a:off x="8138160" y="4462272"/>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74736" y="4507992"/>
            <a:ext cx="722376" cy="237744"/>
          </a:xfrm>
          <a:prstGeom prst="rect">
            <a:avLst/>
          </a:prstGeom>
          <a:noFill/>
        </p:spPr>
        <p:txBody>
          <a:bodyPr wrap="square">
            <a:spAutoFit/>
          </a:bodyPr>
          <a:lstStyle/>
          <a:p>
            <a:pPr algn="l"/>
            <a:r>
              <a:rPr sz="850" b="1" i="0">
                <a:solidFill>
                  <a:srgbClr val="34A853"/>
                </a:solidFill>
              </a:rPr>
              <a:t>✅ PASS</a:t>
            </a:r>
          </a:p>
        </p:txBody>
      </p:sp>
      <p:sp>
        <p:nvSpPr>
          <p:cNvPr id="100" name="Rectangle 99"/>
          <p:cNvSpPr/>
          <p:nvPr/>
        </p:nvSpPr>
        <p:spPr>
          <a:xfrm>
            <a:off x="4846320" y="4800600"/>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882896" y="4846320"/>
            <a:ext cx="950976" cy="237744"/>
          </a:xfrm>
          <a:prstGeom prst="rect">
            <a:avLst/>
          </a:prstGeom>
          <a:noFill/>
        </p:spPr>
        <p:txBody>
          <a:bodyPr wrap="square">
            <a:spAutoFit/>
          </a:bodyPr>
          <a:lstStyle/>
          <a:p>
            <a:pPr algn="l"/>
            <a:r>
              <a:rPr sz="850" b="0" i="0">
                <a:solidFill>
                  <a:srgbClr val="0D2B55"/>
                </a:solidFill>
              </a:rPr>
              <a:t>TC-011</a:t>
            </a:r>
          </a:p>
        </p:txBody>
      </p:sp>
      <p:sp>
        <p:nvSpPr>
          <p:cNvPr id="102" name="Rectangle 101"/>
          <p:cNvSpPr/>
          <p:nvPr/>
        </p:nvSpPr>
        <p:spPr>
          <a:xfrm>
            <a:off x="5852160" y="4800600"/>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888736" y="4846320"/>
            <a:ext cx="2231136" cy="237744"/>
          </a:xfrm>
          <a:prstGeom prst="rect">
            <a:avLst/>
          </a:prstGeom>
          <a:noFill/>
        </p:spPr>
        <p:txBody>
          <a:bodyPr wrap="square">
            <a:spAutoFit/>
          </a:bodyPr>
          <a:lstStyle/>
          <a:p>
            <a:pPr algn="l"/>
            <a:r>
              <a:rPr sz="850" b="0" i="0">
                <a:solidFill>
                  <a:srgbClr val="0D2B55"/>
                </a:solidFill>
              </a:rPr>
              <a:t>Double Booking</a:t>
            </a:r>
          </a:p>
        </p:txBody>
      </p:sp>
      <p:sp>
        <p:nvSpPr>
          <p:cNvPr id="104" name="Rectangle 103"/>
          <p:cNvSpPr/>
          <p:nvPr/>
        </p:nvSpPr>
        <p:spPr>
          <a:xfrm>
            <a:off x="8138160" y="4800600"/>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74736" y="4846320"/>
            <a:ext cx="722376" cy="237744"/>
          </a:xfrm>
          <a:prstGeom prst="rect">
            <a:avLst/>
          </a:prstGeom>
          <a:noFill/>
        </p:spPr>
        <p:txBody>
          <a:bodyPr wrap="square">
            <a:spAutoFit/>
          </a:bodyPr>
          <a:lstStyle/>
          <a:p>
            <a:pPr algn="l"/>
            <a:r>
              <a:rPr sz="850" b="1" i="0">
                <a:solidFill>
                  <a:srgbClr val="34A853"/>
                </a:solidFill>
              </a:rPr>
              <a:t>✅ PASS</a:t>
            </a:r>
          </a:p>
        </p:txBody>
      </p:sp>
      <p:sp>
        <p:nvSpPr>
          <p:cNvPr id="106" name="Rectangle 105"/>
          <p:cNvSpPr/>
          <p:nvPr/>
        </p:nvSpPr>
        <p:spPr>
          <a:xfrm>
            <a:off x="4846320" y="5138928"/>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882896" y="5184648"/>
            <a:ext cx="950976" cy="237744"/>
          </a:xfrm>
          <a:prstGeom prst="rect">
            <a:avLst/>
          </a:prstGeom>
          <a:noFill/>
        </p:spPr>
        <p:txBody>
          <a:bodyPr wrap="square">
            <a:spAutoFit/>
          </a:bodyPr>
          <a:lstStyle/>
          <a:p>
            <a:pPr algn="l"/>
            <a:r>
              <a:rPr sz="850" b="0" i="0">
                <a:solidFill>
                  <a:srgbClr val="0D2B55"/>
                </a:solidFill>
              </a:rPr>
              <a:t>TC-012</a:t>
            </a:r>
          </a:p>
        </p:txBody>
      </p:sp>
      <p:sp>
        <p:nvSpPr>
          <p:cNvPr id="108" name="Rectangle 107"/>
          <p:cNvSpPr/>
          <p:nvPr/>
        </p:nvSpPr>
        <p:spPr>
          <a:xfrm>
            <a:off x="5852160" y="5138928"/>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888736" y="5184648"/>
            <a:ext cx="2231136" cy="237744"/>
          </a:xfrm>
          <a:prstGeom prst="rect">
            <a:avLst/>
          </a:prstGeom>
          <a:noFill/>
        </p:spPr>
        <p:txBody>
          <a:bodyPr wrap="square">
            <a:spAutoFit/>
          </a:bodyPr>
          <a:lstStyle/>
          <a:p>
            <a:pPr algn="l"/>
            <a:r>
              <a:rPr sz="850" b="0" i="0">
                <a:solidFill>
                  <a:srgbClr val="0D2B55"/>
                </a:solidFill>
              </a:rPr>
              <a:t>Late Penalty</a:t>
            </a:r>
          </a:p>
        </p:txBody>
      </p:sp>
      <p:sp>
        <p:nvSpPr>
          <p:cNvPr id="110" name="Rectangle 109"/>
          <p:cNvSpPr/>
          <p:nvPr/>
        </p:nvSpPr>
        <p:spPr>
          <a:xfrm>
            <a:off x="8138160" y="5138928"/>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174736" y="5184648"/>
            <a:ext cx="722376" cy="237744"/>
          </a:xfrm>
          <a:prstGeom prst="rect">
            <a:avLst/>
          </a:prstGeom>
          <a:noFill/>
        </p:spPr>
        <p:txBody>
          <a:bodyPr wrap="square">
            <a:spAutoFit/>
          </a:bodyPr>
          <a:lstStyle/>
          <a:p>
            <a:pPr algn="l"/>
            <a:r>
              <a:rPr sz="850" b="1" i="0">
                <a:solidFill>
                  <a:srgbClr val="34A853"/>
                </a:solidFill>
              </a:rPr>
              <a:t>✅ PASS</a:t>
            </a:r>
          </a:p>
        </p:txBody>
      </p:sp>
      <p:sp>
        <p:nvSpPr>
          <p:cNvPr id="112" name="Rectangle 111"/>
          <p:cNvSpPr/>
          <p:nvPr/>
        </p:nvSpPr>
        <p:spPr>
          <a:xfrm>
            <a:off x="4846320" y="5477255"/>
            <a:ext cx="10058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882896" y="5522975"/>
            <a:ext cx="950976" cy="237744"/>
          </a:xfrm>
          <a:prstGeom prst="rect">
            <a:avLst/>
          </a:prstGeom>
          <a:noFill/>
        </p:spPr>
        <p:txBody>
          <a:bodyPr wrap="square">
            <a:spAutoFit/>
          </a:bodyPr>
          <a:lstStyle/>
          <a:p>
            <a:pPr algn="l"/>
            <a:r>
              <a:rPr sz="850" b="0" i="0">
                <a:solidFill>
                  <a:srgbClr val="0D2B55"/>
                </a:solidFill>
              </a:rPr>
              <a:t>TC-013</a:t>
            </a:r>
          </a:p>
        </p:txBody>
      </p:sp>
      <p:sp>
        <p:nvSpPr>
          <p:cNvPr id="114" name="Rectangle 113"/>
          <p:cNvSpPr/>
          <p:nvPr/>
        </p:nvSpPr>
        <p:spPr>
          <a:xfrm>
            <a:off x="5852160" y="5477255"/>
            <a:ext cx="228600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888736" y="5522975"/>
            <a:ext cx="2231136" cy="237744"/>
          </a:xfrm>
          <a:prstGeom prst="rect">
            <a:avLst/>
          </a:prstGeom>
          <a:noFill/>
        </p:spPr>
        <p:txBody>
          <a:bodyPr wrap="square">
            <a:spAutoFit/>
          </a:bodyPr>
          <a:lstStyle/>
          <a:p>
            <a:pPr algn="l"/>
            <a:r>
              <a:rPr sz="850" b="0" i="0">
                <a:solidFill>
                  <a:srgbClr val="0D2B55"/>
                </a:solidFill>
              </a:rPr>
              <a:t>Spam Detection</a:t>
            </a:r>
          </a:p>
        </p:txBody>
      </p:sp>
      <p:sp>
        <p:nvSpPr>
          <p:cNvPr id="116" name="Rectangle 115"/>
          <p:cNvSpPr/>
          <p:nvPr/>
        </p:nvSpPr>
        <p:spPr>
          <a:xfrm>
            <a:off x="8138160" y="5477255"/>
            <a:ext cx="777240" cy="329184"/>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74736" y="5522975"/>
            <a:ext cx="722376" cy="237744"/>
          </a:xfrm>
          <a:prstGeom prst="rect">
            <a:avLst/>
          </a:prstGeom>
          <a:noFill/>
        </p:spPr>
        <p:txBody>
          <a:bodyPr wrap="square">
            <a:spAutoFit/>
          </a:bodyPr>
          <a:lstStyle/>
          <a:p>
            <a:pPr algn="l"/>
            <a:r>
              <a:rPr sz="850" b="1" i="0">
                <a:solidFill>
                  <a:srgbClr val="34A853"/>
                </a:solidFill>
              </a:rPr>
              <a:t>✅ PASS</a:t>
            </a:r>
          </a:p>
        </p:txBody>
      </p:sp>
      <p:sp>
        <p:nvSpPr>
          <p:cNvPr id="118" name="Rectangle 117"/>
          <p:cNvSpPr/>
          <p:nvPr/>
        </p:nvSpPr>
        <p:spPr>
          <a:xfrm>
            <a:off x="4846320" y="5815583"/>
            <a:ext cx="10058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82896" y="5861303"/>
            <a:ext cx="950976" cy="237744"/>
          </a:xfrm>
          <a:prstGeom prst="rect">
            <a:avLst/>
          </a:prstGeom>
          <a:noFill/>
        </p:spPr>
        <p:txBody>
          <a:bodyPr wrap="square">
            <a:spAutoFit/>
          </a:bodyPr>
          <a:lstStyle/>
          <a:p>
            <a:pPr algn="l"/>
            <a:r>
              <a:rPr sz="850" b="0" i="0">
                <a:solidFill>
                  <a:srgbClr val="0D2B55"/>
                </a:solidFill>
              </a:rPr>
              <a:t>TC-014</a:t>
            </a:r>
          </a:p>
        </p:txBody>
      </p:sp>
      <p:sp>
        <p:nvSpPr>
          <p:cNvPr id="120" name="Rectangle 119"/>
          <p:cNvSpPr/>
          <p:nvPr/>
        </p:nvSpPr>
        <p:spPr>
          <a:xfrm>
            <a:off x="5852160" y="5815583"/>
            <a:ext cx="228600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888736" y="5861303"/>
            <a:ext cx="2231136" cy="237744"/>
          </a:xfrm>
          <a:prstGeom prst="rect">
            <a:avLst/>
          </a:prstGeom>
          <a:noFill/>
        </p:spPr>
        <p:txBody>
          <a:bodyPr wrap="square">
            <a:spAutoFit/>
          </a:bodyPr>
          <a:lstStyle/>
          <a:p>
            <a:pPr algn="l"/>
            <a:r>
              <a:rPr sz="850" b="0" i="0">
                <a:solidFill>
                  <a:srgbClr val="0D2B55"/>
                </a:solidFill>
              </a:rPr>
              <a:t>URL Routing</a:t>
            </a:r>
          </a:p>
        </p:txBody>
      </p:sp>
      <p:sp>
        <p:nvSpPr>
          <p:cNvPr id="122" name="Rectangle 121"/>
          <p:cNvSpPr/>
          <p:nvPr/>
        </p:nvSpPr>
        <p:spPr>
          <a:xfrm>
            <a:off x="8138160" y="5815583"/>
            <a:ext cx="777240" cy="329184"/>
          </a:xfrm>
          <a:prstGeom prst="rect">
            <a:avLst/>
          </a:prstGeom>
          <a:solidFill>
            <a:srgbClr val="E8F0FE"/>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74736" y="5861303"/>
            <a:ext cx="722376" cy="237744"/>
          </a:xfrm>
          <a:prstGeom prst="rect">
            <a:avLst/>
          </a:prstGeom>
          <a:noFill/>
        </p:spPr>
        <p:txBody>
          <a:bodyPr wrap="square">
            <a:spAutoFit/>
          </a:bodyPr>
          <a:lstStyle/>
          <a:p>
            <a:pPr algn="l"/>
            <a:r>
              <a:rPr sz="850" b="1" i="0">
                <a:solidFill>
                  <a:srgbClr val="34A853"/>
                </a:solidFill>
              </a:rPr>
              <a:t>✅ PASS</a:t>
            </a:r>
          </a:p>
        </p:txBody>
      </p:sp>
      <p:sp>
        <p:nvSpPr>
          <p:cNvPr id="124" name="Rectangle 123"/>
          <p:cNvSpPr/>
          <p:nvPr/>
        </p:nvSpPr>
        <p:spPr>
          <a:xfrm>
            <a:off x="8275320" y="1161288"/>
            <a:ext cx="3657600" cy="5394960"/>
          </a:xfrm>
          <a:prstGeom prst="rect">
            <a:avLst/>
          </a:prstGeom>
          <a:solidFill>
            <a:srgbClr val="FFFFFF"/>
          </a:solidFill>
          <a:ln>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366760" y="1261872"/>
            <a:ext cx="3474720" cy="274320"/>
          </a:xfrm>
          <a:prstGeom prst="rect">
            <a:avLst/>
          </a:prstGeom>
          <a:noFill/>
        </p:spPr>
        <p:txBody>
          <a:bodyPr wrap="square">
            <a:spAutoFit/>
          </a:bodyPr>
          <a:lstStyle/>
          <a:p>
            <a:pPr algn="l"/>
            <a:r>
              <a:rPr sz="1100" b="1" i="0">
                <a:solidFill>
                  <a:srgbClr val="0D2B55"/>
                </a:solidFill>
              </a:rPr>
              <a:t>📊  RESULTS</a:t>
            </a:r>
          </a:p>
        </p:txBody>
      </p:sp>
      <p:sp>
        <p:nvSpPr>
          <p:cNvPr id="126" name="TextBox 125"/>
          <p:cNvSpPr txBox="1"/>
          <p:nvPr/>
        </p:nvSpPr>
        <p:spPr>
          <a:xfrm>
            <a:off x="8366760" y="1600200"/>
            <a:ext cx="1828800" cy="274320"/>
          </a:xfrm>
          <a:prstGeom prst="rect">
            <a:avLst/>
          </a:prstGeom>
          <a:noFill/>
        </p:spPr>
        <p:txBody>
          <a:bodyPr wrap="square">
            <a:spAutoFit/>
          </a:bodyPr>
          <a:lstStyle/>
          <a:p>
            <a:pPr algn="l"/>
            <a:r>
              <a:rPr sz="1000" b="0" i="0">
                <a:solidFill>
                  <a:srgbClr val="0D2B55"/>
                </a:solidFill>
              </a:rPr>
              <a:t>Automated Tests</a:t>
            </a:r>
          </a:p>
        </p:txBody>
      </p:sp>
      <p:sp>
        <p:nvSpPr>
          <p:cNvPr id="127" name="TextBox 126"/>
          <p:cNvSpPr txBox="1"/>
          <p:nvPr/>
        </p:nvSpPr>
        <p:spPr>
          <a:xfrm>
            <a:off x="9601200" y="1600200"/>
            <a:ext cx="2286000" cy="274320"/>
          </a:xfrm>
          <a:prstGeom prst="rect">
            <a:avLst/>
          </a:prstGeom>
          <a:noFill/>
        </p:spPr>
        <p:txBody>
          <a:bodyPr wrap="square">
            <a:spAutoFit/>
          </a:bodyPr>
          <a:lstStyle/>
          <a:p>
            <a:pPr algn="l"/>
            <a:r>
              <a:rPr sz="1100" b="1" i="0">
                <a:solidFill>
                  <a:srgbClr val="34A853"/>
                </a:solidFill>
              </a:rPr>
              <a:t>14/14 ✅</a:t>
            </a:r>
          </a:p>
        </p:txBody>
      </p:sp>
      <p:sp>
        <p:nvSpPr>
          <p:cNvPr id="128" name="TextBox 127"/>
          <p:cNvSpPr txBox="1"/>
          <p:nvPr/>
        </p:nvSpPr>
        <p:spPr>
          <a:xfrm>
            <a:off x="8366760" y="2423160"/>
            <a:ext cx="1828800" cy="274320"/>
          </a:xfrm>
          <a:prstGeom prst="rect">
            <a:avLst/>
          </a:prstGeom>
          <a:noFill/>
        </p:spPr>
        <p:txBody>
          <a:bodyPr wrap="square">
            <a:spAutoFit/>
          </a:bodyPr>
          <a:lstStyle/>
          <a:p>
            <a:pPr algn="l"/>
            <a:r>
              <a:rPr sz="1000" b="0" i="0">
                <a:solidFill>
                  <a:srgbClr val="0D2B55"/>
                </a:solidFill>
              </a:rPr>
              <a:t>Manual Tests</a:t>
            </a:r>
          </a:p>
        </p:txBody>
      </p:sp>
      <p:sp>
        <p:nvSpPr>
          <p:cNvPr id="129" name="TextBox 128"/>
          <p:cNvSpPr txBox="1"/>
          <p:nvPr/>
        </p:nvSpPr>
        <p:spPr>
          <a:xfrm>
            <a:off x="9601200" y="2423160"/>
            <a:ext cx="2286000" cy="274320"/>
          </a:xfrm>
          <a:prstGeom prst="rect">
            <a:avLst/>
          </a:prstGeom>
          <a:noFill/>
        </p:spPr>
        <p:txBody>
          <a:bodyPr wrap="square">
            <a:spAutoFit/>
          </a:bodyPr>
          <a:lstStyle/>
          <a:p>
            <a:pPr algn="l"/>
            <a:r>
              <a:rPr sz="1100" b="1" i="0">
                <a:solidFill>
                  <a:srgbClr val="34A853"/>
                </a:solidFill>
              </a:rPr>
              <a:t>28/28 ✅</a:t>
            </a:r>
          </a:p>
        </p:txBody>
      </p:sp>
      <p:sp>
        <p:nvSpPr>
          <p:cNvPr id="130" name="TextBox 129"/>
          <p:cNvSpPr txBox="1"/>
          <p:nvPr/>
        </p:nvSpPr>
        <p:spPr>
          <a:xfrm>
            <a:off x="8366760" y="3246120"/>
            <a:ext cx="1828800" cy="274320"/>
          </a:xfrm>
          <a:prstGeom prst="rect">
            <a:avLst/>
          </a:prstGeom>
          <a:noFill/>
        </p:spPr>
        <p:txBody>
          <a:bodyPr wrap="square">
            <a:spAutoFit/>
          </a:bodyPr>
          <a:lstStyle/>
          <a:p>
            <a:pPr algn="l"/>
            <a:r>
              <a:rPr sz="1000" b="0" i="0">
                <a:solidFill>
                  <a:srgbClr val="0D2B55"/>
                </a:solidFill>
              </a:rPr>
              <a:t>Compilation</a:t>
            </a:r>
          </a:p>
        </p:txBody>
      </p:sp>
      <p:sp>
        <p:nvSpPr>
          <p:cNvPr id="131" name="TextBox 130"/>
          <p:cNvSpPr txBox="1"/>
          <p:nvPr/>
        </p:nvSpPr>
        <p:spPr>
          <a:xfrm>
            <a:off x="9601200" y="3246120"/>
            <a:ext cx="2286000" cy="274320"/>
          </a:xfrm>
          <a:prstGeom prst="rect">
            <a:avLst/>
          </a:prstGeom>
          <a:noFill/>
        </p:spPr>
        <p:txBody>
          <a:bodyPr wrap="square">
            <a:spAutoFit/>
          </a:bodyPr>
          <a:lstStyle/>
          <a:p>
            <a:pPr algn="l"/>
            <a:r>
              <a:rPr sz="1100" b="1" i="0">
                <a:solidFill>
                  <a:srgbClr val="34A853"/>
                </a:solidFill>
              </a:rPr>
              <a:t>0 errors ✅</a:t>
            </a:r>
          </a:p>
        </p:txBody>
      </p:sp>
      <p:sp>
        <p:nvSpPr>
          <p:cNvPr id="132" name="TextBox 131"/>
          <p:cNvSpPr txBox="1"/>
          <p:nvPr/>
        </p:nvSpPr>
        <p:spPr>
          <a:xfrm>
            <a:off x="8366760" y="4069080"/>
            <a:ext cx="1828800" cy="274320"/>
          </a:xfrm>
          <a:prstGeom prst="rect">
            <a:avLst/>
          </a:prstGeom>
          <a:noFill/>
        </p:spPr>
        <p:txBody>
          <a:bodyPr wrap="square">
            <a:spAutoFit/>
          </a:bodyPr>
          <a:lstStyle/>
          <a:p>
            <a:pPr algn="l"/>
            <a:r>
              <a:rPr sz="1000" b="0" i="0">
                <a:solidFill>
                  <a:srgbClr val="0D2B55"/>
                </a:solidFill>
              </a:rPr>
              <a:t>Runtime Crashes</a:t>
            </a:r>
          </a:p>
        </p:txBody>
      </p:sp>
      <p:sp>
        <p:nvSpPr>
          <p:cNvPr id="133" name="TextBox 132"/>
          <p:cNvSpPr txBox="1"/>
          <p:nvPr/>
        </p:nvSpPr>
        <p:spPr>
          <a:xfrm>
            <a:off x="9601200" y="4069080"/>
            <a:ext cx="2286000" cy="274320"/>
          </a:xfrm>
          <a:prstGeom prst="rect">
            <a:avLst/>
          </a:prstGeom>
          <a:noFill/>
        </p:spPr>
        <p:txBody>
          <a:bodyPr wrap="square">
            <a:spAutoFit/>
          </a:bodyPr>
          <a:lstStyle/>
          <a:p>
            <a:pPr algn="l"/>
            <a:r>
              <a:rPr sz="1100" b="1" i="0">
                <a:solidFill>
                  <a:srgbClr val="34A853"/>
                </a:solidFill>
              </a:rPr>
              <a:t>0 ✅</a:t>
            </a:r>
          </a:p>
        </p:txBody>
      </p:sp>
      <p:sp>
        <p:nvSpPr>
          <p:cNvPr id="134" name="TextBox 133"/>
          <p:cNvSpPr txBox="1"/>
          <p:nvPr/>
        </p:nvSpPr>
        <p:spPr>
          <a:xfrm>
            <a:off x="8366760" y="4892040"/>
            <a:ext cx="1828800" cy="274320"/>
          </a:xfrm>
          <a:prstGeom prst="rect">
            <a:avLst/>
          </a:prstGeom>
          <a:noFill/>
        </p:spPr>
        <p:txBody>
          <a:bodyPr wrap="square">
            <a:spAutoFit/>
          </a:bodyPr>
          <a:lstStyle/>
          <a:p>
            <a:pPr algn="l"/>
            <a:r>
              <a:rPr sz="1000" b="0" i="0">
                <a:solidFill>
                  <a:srgbClr val="0D2B55"/>
                </a:solidFill>
              </a:rPr>
              <a:t>Defects Fixed</a:t>
            </a:r>
          </a:p>
        </p:txBody>
      </p:sp>
      <p:sp>
        <p:nvSpPr>
          <p:cNvPr id="135" name="TextBox 134"/>
          <p:cNvSpPr txBox="1"/>
          <p:nvPr/>
        </p:nvSpPr>
        <p:spPr>
          <a:xfrm>
            <a:off x="9601200" y="4892040"/>
            <a:ext cx="2286000" cy="274320"/>
          </a:xfrm>
          <a:prstGeom prst="rect">
            <a:avLst/>
          </a:prstGeom>
          <a:noFill/>
        </p:spPr>
        <p:txBody>
          <a:bodyPr wrap="square">
            <a:spAutoFit/>
          </a:bodyPr>
          <a:lstStyle/>
          <a:p>
            <a:pPr algn="l"/>
            <a:r>
              <a:rPr sz="1100" b="1" i="0">
                <a:solidFill>
                  <a:srgbClr val="34A853"/>
                </a:solidFill>
              </a:rPr>
              <a:t>1 (DA-001) ✅</a:t>
            </a:r>
          </a:p>
        </p:txBody>
      </p:sp>
      <p:sp>
        <p:nvSpPr>
          <p:cNvPr id="136" name="TextBox 135"/>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Defect Analysis &amp; Prevention</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How the project guards against common bugs</a:t>
            </a:r>
          </a:p>
        </p:txBody>
      </p:sp>
      <p:sp>
        <p:nvSpPr>
          <p:cNvPr id="6" name="Rectangle 5"/>
          <p:cNvSpPr/>
          <p:nvPr/>
        </p:nvSpPr>
        <p:spPr>
          <a:xfrm>
            <a:off x="228600" y="118872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1243584"/>
            <a:ext cx="4114800" cy="256032"/>
          </a:xfrm>
          <a:prstGeom prst="rect">
            <a:avLst/>
          </a:prstGeom>
          <a:noFill/>
        </p:spPr>
        <p:txBody>
          <a:bodyPr wrap="square">
            <a:spAutoFit/>
          </a:bodyPr>
          <a:lstStyle/>
          <a:p>
            <a:pPr algn="l"/>
            <a:r>
              <a:rPr sz="1100" b="1" i="0">
                <a:solidFill>
                  <a:srgbClr val="FFFFFF"/>
                </a:solidFill>
              </a:rPr>
              <a:t>🚫 Duplicate Email</a:t>
            </a:r>
          </a:p>
        </p:txBody>
      </p:sp>
      <p:sp>
        <p:nvSpPr>
          <p:cNvPr id="8" name="Rectangle 7"/>
          <p:cNvSpPr/>
          <p:nvPr/>
        </p:nvSpPr>
        <p:spPr>
          <a:xfrm>
            <a:off x="4892040" y="122529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243584"/>
            <a:ext cx="960120" cy="219456"/>
          </a:xfrm>
          <a:prstGeom prst="rect">
            <a:avLst/>
          </a:prstGeom>
          <a:noFill/>
        </p:spPr>
        <p:txBody>
          <a:bodyPr wrap="square">
            <a:spAutoFit/>
          </a:bodyPr>
          <a:lstStyle/>
          <a:p>
            <a:pPr algn="ctr"/>
            <a:r>
              <a:rPr sz="850" b="1" i="0">
                <a:solidFill>
                  <a:srgbClr val="34A853"/>
                </a:solidFill>
              </a:rPr>
              <a:t>Prevented</a:t>
            </a:r>
          </a:p>
        </p:txBody>
      </p:sp>
      <p:sp>
        <p:nvSpPr>
          <p:cNvPr id="10" name="Rectangle 9"/>
          <p:cNvSpPr/>
          <p:nvPr/>
        </p:nvSpPr>
        <p:spPr>
          <a:xfrm>
            <a:off x="228600" y="153619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600200"/>
            <a:ext cx="5623560" cy="777240"/>
          </a:xfrm>
          <a:prstGeom prst="rect">
            <a:avLst/>
          </a:prstGeom>
          <a:noFill/>
        </p:spPr>
        <p:txBody>
          <a:bodyPr wrap="square">
            <a:spAutoFit/>
          </a:bodyPr>
          <a:lstStyle/>
          <a:p>
            <a:pPr algn="l"/>
            <a:r>
              <a:rPr sz="950" b="0" i="0">
                <a:solidFill>
                  <a:srgbClr val="0D2B55"/>
                </a:solidFill>
              </a:rPr>
              <a:t>usedEmails.contains(email) checked before creating account.
HashSet guarantees O(1) duplicate detection.</a:t>
            </a:r>
          </a:p>
        </p:txBody>
      </p:sp>
      <p:sp>
        <p:nvSpPr>
          <p:cNvPr id="12" name="Rectangle 11"/>
          <p:cNvSpPr/>
          <p:nvPr/>
        </p:nvSpPr>
        <p:spPr>
          <a:xfrm>
            <a:off x="6217920" y="118872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243584"/>
            <a:ext cx="4114800" cy="256032"/>
          </a:xfrm>
          <a:prstGeom prst="rect">
            <a:avLst/>
          </a:prstGeom>
          <a:noFill/>
        </p:spPr>
        <p:txBody>
          <a:bodyPr wrap="square">
            <a:spAutoFit/>
          </a:bodyPr>
          <a:lstStyle/>
          <a:p>
            <a:pPr algn="l"/>
            <a:r>
              <a:rPr sz="1100" b="1" i="0">
                <a:solidFill>
                  <a:srgbClr val="FFFFFF"/>
                </a:solidFill>
              </a:rPr>
              <a:t>🔑 Wrong Password</a:t>
            </a:r>
          </a:p>
        </p:txBody>
      </p:sp>
      <p:sp>
        <p:nvSpPr>
          <p:cNvPr id="14" name="Rectangle 13"/>
          <p:cNvSpPr/>
          <p:nvPr/>
        </p:nvSpPr>
        <p:spPr>
          <a:xfrm>
            <a:off x="10881360" y="122529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27080" y="1243584"/>
            <a:ext cx="960120" cy="219456"/>
          </a:xfrm>
          <a:prstGeom prst="rect">
            <a:avLst/>
          </a:prstGeom>
          <a:noFill/>
        </p:spPr>
        <p:txBody>
          <a:bodyPr wrap="square">
            <a:spAutoFit/>
          </a:bodyPr>
          <a:lstStyle/>
          <a:p>
            <a:pPr algn="ctr"/>
            <a:r>
              <a:rPr sz="850" b="1" i="0">
                <a:solidFill>
                  <a:srgbClr val="34A853"/>
                </a:solidFill>
              </a:rPr>
              <a:t>Prevented</a:t>
            </a:r>
          </a:p>
        </p:txBody>
      </p:sp>
      <p:sp>
        <p:nvSpPr>
          <p:cNvPr id="16" name="Rectangle 15"/>
          <p:cNvSpPr/>
          <p:nvPr/>
        </p:nvSpPr>
        <p:spPr>
          <a:xfrm>
            <a:off x="6217920" y="153619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600200"/>
            <a:ext cx="5623560" cy="777240"/>
          </a:xfrm>
          <a:prstGeom prst="rect">
            <a:avLst/>
          </a:prstGeom>
          <a:noFill/>
        </p:spPr>
        <p:txBody>
          <a:bodyPr wrap="square">
            <a:spAutoFit/>
          </a:bodyPr>
          <a:lstStyle/>
          <a:p>
            <a:pPr algn="l"/>
            <a:r>
              <a:rPr sz="950" b="0" i="0">
                <a:solidFill>
                  <a:srgbClr val="0D2B55"/>
                </a:solidFill>
              </a:rPr>
              <a:t>failedAttempts counter incremented on each failure.
5 failures → 30-min lockout via lockedUntil timestamp.</a:t>
            </a:r>
          </a:p>
        </p:txBody>
      </p:sp>
      <p:sp>
        <p:nvSpPr>
          <p:cNvPr id="18" name="Rectangle 17"/>
          <p:cNvSpPr/>
          <p:nvPr/>
        </p:nvSpPr>
        <p:spPr>
          <a:xfrm>
            <a:off x="228600" y="251460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 y="2569464"/>
            <a:ext cx="4114800" cy="256032"/>
          </a:xfrm>
          <a:prstGeom prst="rect">
            <a:avLst/>
          </a:prstGeom>
          <a:noFill/>
        </p:spPr>
        <p:txBody>
          <a:bodyPr wrap="square">
            <a:spAutoFit/>
          </a:bodyPr>
          <a:lstStyle/>
          <a:p>
            <a:pPr algn="l"/>
            <a:r>
              <a:rPr sz="1100" b="1" i="0">
                <a:solidFill>
                  <a:srgbClr val="FFFFFF"/>
                </a:solidFill>
              </a:rPr>
              <a:t>📅 Future Training Date</a:t>
            </a:r>
          </a:p>
        </p:txBody>
      </p:sp>
      <p:sp>
        <p:nvSpPr>
          <p:cNvPr id="20" name="Rectangle 19"/>
          <p:cNvSpPr/>
          <p:nvPr/>
        </p:nvSpPr>
        <p:spPr>
          <a:xfrm>
            <a:off x="4892040" y="255117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569464"/>
            <a:ext cx="960120" cy="219456"/>
          </a:xfrm>
          <a:prstGeom prst="rect">
            <a:avLst/>
          </a:prstGeom>
          <a:noFill/>
        </p:spPr>
        <p:txBody>
          <a:bodyPr wrap="square">
            <a:spAutoFit/>
          </a:bodyPr>
          <a:lstStyle/>
          <a:p>
            <a:pPr algn="ctr"/>
            <a:r>
              <a:rPr sz="850" b="1" i="0">
                <a:solidFill>
                  <a:srgbClr val="34A853"/>
                </a:solidFill>
              </a:rPr>
              <a:t>Prevented</a:t>
            </a:r>
          </a:p>
        </p:txBody>
      </p:sp>
      <p:sp>
        <p:nvSpPr>
          <p:cNvPr id="22" name="Rectangle 21"/>
          <p:cNvSpPr/>
          <p:nvPr/>
        </p:nvSpPr>
        <p:spPr>
          <a:xfrm>
            <a:off x="228600" y="286207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2926080"/>
            <a:ext cx="5623560" cy="777240"/>
          </a:xfrm>
          <a:prstGeom prst="rect">
            <a:avLst/>
          </a:prstGeom>
          <a:noFill/>
        </p:spPr>
        <p:txBody>
          <a:bodyPr wrap="square">
            <a:spAutoFit/>
          </a:bodyPr>
          <a:lstStyle/>
          <a:p>
            <a:pPr algn="l"/>
            <a:r>
              <a:rPr sz="950" b="0" i="0">
                <a:solidFill>
                  <a:srgbClr val="0D2B55"/>
                </a:solidFill>
              </a:rPr>
              <a:t>date.isAfter(LocalDate.now()) throws Exception.
Validated before creating TrainingLog object.</a:t>
            </a:r>
          </a:p>
        </p:txBody>
      </p:sp>
      <p:sp>
        <p:nvSpPr>
          <p:cNvPr id="24" name="Rectangle 23"/>
          <p:cNvSpPr/>
          <p:nvPr/>
        </p:nvSpPr>
        <p:spPr>
          <a:xfrm>
            <a:off x="6217920" y="251460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2569464"/>
            <a:ext cx="4114800" cy="256032"/>
          </a:xfrm>
          <a:prstGeom prst="rect">
            <a:avLst/>
          </a:prstGeom>
          <a:noFill/>
        </p:spPr>
        <p:txBody>
          <a:bodyPr wrap="square">
            <a:spAutoFit/>
          </a:bodyPr>
          <a:lstStyle/>
          <a:p>
            <a:pPr algn="l"/>
            <a:r>
              <a:rPr sz="1100" b="1" i="0">
                <a:solidFill>
                  <a:srgbClr val="FFFFFF"/>
                </a:solidFill>
              </a:rPr>
              <a:t>📋 Duplicate Log</a:t>
            </a:r>
          </a:p>
        </p:txBody>
      </p:sp>
      <p:sp>
        <p:nvSpPr>
          <p:cNvPr id="26" name="Rectangle 25"/>
          <p:cNvSpPr/>
          <p:nvPr/>
        </p:nvSpPr>
        <p:spPr>
          <a:xfrm>
            <a:off x="10881360" y="255117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27080" y="2569464"/>
            <a:ext cx="960120" cy="219456"/>
          </a:xfrm>
          <a:prstGeom prst="rect">
            <a:avLst/>
          </a:prstGeom>
          <a:noFill/>
        </p:spPr>
        <p:txBody>
          <a:bodyPr wrap="square">
            <a:spAutoFit/>
          </a:bodyPr>
          <a:lstStyle/>
          <a:p>
            <a:pPr algn="ctr"/>
            <a:r>
              <a:rPr sz="850" b="1" i="0">
                <a:solidFill>
                  <a:srgbClr val="34A853"/>
                </a:solidFill>
              </a:rPr>
              <a:t>Prevented</a:t>
            </a:r>
          </a:p>
        </p:txBody>
      </p:sp>
      <p:sp>
        <p:nvSpPr>
          <p:cNvPr id="28" name="Rectangle 27"/>
          <p:cNvSpPr/>
          <p:nvPr/>
        </p:nvSpPr>
        <p:spPr>
          <a:xfrm>
            <a:off x="6217920" y="286207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926080"/>
            <a:ext cx="5623560" cy="777240"/>
          </a:xfrm>
          <a:prstGeom prst="rect">
            <a:avLst/>
          </a:prstGeom>
          <a:noFill/>
        </p:spPr>
        <p:txBody>
          <a:bodyPr wrap="square">
            <a:spAutoFit/>
          </a:bodyPr>
          <a:lstStyle/>
          <a:p>
            <a:pPr algn="l"/>
            <a:r>
              <a:rPr sz="950" b="0" i="0">
                <a:solidFill>
                  <a:srgbClr val="0D2B55"/>
                </a:solidFill>
              </a:rPr>
              <a:t>Loop checks same runnerId + date + distance.
Throws Exception before saving.</a:t>
            </a:r>
          </a:p>
        </p:txBody>
      </p:sp>
      <p:sp>
        <p:nvSpPr>
          <p:cNvPr id="30" name="Rectangle 29"/>
          <p:cNvSpPr/>
          <p:nvPr/>
        </p:nvSpPr>
        <p:spPr>
          <a:xfrm>
            <a:off x="228600" y="384048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1752" y="3895344"/>
            <a:ext cx="4114800" cy="256032"/>
          </a:xfrm>
          <a:prstGeom prst="rect">
            <a:avLst/>
          </a:prstGeom>
          <a:noFill/>
        </p:spPr>
        <p:txBody>
          <a:bodyPr wrap="square">
            <a:spAutoFit/>
          </a:bodyPr>
          <a:lstStyle/>
          <a:p>
            <a:pPr algn="l"/>
            <a:r>
              <a:rPr sz="1100" b="1" i="0">
                <a:solidFill>
                  <a:srgbClr val="FFFFFF"/>
                </a:solidFill>
              </a:rPr>
              <a:t>🔐 Unauthorized Access</a:t>
            </a:r>
          </a:p>
        </p:txBody>
      </p:sp>
      <p:sp>
        <p:nvSpPr>
          <p:cNvPr id="32" name="Rectangle 31"/>
          <p:cNvSpPr/>
          <p:nvPr/>
        </p:nvSpPr>
        <p:spPr>
          <a:xfrm>
            <a:off x="4892040" y="387705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895344"/>
            <a:ext cx="960120" cy="219456"/>
          </a:xfrm>
          <a:prstGeom prst="rect">
            <a:avLst/>
          </a:prstGeom>
          <a:noFill/>
        </p:spPr>
        <p:txBody>
          <a:bodyPr wrap="square">
            <a:spAutoFit/>
          </a:bodyPr>
          <a:lstStyle/>
          <a:p>
            <a:pPr algn="ctr"/>
            <a:r>
              <a:rPr sz="850" b="1" i="0">
                <a:solidFill>
                  <a:srgbClr val="34A853"/>
                </a:solidFill>
              </a:rPr>
              <a:t>Prevented</a:t>
            </a:r>
          </a:p>
        </p:txBody>
      </p:sp>
      <p:sp>
        <p:nvSpPr>
          <p:cNvPr id="34" name="Rectangle 33"/>
          <p:cNvSpPr/>
          <p:nvPr/>
        </p:nvSpPr>
        <p:spPr>
          <a:xfrm>
            <a:off x="228600" y="418795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4251960"/>
            <a:ext cx="5623560" cy="777240"/>
          </a:xfrm>
          <a:prstGeom prst="rect">
            <a:avLst/>
          </a:prstGeom>
          <a:noFill/>
        </p:spPr>
        <p:txBody>
          <a:bodyPr wrap="square">
            <a:spAutoFit/>
          </a:bodyPr>
          <a:lstStyle/>
          <a:p>
            <a:pPr algn="l"/>
            <a:r>
              <a:rPr sz="950" b="0" i="0">
                <a:solidFill>
                  <a:srgbClr val="0D2B55"/>
                </a:solidFill>
              </a:rPr>
              <a:t>After login, role is checked. RUNNER cannot reach
adminMenu() code path — menus are completely separate.</a:t>
            </a:r>
          </a:p>
        </p:txBody>
      </p:sp>
      <p:sp>
        <p:nvSpPr>
          <p:cNvPr id="36" name="Rectangle 35"/>
          <p:cNvSpPr/>
          <p:nvPr/>
        </p:nvSpPr>
        <p:spPr>
          <a:xfrm>
            <a:off x="6217920" y="3840480"/>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1072" y="3895344"/>
            <a:ext cx="4114800" cy="256032"/>
          </a:xfrm>
          <a:prstGeom prst="rect">
            <a:avLst/>
          </a:prstGeom>
          <a:noFill/>
        </p:spPr>
        <p:txBody>
          <a:bodyPr wrap="square">
            <a:spAutoFit/>
          </a:bodyPr>
          <a:lstStyle/>
          <a:p>
            <a:pPr algn="l"/>
            <a:r>
              <a:rPr sz="1100" b="1" i="0">
                <a:solidFill>
                  <a:srgbClr val="FFFFFF"/>
                </a:solidFill>
              </a:rPr>
              <a:t>⚡ Race Validation Bypass</a:t>
            </a:r>
          </a:p>
        </p:txBody>
      </p:sp>
      <p:sp>
        <p:nvSpPr>
          <p:cNvPr id="38" name="Rectangle 37"/>
          <p:cNvSpPr/>
          <p:nvPr/>
        </p:nvSpPr>
        <p:spPr>
          <a:xfrm>
            <a:off x="10881360" y="3877056"/>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27080" y="3895344"/>
            <a:ext cx="960120" cy="219456"/>
          </a:xfrm>
          <a:prstGeom prst="rect">
            <a:avLst/>
          </a:prstGeom>
          <a:noFill/>
        </p:spPr>
        <p:txBody>
          <a:bodyPr wrap="square">
            <a:spAutoFit/>
          </a:bodyPr>
          <a:lstStyle/>
          <a:p>
            <a:pPr algn="ctr"/>
            <a:r>
              <a:rPr sz="850" b="1" i="0">
                <a:solidFill>
                  <a:srgbClr val="34A853"/>
                </a:solidFill>
              </a:rPr>
              <a:t>Prevented</a:t>
            </a:r>
          </a:p>
        </p:txBody>
      </p:sp>
      <p:sp>
        <p:nvSpPr>
          <p:cNvPr id="40" name="Rectangle 39"/>
          <p:cNvSpPr/>
          <p:nvPr/>
        </p:nvSpPr>
        <p:spPr>
          <a:xfrm>
            <a:off x="6217920" y="4187952"/>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4251960"/>
            <a:ext cx="5623560" cy="777240"/>
          </a:xfrm>
          <a:prstGeom prst="rect">
            <a:avLst/>
          </a:prstGeom>
          <a:noFill/>
        </p:spPr>
        <p:txBody>
          <a:bodyPr wrap="square">
            <a:spAutoFit/>
          </a:bodyPr>
          <a:lstStyle/>
          <a:p>
            <a:pPr algn="l"/>
            <a:r>
              <a:rPr sz="950" b="0" i="0">
                <a:solidFill>
                  <a:srgbClr val="0D2B55"/>
                </a:solidFill>
              </a:rPr>
              <a:t>7-day future, unique name, 24h edit, 48h registration
all enforced in RaceMgr before saving.</a:t>
            </a:r>
          </a:p>
        </p:txBody>
      </p:sp>
      <p:sp>
        <p:nvSpPr>
          <p:cNvPr id="42" name="Rectangle 41"/>
          <p:cNvSpPr/>
          <p:nvPr/>
        </p:nvSpPr>
        <p:spPr>
          <a:xfrm>
            <a:off x="228600" y="5166359"/>
            <a:ext cx="5760720" cy="3474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1752" y="5221223"/>
            <a:ext cx="4114800" cy="256032"/>
          </a:xfrm>
          <a:prstGeom prst="rect">
            <a:avLst/>
          </a:prstGeom>
          <a:noFill/>
        </p:spPr>
        <p:txBody>
          <a:bodyPr wrap="square">
            <a:spAutoFit/>
          </a:bodyPr>
          <a:lstStyle/>
          <a:p>
            <a:pPr algn="l"/>
            <a:r>
              <a:rPr sz="1100" b="1" i="0">
                <a:solidFill>
                  <a:srgbClr val="FFFFFF"/>
                </a:solidFill>
              </a:rPr>
              <a:t>💥 Input Crash</a:t>
            </a:r>
          </a:p>
        </p:txBody>
      </p:sp>
      <p:sp>
        <p:nvSpPr>
          <p:cNvPr id="44" name="Rectangle 43"/>
          <p:cNvSpPr/>
          <p:nvPr/>
        </p:nvSpPr>
        <p:spPr>
          <a:xfrm>
            <a:off x="4892040" y="5202935"/>
            <a:ext cx="1005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37760" y="5221223"/>
            <a:ext cx="960120" cy="219456"/>
          </a:xfrm>
          <a:prstGeom prst="rect">
            <a:avLst/>
          </a:prstGeom>
          <a:noFill/>
        </p:spPr>
        <p:txBody>
          <a:bodyPr wrap="square">
            <a:spAutoFit/>
          </a:bodyPr>
          <a:lstStyle/>
          <a:p>
            <a:pPr algn="ctr"/>
            <a:r>
              <a:rPr sz="850" b="1" i="0">
                <a:solidFill>
                  <a:srgbClr val="34A853"/>
                </a:solidFill>
              </a:rPr>
              <a:t>Prevented</a:t>
            </a:r>
          </a:p>
        </p:txBody>
      </p:sp>
      <p:sp>
        <p:nvSpPr>
          <p:cNvPr id="46" name="Rectangle 45"/>
          <p:cNvSpPr/>
          <p:nvPr/>
        </p:nvSpPr>
        <p:spPr>
          <a:xfrm>
            <a:off x="228600" y="5513831"/>
            <a:ext cx="5760720" cy="88696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5577839"/>
            <a:ext cx="5623560" cy="777240"/>
          </a:xfrm>
          <a:prstGeom prst="rect">
            <a:avLst/>
          </a:prstGeom>
          <a:noFill/>
        </p:spPr>
        <p:txBody>
          <a:bodyPr wrap="square">
            <a:spAutoFit/>
          </a:bodyPr>
          <a:lstStyle/>
          <a:p>
            <a:pPr algn="l"/>
            <a:r>
              <a:rPr sz="950" b="0" i="0">
                <a:solidFill>
                  <a:srgbClr val="0D2B55"/>
                </a:solidFill>
              </a:rPr>
              <a:t>readInt() wraps Integer.parseInt() in try-catch.
readStr() loops until non-empty input received.</a:t>
            </a:r>
          </a:p>
        </p:txBody>
      </p:sp>
      <p:sp>
        <p:nvSpPr>
          <p:cNvPr id="48" name="Rectangle 47"/>
          <p:cNvSpPr/>
          <p:nvPr/>
        </p:nvSpPr>
        <p:spPr>
          <a:xfrm>
            <a:off x="6217920" y="5166359"/>
            <a:ext cx="5760720" cy="347472"/>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5221223"/>
            <a:ext cx="4114800" cy="256032"/>
          </a:xfrm>
          <a:prstGeom prst="rect">
            <a:avLst/>
          </a:prstGeom>
          <a:noFill/>
        </p:spPr>
        <p:txBody>
          <a:bodyPr wrap="square">
            <a:spAutoFit/>
          </a:bodyPr>
          <a:lstStyle/>
          <a:p>
            <a:pPr algn="l"/>
            <a:r>
              <a:rPr sz="1100" b="1" i="0">
                <a:solidFill>
                  <a:srgbClr val="FFFFFF"/>
                </a:solidFill>
              </a:rPr>
              <a:t>⚠️ LaTeX in Error Msg (DA-001)</a:t>
            </a:r>
          </a:p>
        </p:txBody>
      </p:sp>
      <p:sp>
        <p:nvSpPr>
          <p:cNvPr id="50" name="Rectangle 49"/>
          <p:cNvSpPr/>
          <p:nvPr/>
        </p:nvSpPr>
        <p:spPr>
          <a:xfrm>
            <a:off x="10881360" y="5202935"/>
            <a:ext cx="1005840" cy="256032"/>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27080" y="5221223"/>
            <a:ext cx="960120" cy="219456"/>
          </a:xfrm>
          <a:prstGeom prst="rect">
            <a:avLst/>
          </a:prstGeom>
          <a:noFill/>
        </p:spPr>
        <p:txBody>
          <a:bodyPr wrap="square">
            <a:spAutoFit/>
          </a:bodyPr>
          <a:lstStyle/>
          <a:p>
            <a:pPr algn="ctr"/>
            <a:r>
              <a:rPr sz="850" b="1" i="0">
                <a:solidFill>
                  <a:srgbClr val="FF6D00"/>
                </a:solidFill>
              </a:rPr>
              <a:t>Fixed</a:t>
            </a:r>
          </a:p>
        </p:txBody>
      </p:sp>
      <p:sp>
        <p:nvSpPr>
          <p:cNvPr id="52" name="Rectangle 51"/>
          <p:cNvSpPr/>
          <p:nvPr/>
        </p:nvSpPr>
        <p:spPr>
          <a:xfrm>
            <a:off x="6217920" y="5513831"/>
            <a:ext cx="5760720" cy="886968"/>
          </a:xfrm>
          <a:prstGeom prst="rect">
            <a:avLst/>
          </a:prstGeom>
          <a:solidFill>
            <a:srgbClr val="FFFFFF"/>
          </a:solidFill>
          <a:ln w="9525">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0" y="5577839"/>
            <a:ext cx="5623560" cy="777240"/>
          </a:xfrm>
          <a:prstGeom prst="rect">
            <a:avLst/>
          </a:prstGeom>
          <a:noFill/>
        </p:spPr>
        <p:txBody>
          <a:bodyPr wrap="square">
            <a:spAutoFit/>
          </a:bodyPr>
          <a:lstStyle/>
          <a:p>
            <a:pPr algn="l"/>
            <a:r>
              <a:rPr sz="950" b="0" i="0">
                <a:solidFill>
                  <a:srgbClr val="0D2B55"/>
                </a:solidFill>
              </a:rPr>
              <a:t>Error message contained $\ge 5$ LaTeX notation.
Fixed to plain English: 'at least 5'.</a:t>
            </a:r>
          </a:p>
        </p:txBody>
      </p:sp>
      <p:sp>
        <p:nvSpPr>
          <p:cNvPr id="54" name="TextBox 53"/>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Project Folder Structure</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Complete repository layout on GitHub</a:t>
            </a:r>
          </a:p>
        </p:txBody>
      </p:sp>
      <p:sp>
        <p:nvSpPr>
          <p:cNvPr id="6" name="Rectangle 5"/>
          <p:cNvSpPr/>
          <p:nvPr/>
        </p:nvSpPr>
        <p:spPr>
          <a:xfrm>
            <a:off x="228600" y="1170432"/>
            <a:ext cx="6400800" cy="310896"/>
          </a:xfrm>
          <a:prstGeom prst="rect">
            <a:avLst/>
          </a:prstGeom>
          <a:solidFill>
            <a:srgbClr val="0D2B55"/>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207008"/>
            <a:ext cx="6217920" cy="237744"/>
          </a:xfrm>
          <a:prstGeom prst="rect">
            <a:avLst/>
          </a:prstGeom>
          <a:noFill/>
        </p:spPr>
        <p:txBody>
          <a:bodyPr wrap="square">
            <a:spAutoFit/>
          </a:bodyPr>
          <a:lstStyle/>
          <a:p>
            <a:pPr algn="l"/>
            <a:r>
              <a:rPr sz="950" b="1" i="0">
                <a:solidFill>
                  <a:srgbClr val="FFFFFF"/>
                </a:solidFill>
              </a:rPr>
              <a:t>📁  marathon-runner-portal/   (project root)</a:t>
            </a:r>
          </a:p>
        </p:txBody>
      </p:sp>
      <p:sp>
        <p:nvSpPr>
          <p:cNvPr id="8" name="Rectangle 7"/>
          <p:cNvSpPr/>
          <p:nvPr/>
        </p:nvSpPr>
        <p:spPr>
          <a:xfrm>
            <a:off x="228600" y="1499616"/>
            <a:ext cx="6400800" cy="310896"/>
          </a:xfrm>
          <a:prstGeom prst="rect">
            <a:avLst/>
          </a:prstGeom>
          <a:solidFill>
            <a:srgbClr val="1A73E8"/>
          </a:solidFill>
          <a:ln w="63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36192"/>
            <a:ext cx="6217920" cy="237744"/>
          </a:xfrm>
          <a:prstGeom prst="rect">
            <a:avLst/>
          </a:prstGeom>
          <a:noFill/>
        </p:spPr>
        <p:txBody>
          <a:bodyPr wrap="square">
            <a:spAutoFit/>
          </a:bodyPr>
          <a:lstStyle/>
          <a:p>
            <a:pPr algn="l"/>
            <a:r>
              <a:rPr sz="950" b="1" i="0">
                <a:solidFill>
                  <a:srgbClr val="FFFFFF"/>
                </a:solidFill>
              </a:rPr>
              <a:t>📂    src/</a:t>
            </a:r>
          </a:p>
        </p:txBody>
      </p:sp>
      <p:sp>
        <p:nvSpPr>
          <p:cNvPr id="10" name="Rectangle 9"/>
          <p:cNvSpPr/>
          <p:nvPr/>
        </p:nvSpPr>
        <p:spPr>
          <a:xfrm>
            <a:off x="228600" y="1828800"/>
            <a:ext cx="6400800" cy="310896"/>
          </a:xfrm>
          <a:prstGeom prst="rect">
            <a:avLst/>
          </a:prstGeom>
          <a:solidFill>
            <a:srgbClr val="E8F0FE"/>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65376"/>
            <a:ext cx="6217920" cy="237744"/>
          </a:xfrm>
          <a:prstGeom prst="rect">
            <a:avLst/>
          </a:prstGeom>
          <a:noFill/>
        </p:spPr>
        <p:txBody>
          <a:bodyPr wrap="square">
            <a:spAutoFit/>
          </a:bodyPr>
          <a:lstStyle/>
          <a:p>
            <a:pPr algn="l"/>
            <a:r>
              <a:rPr sz="950" b="0" i="0">
                <a:solidFill>
                  <a:srgbClr val="0D2B55"/>
                </a:solidFill>
              </a:rPr>
              <a:t>📄      MarathonPortal.java</a:t>
            </a:r>
          </a:p>
        </p:txBody>
      </p:sp>
      <p:sp>
        <p:nvSpPr>
          <p:cNvPr id="12" name="Rectangle 11"/>
          <p:cNvSpPr/>
          <p:nvPr/>
        </p:nvSpPr>
        <p:spPr>
          <a:xfrm>
            <a:off x="228600" y="2157984"/>
            <a:ext cx="6400800" cy="310896"/>
          </a:xfrm>
          <a:prstGeom prst="rect">
            <a:avLst/>
          </a:prstGeom>
          <a:solidFill>
            <a:srgbClr val="E8F0FE"/>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194560"/>
            <a:ext cx="6217920" cy="237744"/>
          </a:xfrm>
          <a:prstGeom prst="rect">
            <a:avLst/>
          </a:prstGeom>
          <a:noFill/>
        </p:spPr>
        <p:txBody>
          <a:bodyPr wrap="square">
            <a:spAutoFit/>
          </a:bodyPr>
          <a:lstStyle/>
          <a:p>
            <a:pPr algn="l"/>
            <a:r>
              <a:rPr sz="950" b="0" i="0">
                <a:solidFill>
                  <a:srgbClr val="0D2B55"/>
                </a:solidFill>
              </a:rPr>
              <a:t>📄      TestPortal.java</a:t>
            </a:r>
          </a:p>
        </p:txBody>
      </p:sp>
      <p:sp>
        <p:nvSpPr>
          <p:cNvPr id="14" name="Rectangle 13"/>
          <p:cNvSpPr/>
          <p:nvPr/>
        </p:nvSpPr>
        <p:spPr>
          <a:xfrm>
            <a:off x="228600" y="2487168"/>
            <a:ext cx="6400800" cy="310896"/>
          </a:xfrm>
          <a:prstGeom prst="rect">
            <a:avLst/>
          </a:prstGeom>
          <a:solidFill>
            <a:srgbClr val="FF6D00"/>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523744"/>
            <a:ext cx="6217920" cy="237744"/>
          </a:xfrm>
          <a:prstGeom prst="rect">
            <a:avLst/>
          </a:prstGeom>
          <a:noFill/>
        </p:spPr>
        <p:txBody>
          <a:bodyPr wrap="square">
            <a:spAutoFit/>
          </a:bodyPr>
          <a:lstStyle/>
          <a:p>
            <a:pPr algn="l"/>
            <a:r>
              <a:rPr sz="950" b="1" i="0">
                <a:solidFill>
                  <a:srgbClr val="FFFFFF"/>
                </a:solidFill>
              </a:rPr>
              <a:t>📂    exports/</a:t>
            </a:r>
          </a:p>
        </p:txBody>
      </p:sp>
      <p:sp>
        <p:nvSpPr>
          <p:cNvPr id="16" name="Rectangle 15"/>
          <p:cNvSpPr/>
          <p:nvPr/>
        </p:nvSpPr>
        <p:spPr>
          <a:xfrm>
            <a:off x="228600" y="2816352"/>
            <a:ext cx="6400800" cy="310896"/>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852928"/>
            <a:ext cx="6217920" cy="237744"/>
          </a:xfrm>
          <a:prstGeom prst="rect">
            <a:avLst/>
          </a:prstGeom>
          <a:noFill/>
        </p:spPr>
        <p:txBody>
          <a:bodyPr wrap="square">
            <a:spAutoFit/>
          </a:bodyPr>
          <a:lstStyle/>
          <a:p>
            <a:pPr algn="l"/>
            <a:r>
              <a:rPr sz="950" b="0" i="0">
                <a:solidFill>
                  <a:srgbClr val="0D2B55"/>
                </a:solidFill>
              </a:rPr>
              <a:t>📄      users_YYYYMMDD_HHMMSS.csv</a:t>
            </a:r>
          </a:p>
        </p:txBody>
      </p:sp>
      <p:sp>
        <p:nvSpPr>
          <p:cNvPr id="18" name="Rectangle 17"/>
          <p:cNvSpPr/>
          <p:nvPr/>
        </p:nvSpPr>
        <p:spPr>
          <a:xfrm>
            <a:off x="228600" y="3145536"/>
            <a:ext cx="6400800" cy="310896"/>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182112"/>
            <a:ext cx="6217920" cy="237744"/>
          </a:xfrm>
          <a:prstGeom prst="rect">
            <a:avLst/>
          </a:prstGeom>
          <a:noFill/>
        </p:spPr>
        <p:txBody>
          <a:bodyPr wrap="square">
            <a:spAutoFit/>
          </a:bodyPr>
          <a:lstStyle/>
          <a:p>
            <a:pPr algn="l"/>
            <a:r>
              <a:rPr sz="950" b="0" i="0">
                <a:solidFill>
                  <a:srgbClr val="0D2B55"/>
                </a:solidFill>
              </a:rPr>
              <a:t>📄      races_YYYYMMDD_HHMMSS.csv</a:t>
            </a:r>
          </a:p>
        </p:txBody>
      </p:sp>
      <p:sp>
        <p:nvSpPr>
          <p:cNvPr id="20" name="Rectangle 19"/>
          <p:cNvSpPr/>
          <p:nvPr/>
        </p:nvSpPr>
        <p:spPr>
          <a:xfrm>
            <a:off x="228600" y="3474720"/>
            <a:ext cx="6400800" cy="310896"/>
          </a:xfrm>
          <a:prstGeom prst="rect">
            <a:avLst/>
          </a:prstGeom>
          <a:solidFill>
            <a:srgbClr val="E8F0FE"/>
          </a:solidFill>
          <a:ln w="63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511296"/>
            <a:ext cx="6217920" cy="237744"/>
          </a:xfrm>
          <a:prstGeom prst="rect">
            <a:avLst/>
          </a:prstGeom>
          <a:noFill/>
        </p:spPr>
        <p:txBody>
          <a:bodyPr wrap="square">
            <a:spAutoFit/>
          </a:bodyPr>
          <a:lstStyle/>
          <a:p>
            <a:pPr algn="l"/>
            <a:r>
              <a:rPr sz="950" b="0" i="0">
                <a:solidFill>
                  <a:srgbClr val="0D2B55"/>
                </a:solidFill>
              </a:rPr>
              <a:t>📄      training_*.csv</a:t>
            </a:r>
          </a:p>
        </p:txBody>
      </p:sp>
      <p:sp>
        <p:nvSpPr>
          <p:cNvPr id="22" name="Rectangle 21"/>
          <p:cNvSpPr/>
          <p:nvPr/>
        </p:nvSpPr>
        <p:spPr>
          <a:xfrm>
            <a:off x="228600" y="3803904"/>
            <a:ext cx="6400800" cy="310896"/>
          </a:xfrm>
          <a:prstGeom prst="rect">
            <a:avLst/>
          </a:prstGeom>
          <a:solidFill>
            <a:srgbClr val="EA4335"/>
          </a:solidFill>
          <a:ln w="63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840480"/>
            <a:ext cx="6217920" cy="237744"/>
          </a:xfrm>
          <a:prstGeom prst="rect">
            <a:avLst/>
          </a:prstGeom>
          <a:noFill/>
        </p:spPr>
        <p:txBody>
          <a:bodyPr wrap="square">
            <a:spAutoFit/>
          </a:bodyPr>
          <a:lstStyle/>
          <a:p>
            <a:pPr algn="l"/>
            <a:r>
              <a:rPr sz="950" b="1" i="0">
                <a:solidFill>
                  <a:srgbClr val="FFFFFF"/>
                </a:solidFill>
              </a:rPr>
              <a:t>📂    logs/</a:t>
            </a:r>
          </a:p>
        </p:txBody>
      </p:sp>
      <p:sp>
        <p:nvSpPr>
          <p:cNvPr id="24" name="Rectangle 23"/>
          <p:cNvSpPr/>
          <p:nvPr/>
        </p:nvSpPr>
        <p:spPr>
          <a:xfrm>
            <a:off x="228600" y="4133087"/>
            <a:ext cx="6400800" cy="310896"/>
          </a:xfrm>
          <a:prstGeom prst="rect">
            <a:avLst/>
          </a:prstGeom>
          <a:solidFill>
            <a:srgbClr val="E8F0FE"/>
          </a:solidFill>
          <a:ln w="63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69663"/>
            <a:ext cx="6217920" cy="237744"/>
          </a:xfrm>
          <a:prstGeom prst="rect">
            <a:avLst/>
          </a:prstGeom>
          <a:noFill/>
        </p:spPr>
        <p:txBody>
          <a:bodyPr wrap="square">
            <a:spAutoFit/>
          </a:bodyPr>
          <a:lstStyle/>
          <a:p>
            <a:pPr algn="l"/>
            <a:r>
              <a:rPr sz="950" b="0" i="0">
                <a:solidFill>
                  <a:srgbClr val="0D2B55"/>
                </a:solidFill>
              </a:rPr>
              <a:t>📄      security.log</a:t>
            </a:r>
          </a:p>
        </p:txBody>
      </p:sp>
      <p:sp>
        <p:nvSpPr>
          <p:cNvPr id="26" name="Rectangle 25"/>
          <p:cNvSpPr/>
          <p:nvPr/>
        </p:nvSpPr>
        <p:spPr>
          <a:xfrm>
            <a:off x="228600" y="4462272"/>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498848"/>
            <a:ext cx="6217920" cy="237744"/>
          </a:xfrm>
          <a:prstGeom prst="rect">
            <a:avLst/>
          </a:prstGeom>
          <a:noFill/>
        </p:spPr>
        <p:txBody>
          <a:bodyPr wrap="square">
            <a:spAutoFit/>
          </a:bodyPr>
          <a:lstStyle/>
          <a:p>
            <a:pPr algn="l"/>
            <a:r>
              <a:rPr sz="950" b="0" i="0">
                <a:solidFill>
                  <a:srgbClr val="0D2B55"/>
                </a:solidFill>
              </a:rPr>
              <a:t>📄    README.md</a:t>
            </a:r>
          </a:p>
        </p:txBody>
      </p:sp>
      <p:sp>
        <p:nvSpPr>
          <p:cNvPr id="28" name="Rectangle 27"/>
          <p:cNvSpPr/>
          <p:nvPr/>
        </p:nvSpPr>
        <p:spPr>
          <a:xfrm>
            <a:off x="228600" y="4791456"/>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828032"/>
            <a:ext cx="6217920" cy="237744"/>
          </a:xfrm>
          <a:prstGeom prst="rect">
            <a:avLst/>
          </a:prstGeom>
          <a:noFill/>
        </p:spPr>
        <p:txBody>
          <a:bodyPr wrap="square">
            <a:spAutoFit/>
          </a:bodyPr>
          <a:lstStyle/>
          <a:p>
            <a:pPr algn="l"/>
            <a:r>
              <a:rPr sz="950" b="0" i="0">
                <a:solidFill>
                  <a:srgbClr val="0D2B55"/>
                </a:solidFill>
              </a:rPr>
              <a:t>📄    PROGRAM_STRUCTURE.md</a:t>
            </a:r>
          </a:p>
        </p:txBody>
      </p:sp>
      <p:sp>
        <p:nvSpPr>
          <p:cNvPr id="30" name="Rectangle 29"/>
          <p:cNvSpPr/>
          <p:nvPr/>
        </p:nvSpPr>
        <p:spPr>
          <a:xfrm>
            <a:off x="228600" y="5120640"/>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157216"/>
            <a:ext cx="6217920" cy="237744"/>
          </a:xfrm>
          <a:prstGeom prst="rect">
            <a:avLst/>
          </a:prstGeom>
          <a:noFill/>
        </p:spPr>
        <p:txBody>
          <a:bodyPr wrap="square">
            <a:spAutoFit/>
          </a:bodyPr>
          <a:lstStyle/>
          <a:p>
            <a:pPr algn="l"/>
            <a:r>
              <a:rPr sz="950" b="0" i="0">
                <a:solidFill>
                  <a:srgbClr val="0D2B55"/>
                </a:solidFill>
              </a:rPr>
              <a:t>📄    ARCHITECTURE.md</a:t>
            </a:r>
          </a:p>
        </p:txBody>
      </p:sp>
      <p:sp>
        <p:nvSpPr>
          <p:cNvPr id="32" name="Rectangle 31"/>
          <p:cNvSpPr/>
          <p:nvPr/>
        </p:nvSpPr>
        <p:spPr>
          <a:xfrm>
            <a:off x="228600" y="5449824"/>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486400"/>
            <a:ext cx="6217920" cy="237744"/>
          </a:xfrm>
          <a:prstGeom prst="rect">
            <a:avLst/>
          </a:prstGeom>
          <a:noFill/>
        </p:spPr>
        <p:txBody>
          <a:bodyPr wrap="square">
            <a:spAutoFit/>
          </a:bodyPr>
          <a:lstStyle/>
          <a:p>
            <a:pPr algn="l"/>
            <a:r>
              <a:rPr sz="950" b="0" i="0">
                <a:solidFill>
                  <a:srgbClr val="0D2B55"/>
                </a:solidFill>
              </a:rPr>
              <a:t>📄    USER_STORY_MAPPING.md</a:t>
            </a:r>
          </a:p>
        </p:txBody>
      </p:sp>
      <p:sp>
        <p:nvSpPr>
          <p:cNvPr id="34" name="Rectangle 33"/>
          <p:cNvSpPr/>
          <p:nvPr/>
        </p:nvSpPr>
        <p:spPr>
          <a:xfrm>
            <a:off x="228600" y="5779008"/>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5815584"/>
            <a:ext cx="6217920" cy="237744"/>
          </a:xfrm>
          <a:prstGeom prst="rect">
            <a:avLst/>
          </a:prstGeom>
          <a:noFill/>
        </p:spPr>
        <p:txBody>
          <a:bodyPr wrap="square">
            <a:spAutoFit/>
          </a:bodyPr>
          <a:lstStyle/>
          <a:p>
            <a:pPr algn="l"/>
            <a:r>
              <a:rPr sz="950" b="0" i="0">
                <a:solidFill>
                  <a:srgbClr val="0D2B55"/>
                </a:solidFill>
              </a:rPr>
              <a:t>📄    CODE_EXPLANATION.md</a:t>
            </a:r>
          </a:p>
        </p:txBody>
      </p:sp>
      <p:sp>
        <p:nvSpPr>
          <p:cNvPr id="36" name="Rectangle 35"/>
          <p:cNvSpPr/>
          <p:nvPr/>
        </p:nvSpPr>
        <p:spPr>
          <a:xfrm>
            <a:off x="228600" y="6108192"/>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44768"/>
            <a:ext cx="6217920" cy="237744"/>
          </a:xfrm>
          <a:prstGeom prst="rect">
            <a:avLst/>
          </a:prstGeom>
          <a:noFill/>
        </p:spPr>
        <p:txBody>
          <a:bodyPr wrap="square">
            <a:spAutoFit/>
          </a:bodyPr>
          <a:lstStyle/>
          <a:p>
            <a:pPr algn="l"/>
            <a:r>
              <a:rPr sz="950" b="0" i="0">
                <a:solidFill>
                  <a:srgbClr val="0D2B55"/>
                </a:solidFill>
              </a:rPr>
              <a:t>📄    TEST_REPORT.md  +  DEFECT_ANALYSIS.md</a:t>
            </a:r>
          </a:p>
        </p:txBody>
      </p:sp>
      <p:sp>
        <p:nvSpPr>
          <p:cNvPr id="38" name="Rectangle 37"/>
          <p:cNvSpPr/>
          <p:nvPr/>
        </p:nvSpPr>
        <p:spPr>
          <a:xfrm>
            <a:off x="228600" y="6437376"/>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6473952"/>
            <a:ext cx="6217920" cy="237744"/>
          </a:xfrm>
          <a:prstGeom prst="rect">
            <a:avLst/>
          </a:prstGeom>
          <a:noFill/>
        </p:spPr>
        <p:txBody>
          <a:bodyPr wrap="square">
            <a:spAutoFit/>
          </a:bodyPr>
          <a:lstStyle/>
          <a:p>
            <a:pPr algn="l"/>
            <a:r>
              <a:rPr sz="950" b="0" i="0">
                <a:solidFill>
                  <a:srgbClr val="0D2B55"/>
                </a:solidFill>
              </a:rPr>
              <a:t>📄    REVIEW_PREPARATION.md  +  PROJECT_FLOW.md</a:t>
            </a:r>
          </a:p>
        </p:txBody>
      </p:sp>
      <p:sp>
        <p:nvSpPr>
          <p:cNvPr id="40" name="Rectangle 39"/>
          <p:cNvSpPr/>
          <p:nvPr/>
        </p:nvSpPr>
        <p:spPr>
          <a:xfrm>
            <a:off x="228600" y="6766560"/>
            <a:ext cx="6400800" cy="310896"/>
          </a:xfrm>
          <a:prstGeom prst="rect">
            <a:avLst/>
          </a:prstGeom>
          <a:solidFill>
            <a:srgbClr val="E8F0FE"/>
          </a:solidFill>
          <a:ln w="63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803136"/>
            <a:ext cx="6217920" cy="237744"/>
          </a:xfrm>
          <a:prstGeom prst="rect">
            <a:avLst/>
          </a:prstGeom>
          <a:noFill/>
        </p:spPr>
        <p:txBody>
          <a:bodyPr wrap="square">
            <a:spAutoFit/>
          </a:bodyPr>
          <a:lstStyle/>
          <a:p>
            <a:pPr algn="l"/>
            <a:r>
              <a:rPr sz="950" b="0" i="0">
                <a:solidFill>
                  <a:srgbClr val="0D2B55"/>
                </a:solidFill>
              </a:rPr>
              <a:t>📄    .gitignore</a:t>
            </a:r>
          </a:p>
        </p:txBody>
      </p:sp>
      <p:sp>
        <p:nvSpPr>
          <p:cNvPr id="42" name="Rectangle 41"/>
          <p:cNvSpPr/>
          <p:nvPr/>
        </p:nvSpPr>
        <p:spPr>
          <a:xfrm>
            <a:off x="6858000" y="1234440"/>
            <a:ext cx="502920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0" y="1307592"/>
            <a:ext cx="4846320" cy="274320"/>
          </a:xfrm>
          <a:prstGeom prst="rect">
            <a:avLst/>
          </a:prstGeom>
          <a:noFill/>
        </p:spPr>
        <p:txBody>
          <a:bodyPr wrap="square">
            <a:spAutoFit/>
          </a:bodyPr>
          <a:lstStyle/>
          <a:p>
            <a:pPr algn="l"/>
            <a:r>
              <a:rPr sz="1100" b="1" i="0">
                <a:solidFill>
                  <a:srgbClr val="1A73E8"/>
                </a:solidFill>
              </a:rPr>
              <a:t>📂  src/</a:t>
            </a:r>
          </a:p>
        </p:txBody>
      </p:sp>
      <p:sp>
        <p:nvSpPr>
          <p:cNvPr id="44" name="TextBox 43"/>
          <p:cNvSpPr txBox="1"/>
          <p:nvPr/>
        </p:nvSpPr>
        <p:spPr>
          <a:xfrm>
            <a:off x="6949440" y="1600200"/>
            <a:ext cx="4846320" cy="594360"/>
          </a:xfrm>
          <a:prstGeom prst="rect">
            <a:avLst/>
          </a:prstGeom>
          <a:noFill/>
        </p:spPr>
        <p:txBody>
          <a:bodyPr wrap="square">
            <a:spAutoFit/>
          </a:bodyPr>
          <a:lstStyle/>
          <a:p>
            <a:pPr algn="l"/>
            <a:r>
              <a:rPr sz="1000" b="0" i="0">
                <a:solidFill>
                  <a:srgbClr val="0D2B55"/>
                </a:solidFill>
              </a:rPr>
              <a:t>Contains the two Java source files.
The only files needed to run the project.</a:t>
            </a:r>
          </a:p>
        </p:txBody>
      </p:sp>
      <p:sp>
        <p:nvSpPr>
          <p:cNvPr id="45" name="Rectangle 44"/>
          <p:cNvSpPr/>
          <p:nvPr/>
        </p:nvSpPr>
        <p:spPr>
          <a:xfrm>
            <a:off x="6858000" y="2560320"/>
            <a:ext cx="502920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2633472"/>
            <a:ext cx="4846320" cy="274320"/>
          </a:xfrm>
          <a:prstGeom prst="rect">
            <a:avLst/>
          </a:prstGeom>
          <a:noFill/>
        </p:spPr>
        <p:txBody>
          <a:bodyPr wrap="square">
            <a:spAutoFit/>
          </a:bodyPr>
          <a:lstStyle/>
          <a:p>
            <a:pPr algn="l"/>
            <a:r>
              <a:rPr sz="1100" b="1" i="0">
                <a:solidFill>
                  <a:srgbClr val="1A73E8"/>
                </a:solidFill>
              </a:rPr>
              <a:t>📂  exports/</a:t>
            </a:r>
          </a:p>
        </p:txBody>
      </p:sp>
      <p:sp>
        <p:nvSpPr>
          <p:cNvPr id="47" name="TextBox 46"/>
          <p:cNvSpPr txBox="1"/>
          <p:nvPr/>
        </p:nvSpPr>
        <p:spPr>
          <a:xfrm>
            <a:off x="6949440" y="2926080"/>
            <a:ext cx="4846320" cy="594360"/>
          </a:xfrm>
          <a:prstGeom prst="rect">
            <a:avLst/>
          </a:prstGeom>
          <a:noFill/>
        </p:spPr>
        <p:txBody>
          <a:bodyPr wrap="square">
            <a:spAutoFit/>
          </a:bodyPr>
          <a:lstStyle/>
          <a:p>
            <a:pPr algn="l"/>
            <a:r>
              <a:rPr sz="1000" b="0" i="0">
                <a:solidFill>
                  <a:srgbClr val="0D2B55"/>
                </a:solidFill>
              </a:rPr>
              <a:t>Auto-created when the app starts.
All CSV reports are timestamped and saved here.</a:t>
            </a:r>
          </a:p>
        </p:txBody>
      </p:sp>
      <p:sp>
        <p:nvSpPr>
          <p:cNvPr id="48" name="Rectangle 47"/>
          <p:cNvSpPr/>
          <p:nvPr/>
        </p:nvSpPr>
        <p:spPr>
          <a:xfrm>
            <a:off x="6858000" y="3886200"/>
            <a:ext cx="502920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49440" y="3959352"/>
            <a:ext cx="4846320" cy="274320"/>
          </a:xfrm>
          <a:prstGeom prst="rect">
            <a:avLst/>
          </a:prstGeom>
          <a:noFill/>
        </p:spPr>
        <p:txBody>
          <a:bodyPr wrap="square">
            <a:spAutoFit/>
          </a:bodyPr>
          <a:lstStyle/>
          <a:p>
            <a:pPr algn="l"/>
            <a:r>
              <a:rPr sz="1100" b="1" i="0">
                <a:solidFill>
                  <a:srgbClr val="1A73E8"/>
                </a:solidFill>
              </a:rPr>
              <a:t>📂  logs/</a:t>
            </a:r>
          </a:p>
        </p:txBody>
      </p:sp>
      <p:sp>
        <p:nvSpPr>
          <p:cNvPr id="50" name="TextBox 49"/>
          <p:cNvSpPr txBox="1"/>
          <p:nvPr/>
        </p:nvSpPr>
        <p:spPr>
          <a:xfrm>
            <a:off x="6949440" y="4251960"/>
            <a:ext cx="4846320" cy="594360"/>
          </a:xfrm>
          <a:prstGeom prst="rect">
            <a:avLst/>
          </a:prstGeom>
          <a:noFill/>
        </p:spPr>
        <p:txBody>
          <a:bodyPr wrap="square">
            <a:spAutoFit/>
          </a:bodyPr>
          <a:lstStyle/>
          <a:p>
            <a:pPr algn="l"/>
            <a:r>
              <a:rPr sz="1000" b="0" i="0">
                <a:solidFill>
                  <a:srgbClr val="0D2B55"/>
                </a:solidFill>
              </a:rPr>
              <a:t>Auto-created on startup.
security.log records all failed login attempts.</a:t>
            </a:r>
          </a:p>
        </p:txBody>
      </p:sp>
      <p:sp>
        <p:nvSpPr>
          <p:cNvPr id="51" name="Rectangle 50"/>
          <p:cNvSpPr/>
          <p:nvPr/>
        </p:nvSpPr>
        <p:spPr>
          <a:xfrm>
            <a:off x="6858000" y="5212080"/>
            <a:ext cx="502920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0" y="5285232"/>
            <a:ext cx="4846320" cy="274320"/>
          </a:xfrm>
          <a:prstGeom prst="rect">
            <a:avLst/>
          </a:prstGeom>
          <a:noFill/>
        </p:spPr>
        <p:txBody>
          <a:bodyPr wrap="square">
            <a:spAutoFit/>
          </a:bodyPr>
          <a:lstStyle/>
          <a:p>
            <a:pPr algn="l"/>
            <a:r>
              <a:rPr sz="1100" b="1" i="0">
                <a:solidFill>
                  <a:srgbClr val="1A73E8"/>
                </a:solidFill>
              </a:rPr>
              <a:t>📄  Documentation</a:t>
            </a:r>
          </a:p>
        </p:txBody>
      </p:sp>
      <p:sp>
        <p:nvSpPr>
          <p:cNvPr id="53" name="TextBox 52"/>
          <p:cNvSpPr txBox="1"/>
          <p:nvPr/>
        </p:nvSpPr>
        <p:spPr>
          <a:xfrm>
            <a:off x="6949440" y="5577840"/>
            <a:ext cx="4846320" cy="594360"/>
          </a:xfrm>
          <a:prstGeom prst="rect">
            <a:avLst/>
          </a:prstGeom>
          <a:noFill/>
        </p:spPr>
        <p:txBody>
          <a:bodyPr wrap="square">
            <a:spAutoFit/>
          </a:bodyPr>
          <a:lstStyle/>
          <a:p>
            <a:pPr algn="l"/>
            <a:r>
              <a:rPr sz="1000" b="0" i="0">
                <a:solidFill>
                  <a:srgbClr val="0D2B55"/>
                </a:solidFill>
              </a:rPr>
              <a:t>9 markdown files covering architecture,
flow, testing, review prep, and more.</a:t>
            </a:r>
          </a:p>
        </p:txBody>
      </p:sp>
      <p:sp>
        <p:nvSpPr>
          <p:cNvPr id="54" name="TextBox 53"/>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Code Walkthrough</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How data flows through the application</a:t>
            </a:r>
          </a:p>
        </p:txBody>
      </p:sp>
      <p:sp>
        <p:nvSpPr>
          <p:cNvPr id="6" name="Rectangle 5"/>
          <p:cNvSpPr/>
          <p:nvPr/>
        </p:nvSpPr>
        <p:spPr>
          <a:xfrm>
            <a:off x="228600" y="1188720"/>
            <a:ext cx="475488" cy="47548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 y="1225296"/>
            <a:ext cx="411480" cy="384048"/>
          </a:xfrm>
          <a:prstGeom prst="rect">
            <a:avLst/>
          </a:prstGeom>
          <a:noFill/>
        </p:spPr>
        <p:txBody>
          <a:bodyPr wrap="square">
            <a:spAutoFit/>
          </a:bodyPr>
          <a:lstStyle/>
          <a:p>
            <a:pPr algn="ctr"/>
            <a:r>
              <a:rPr sz="2000" b="1" i="0">
                <a:solidFill>
                  <a:srgbClr val="FFFFFF"/>
                </a:solidFill>
              </a:rPr>
              <a:t>1</a:t>
            </a:r>
          </a:p>
        </p:txBody>
      </p:sp>
      <p:sp>
        <p:nvSpPr>
          <p:cNvPr id="8" name="TextBox 7"/>
          <p:cNvSpPr txBox="1"/>
          <p:nvPr/>
        </p:nvSpPr>
        <p:spPr>
          <a:xfrm>
            <a:off x="777240" y="1280160"/>
            <a:ext cx="3154679" cy="320040"/>
          </a:xfrm>
          <a:prstGeom prst="rect">
            <a:avLst/>
          </a:prstGeom>
          <a:noFill/>
        </p:spPr>
        <p:txBody>
          <a:bodyPr wrap="square">
            <a:spAutoFit/>
          </a:bodyPr>
          <a:lstStyle/>
          <a:p>
            <a:pPr algn="l"/>
            <a:r>
              <a:rPr sz="1300" b="1" i="0">
                <a:solidFill>
                  <a:srgbClr val="0D2B55"/>
                </a:solidFill>
              </a:rPr>
              <a:t>Keyboard Input</a:t>
            </a:r>
          </a:p>
        </p:txBody>
      </p:sp>
      <p:sp>
        <p:nvSpPr>
          <p:cNvPr id="9" name="Rectangle 8"/>
          <p:cNvSpPr/>
          <p:nvPr/>
        </p:nvSpPr>
        <p:spPr>
          <a:xfrm>
            <a:off x="228600" y="1719072"/>
            <a:ext cx="3749039" cy="1847088"/>
          </a:xfrm>
          <a:prstGeom prst="rect">
            <a:avLst/>
          </a:prstGeom>
          <a:solidFill>
            <a:srgbClr val="FFFFF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783080"/>
            <a:ext cx="3611879" cy="1737360"/>
          </a:xfrm>
          <a:prstGeom prst="rect">
            <a:avLst/>
          </a:prstGeom>
          <a:noFill/>
        </p:spPr>
        <p:txBody>
          <a:bodyPr wrap="square">
            <a:spAutoFit/>
          </a:bodyPr>
          <a:lstStyle/>
          <a:p>
            <a:pPr algn="l"/>
            <a:r>
              <a:rPr sz="1000" b="0" i="0">
                <a:solidFill>
                  <a:srgbClr val="0D2B55"/>
                </a:solidFill>
              </a:rPr>
              <a:t>readStr() / readInt() / readDouble()
Loop until valid. Catches NumberFormatException.
Prevents any crash from bad user input.</a:t>
            </a:r>
          </a:p>
        </p:txBody>
      </p:sp>
      <p:sp>
        <p:nvSpPr>
          <p:cNvPr id="11" name="TextBox 10"/>
          <p:cNvSpPr txBox="1"/>
          <p:nvPr/>
        </p:nvSpPr>
        <p:spPr>
          <a:xfrm>
            <a:off x="4014215" y="2011680"/>
            <a:ext cx="274320" cy="274320"/>
          </a:xfrm>
          <a:prstGeom prst="rect">
            <a:avLst/>
          </a:prstGeom>
          <a:noFill/>
        </p:spPr>
        <p:txBody>
          <a:bodyPr wrap="square">
            <a:spAutoFit/>
          </a:bodyPr>
          <a:lstStyle/>
          <a:p>
            <a:pPr algn="ctr"/>
            <a:r>
              <a:rPr sz="1800" b="1" i="0">
                <a:solidFill>
                  <a:srgbClr val="0D2B55"/>
                </a:solidFill>
              </a:rPr>
              <a:t>→</a:t>
            </a:r>
          </a:p>
        </p:txBody>
      </p:sp>
      <p:sp>
        <p:nvSpPr>
          <p:cNvPr id="12" name="Rectangle 11"/>
          <p:cNvSpPr/>
          <p:nvPr/>
        </p:nvSpPr>
        <p:spPr>
          <a:xfrm>
            <a:off x="4206240" y="1188720"/>
            <a:ext cx="475488" cy="47548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2816" y="1225296"/>
            <a:ext cx="411480" cy="384048"/>
          </a:xfrm>
          <a:prstGeom prst="rect">
            <a:avLst/>
          </a:prstGeom>
          <a:noFill/>
        </p:spPr>
        <p:txBody>
          <a:bodyPr wrap="square">
            <a:spAutoFit/>
          </a:bodyPr>
          <a:lstStyle/>
          <a:p>
            <a:pPr algn="ctr"/>
            <a:r>
              <a:rPr sz="2000" b="1" i="0">
                <a:solidFill>
                  <a:srgbClr val="FFFFFF"/>
                </a:solidFill>
              </a:rPr>
              <a:t>2</a:t>
            </a:r>
          </a:p>
        </p:txBody>
      </p:sp>
      <p:sp>
        <p:nvSpPr>
          <p:cNvPr id="14" name="TextBox 13"/>
          <p:cNvSpPr txBox="1"/>
          <p:nvPr/>
        </p:nvSpPr>
        <p:spPr>
          <a:xfrm>
            <a:off x="4754880" y="1280160"/>
            <a:ext cx="3154679" cy="320040"/>
          </a:xfrm>
          <a:prstGeom prst="rect">
            <a:avLst/>
          </a:prstGeom>
          <a:noFill/>
        </p:spPr>
        <p:txBody>
          <a:bodyPr wrap="square">
            <a:spAutoFit/>
          </a:bodyPr>
          <a:lstStyle/>
          <a:p>
            <a:pPr algn="l"/>
            <a:r>
              <a:rPr sz="1300" b="1" i="0">
                <a:solidFill>
                  <a:srgbClr val="1A73E8"/>
                </a:solidFill>
              </a:rPr>
              <a:t>Menu Method Called</a:t>
            </a:r>
          </a:p>
        </p:txBody>
      </p:sp>
      <p:sp>
        <p:nvSpPr>
          <p:cNvPr id="15" name="Rectangle 14"/>
          <p:cNvSpPr/>
          <p:nvPr/>
        </p:nvSpPr>
        <p:spPr>
          <a:xfrm>
            <a:off x="4206240" y="1719072"/>
            <a:ext cx="3749039" cy="1847088"/>
          </a:xfrm>
          <a:prstGeom prst="rect">
            <a:avLst/>
          </a:prstGeom>
          <a:solidFill>
            <a:srgbClr val="FFFFFF"/>
          </a:solidFill>
          <a:ln w="9525">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1783080"/>
            <a:ext cx="3611879" cy="1737360"/>
          </a:xfrm>
          <a:prstGeom prst="rect">
            <a:avLst/>
          </a:prstGeom>
          <a:noFill/>
        </p:spPr>
        <p:txBody>
          <a:bodyPr wrap="square">
            <a:spAutoFit/>
          </a:bodyPr>
          <a:lstStyle/>
          <a:p>
            <a:pPr algn="l"/>
            <a:r>
              <a:rPr sz="1000" b="0" i="0">
                <a:solidFill>
                  <a:srgbClr val="0D2B55"/>
                </a:solidFill>
              </a:rPr>
              <a:t>e.g. addTraining() collects date, distance,
duration, notes from user.
Wraps manager call in try-catch.</a:t>
            </a:r>
          </a:p>
        </p:txBody>
      </p:sp>
      <p:sp>
        <p:nvSpPr>
          <p:cNvPr id="17" name="TextBox 16"/>
          <p:cNvSpPr txBox="1"/>
          <p:nvPr/>
        </p:nvSpPr>
        <p:spPr>
          <a:xfrm>
            <a:off x="7991855" y="2011680"/>
            <a:ext cx="274320" cy="274320"/>
          </a:xfrm>
          <a:prstGeom prst="rect">
            <a:avLst/>
          </a:prstGeom>
          <a:noFill/>
        </p:spPr>
        <p:txBody>
          <a:bodyPr wrap="square">
            <a:spAutoFit/>
          </a:bodyPr>
          <a:lstStyle/>
          <a:p>
            <a:pPr algn="ctr"/>
            <a:r>
              <a:rPr sz="1800" b="1" i="0">
                <a:solidFill>
                  <a:srgbClr val="1A73E8"/>
                </a:solidFill>
              </a:rPr>
              <a:t>→</a:t>
            </a:r>
          </a:p>
        </p:txBody>
      </p:sp>
      <p:sp>
        <p:nvSpPr>
          <p:cNvPr id="18" name="Rectangle 17"/>
          <p:cNvSpPr/>
          <p:nvPr/>
        </p:nvSpPr>
        <p:spPr>
          <a:xfrm>
            <a:off x="8183879" y="1188720"/>
            <a:ext cx="475488" cy="47548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0455" y="1225296"/>
            <a:ext cx="411480" cy="384048"/>
          </a:xfrm>
          <a:prstGeom prst="rect">
            <a:avLst/>
          </a:prstGeom>
          <a:noFill/>
        </p:spPr>
        <p:txBody>
          <a:bodyPr wrap="square">
            <a:spAutoFit/>
          </a:bodyPr>
          <a:lstStyle/>
          <a:p>
            <a:pPr algn="ctr"/>
            <a:r>
              <a:rPr sz="2000" b="1" i="0">
                <a:solidFill>
                  <a:srgbClr val="FFFFFF"/>
                </a:solidFill>
              </a:rPr>
              <a:t>3</a:t>
            </a:r>
          </a:p>
        </p:txBody>
      </p:sp>
      <p:sp>
        <p:nvSpPr>
          <p:cNvPr id="20" name="TextBox 19"/>
          <p:cNvSpPr txBox="1"/>
          <p:nvPr/>
        </p:nvSpPr>
        <p:spPr>
          <a:xfrm>
            <a:off x="8732519" y="1280160"/>
            <a:ext cx="3154679" cy="320040"/>
          </a:xfrm>
          <a:prstGeom prst="rect">
            <a:avLst/>
          </a:prstGeom>
          <a:noFill/>
        </p:spPr>
        <p:txBody>
          <a:bodyPr wrap="square">
            <a:spAutoFit/>
          </a:bodyPr>
          <a:lstStyle/>
          <a:p>
            <a:pPr algn="l"/>
            <a:r>
              <a:rPr sz="1300" b="1" i="0">
                <a:solidFill>
                  <a:srgbClr val="34A853"/>
                </a:solidFill>
              </a:rPr>
              <a:t>Manager Validates</a:t>
            </a:r>
          </a:p>
        </p:txBody>
      </p:sp>
      <p:sp>
        <p:nvSpPr>
          <p:cNvPr id="21" name="Rectangle 20"/>
          <p:cNvSpPr/>
          <p:nvPr/>
        </p:nvSpPr>
        <p:spPr>
          <a:xfrm>
            <a:off x="8183879" y="1719072"/>
            <a:ext cx="3749039" cy="184708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19" y="1783080"/>
            <a:ext cx="3611879" cy="1737360"/>
          </a:xfrm>
          <a:prstGeom prst="rect">
            <a:avLst/>
          </a:prstGeom>
          <a:noFill/>
        </p:spPr>
        <p:txBody>
          <a:bodyPr wrap="square">
            <a:spAutoFit/>
          </a:bodyPr>
          <a:lstStyle/>
          <a:p>
            <a:pPr algn="l"/>
            <a:r>
              <a:rPr sz="1000" b="0" i="0">
                <a:solidFill>
                  <a:srgbClr val="0D2B55"/>
                </a:solidFill>
              </a:rPr>
              <a:t>TrainingMgr.addLog() checks:
no future, 1-100km, pace 3-10,
no duplicate. Throws if invalid.</a:t>
            </a:r>
          </a:p>
        </p:txBody>
      </p:sp>
      <p:sp>
        <p:nvSpPr>
          <p:cNvPr id="23" name="Rectangle 22"/>
          <p:cNvSpPr/>
          <p:nvPr/>
        </p:nvSpPr>
        <p:spPr>
          <a:xfrm>
            <a:off x="228600" y="3749039"/>
            <a:ext cx="475488" cy="47548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5176" y="3785615"/>
            <a:ext cx="411480" cy="384048"/>
          </a:xfrm>
          <a:prstGeom prst="rect">
            <a:avLst/>
          </a:prstGeom>
          <a:noFill/>
        </p:spPr>
        <p:txBody>
          <a:bodyPr wrap="square">
            <a:spAutoFit/>
          </a:bodyPr>
          <a:lstStyle/>
          <a:p>
            <a:pPr algn="ctr"/>
            <a:r>
              <a:rPr sz="2000" b="1" i="0">
                <a:solidFill>
                  <a:srgbClr val="FFFFFF"/>
                </a:solidFill>
              </a:rPr>
              <a:t>4</a:t>
            </a:r>
          </a:p>
        </p:txBody>
      </p:sp>
      <p:sp>
        <p:nvSpPr>
          <p:cNvPr id="25" name="TextBox 24"/>
          <p:cNvSpPr txBox="1"/>
          <p:nvPr/>
        </p:nvSpPr>
        <p:spPr>
          <a:xfrm>
            <a:off x="777240" y="3840479"/>
            <a:ext cx="3154679" cy="320040"/>
          </a:xfrm>
          <a:prstGeom prst="rect">
            <a:avLst/>
          </a:prstGeom>
          <a:noFill/>
        </p:spPr>
        <p:txBody>
          <a:bodyPr wrap="square">
            <a:spAutoFit/>
          </a:bodyPr>
          <a:lstStyle/>
          <a:p>
            <a:pPr algn="l"/>
            <a:r>
              <a:rPr sz="1300" b="1" i="0">
                <a:solidFill>
                  <a:srgbClr val="FF6D00"/>
                </a:solidFill>
              </a:rPr>
              <a:t>Object Created</a:t>
            </a:r>
          </a:p>
        </p:txBody>
      </p:sp>
      <p:sp>
        <p:nvSpPr>
          <p:cNvPr id="26" name="Rectangle 25"/>
          <p:cNvSpPr/>
          <p:nvPr/>
        </p:nvSpPr>
        <p:spPr>
          <a:xfrm>
            <a:off x="228600" y="4279391"/>
            <a:ext cx="3749039" cy="1847088"/>
          </a:xfrm>
          <a:prstGeom prst="rect">
            <a:avLst/>
          </a:prstGeom>
          <a:solidFill>
            <a:srgbClr val="FFFFFF"/>
          </a:solidFill>
          <a:ln w="9525">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4343399"/>
            <a:ext cx="3611879" cy="1737360"/>
          </a:xfrm>
          <a:prstGeom prst="rect">
            <a:avLst/>
          </a:prstGeom>
          <a:noFill/>
        </p:spPr>
        <p:txBody>
          <a:bodyPr wrap="square">
            <a:spAutoFit/>
          </a:bodyPr>
          <a:lstStyle/>
          <a:p>
            <a:pPr algn="l"/>
            <a:r>
              <a:rPr sz="1000" b="0" i="0">
                <a:solidFill>
                  <a:srgbClr val="0D2B55"/>
                </a:solidFill>
              </a:rPr>
              <a:t>new TrainingLog(id, runnerId, date, dist, dur, notes)
Pace auto-calculated in constructor.
flagged field set if outlier.</a:t>
            </a:r>
          </a:p>
        </p:txBody>
      </p:sp>
      <p:sp>
        <p:nvSpPr>
          <p:cNvPr id="28" name="TextBox 27"/>
          <p:cNvSpPr txBox="1"/>
          <p:nvPr/>
        </p:nvSpPr>
        <p:spPr>
          <a:xfrm>
            <a:off x="4014215" y="4571999"/>
            <a:ext cx="274320" cy="274320"/>
          </a:xfrm>
          <a:prstGeom prst="rect">
            <a:avLst/>
          </a:prstGeom>
          <a:noFill/>
        </p:spPr>
        <p:txBody>
          <a:bodyPr wrap="square">
            <a:spAutoFit/>
          </a:bodyPr>
          <a:lstStyle/>
          <a:p>
            <a:pPr algn="ctr"/>
            <a:r>
              <a:rPr sz="1800" b="1" i="0">
                <a:solidFill>
                  <a:srgbClr val="FF6D00"/>
                </a:solidFill>
              </a:rPr>
              <a:t>→</a:t>
            </a:r>
          </a:p>
        </p:txBody>
      </p:sp>
      <p:sp>
        <p:nvSpPr>
          <p:cNvPr id="29" name="Rectangle 28"/>
          <p:cNvSpPr/>
          <p:nvPr/>
        </p:nvSpPr>
        <p:spPr>
          <a:xfrm>
            <a:off x="4206240" y="3749039"/>
            <a:ext cx="475488" cy="475488"/>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42816" y="3785615"/>
            <a:ext cx="411480" cy="384048"/>
          </a:xfrm>
          <a:prstGeom prst="rect">
            <a:avLst/>
          </a:prstGeom>
          <a:noFill/>
        </p:spPr>
        <p:txBody>
          <a:bodyPr wrap="square">
            <a:spAutoFit/>
          </a:bodyPr>
          <a:lstStyle/>
          <a:p>
            <a:pPr algn="ctr"/>
            <a:r>
              <a:rPr sz="2000" b="1" i="0">
                <a:solidFill>
                  <a:srgbClr val="FFFFFF"/>
                </a:solidFill>
              </a:rPr>
              <a:t>5</a:t>
            </a:r>
          </a:p>
        </p:txBody>
      </p:sp>
      <p:sp>
        <p:nvSpPr>
          <p:cNvPr id="31" name="TextBox 30"/>
          <p:cNvSpPr txBox="1"/>
          <p:nvPr/>
        </p:nvSpPr>
        <p:spPr>
          <a:xfrm>
            <a:off x="4754880" y="3840479"/>
            <a:ext cx="3154679" cy="320040"/>
          </a:xfrm>
          <a:prstGeom prst="rect">
            <a:avLst/>
          </a:prstGeom>
          <a:noFill/>
        </p:spPr>
        <p:txBody>
          <a:bodyPr wrap="square">
            <a:spAutoFit/>
          </a:bodyPr>
          <a:lstStyle/>
          <a:p>
            <a:pPr algn="l"/>
            <a:r>
              <a:rPr sz="1300" b="1" i="0">
                <a:solidFill>
                  <a:srgbClr val="8E24AA"/>
                </a:solidFill>
              </a:rPr>
              <a:t>Collection Updated</a:t>
            </a:r>
          </a:p>
        </p:txBody>
      </p:sp>
      <p:sp>
        <p:nvSpPr>
          <p:cNvPr id="32" name="Rectangle 31"/>
          <p:cNvSpPr/>
          <p:nvPr/>
        </p:nvSpPr>
        <p:spPr>
          <a:xfrm>
            <a:off x="4206240" y="4279391"/>
            <a:ext cx="3749039" cy="1847088"/>
          </a:xfrm>
          <a:prstGeom prst="rect">
            <a:avLst/>
          </a:prstGeom>
          <a:solidFill>
            <a:srgbClr val="FFFFFF"/>
          </a:solidFill>
          <a:ln w="9525">
            <a:solidFill>
              <a:srgbClr val="8E2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4343399"/>
            <a:ext cx="3611879" cy="1737360"/>
          </a:xfrm>
          <a:prstGeom prst="rect">
            <a:avLst/>
          </a:prstGeom>
          <a:noFill/>
        </p:spPr>
        <p:txBody>
          <a:bodyPr wrap="square">
            <a:spAutoFit/>
          </a:bodyPr>
          <a:lstStyle/>
          <a:p>
            <a:pPr algn="l"/>
            <a:r>
              <a:rPr sz="1000" b="0" i="0">
                <a:solidFill>
                  <a:srgbClr val="0D2B55"/>
                </a:solidFill>
              </a:rPr>
              <a:t>trainingLogs.add(newLog)
Static list updated in-place.
logIdCount++ increments for next ID.</a:t>
            </a:r>
          </a:p>
        </p:txBody>
      </p:sp>
      <p:sp>
        <p:nvSpPr>
          <p:cNvPr id="34" name="TextBox 33"/>
          <p:cNvSpPr txBox="1"/>
          <p:nvPr/>
        </p:nvSpPr>
        <p:spPr>
          <a:xfrm>
            <a:off x="7991855" y="4571999"/>
            <a:ext cx="274320" cy="274320"/>
          </a:xfrm>
          <a:prstGeom prst="rect">
            <a:avLst/>
          </a:prstGeom>
          <a:noFill/>
        </p:spPr>
        <p:txBody>
          <a:bodyPr wrap="square">
            <a:spAutoFit/>
          </a:bodyPr>
          <a:lstStyle/>
          <a:p>
            <a:pPr algn="ctr"/>
            <a:r>
              <a:rPr sz="1800" b="1" i="0">
                <a:solidFill>
                  <a:srgbClr val="8E24AA"/>
                </a:solidFill>
              </a:rPr>
              <a:t>→</a:t>
            </a:r>
          </a:p>
        </p:txBody>
      </p:sp>
      <p:sp>
        <p:nvSpPr>
          <p:cNvPr id="35" name="Rectangle 34"/>
          <p:cNvSpPr/>
          <p:nvPr/>
        </p:nvSpPr>
        <p:spPr>
          <a:xfrm>
            <a:off x="8183879" y="3749039"/>
            <a:ext cx="475488" cy="47548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0455" y="3785615"/>
            <a:ext cx="411480" cy="384048"/>
          </a:xfrm>
          <a:prstGeom prst="rect">
            <a:avLst/>
          </a:prstGeom>
          <a:noFill/>
        </p:spPr>
        <p:txBody>
          <a:bodyPr wrap="square">
            <a:spAutoFit/>
          </a:bodyPr>
          <a:lstStyle/>
          <a:p>
            <a:pPr algn="ctr"/>
            <a:r>
              <a:rPr sz="2000" b="1" i="0">
                <a:solidFill>
                  <a:srgbClr val="FFFFFF"/>
                </a:solidFill>
              </a:rPr>
              <a:t>6</a:t>
            </a:r>
          </a:p>
        </p:txBody>
      </p:sp>
      <p:sp>
        <p:nvSpPr>
          <p:cNvPr id="37" name="TextBox 36"/>
          <p:cNvSpPr txBox="1"/>
          <p:nvPr/>
        </p:nvSpPr>
        <p:spPr>
          <a:xfrm>
            <a:off x="8732519" y="3840479"/>
            <a:ext cx="3154679" cy="320040"/>
          </a:xfrm>
          <a:prstGeom prst="rect">
            <a:avLst/>
          </a:prstGeom>
          <a:noFill/>
        </p:spPr>
        <p:txBody>
          <a:bodyPr wrap="square">
            <a:spAutoFit/>
          </a:bodyPr>
          <a:lstStyle/>
          <a:p>
            <a:pPr algn="l"/>
            <a:r>
              <a:rPr sz="1300" b="1" i="0">
                <a:solidFill>
                  <a:srgbClr val="34A853"/>
                </a:solidFill>
              </a:rPr>
              <a:t>Console Output</a:t>
            </a:r>
          </a:p>
        </p:txBody>
      </p:sp>
      <p:sp>
        <p:nvSpPr>
          <p:cNvPr id="38" name="Rectangle 37"/>
          <p:cNvSpPr/>
          <p:nvPr/>
        </p:nvSpPr>
        <p:spPr>
          <a:xfrm>
            <a:off x="8183879" y="4279391"/>
            <a:ext cx="3749039" cy="1847088"/>
          </a:xfrm>
          <a:prstGeom prst="rect">
            <a:avLst/>
          </a:prstGeom>
          <a:solidFill>
            <a:srgbClr val="FFFFFF"/>
          </a:solidFill>
          <a:ln w="9525">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19" y="4343399"/>
            <a:ext cx="3611879" cy="1737360"/>
          </a:xfrm>
          <a:prstGeom prst="rect">
            <a:avLst/>
          </a:prstGeom>
          <a:noFill/>
        </p:spPr>
        <p:txBody>
          <a:bodyPr wrap="square">
            <a:spAutoFit/>
          </a:bodyPr>
          <a:lstStyle/>
          <a:p>
            <a:pPr algn="l"/>
            <a:r>
              <a:rPr sz="1000" b="0" i="0">
                <a:solidFill>
                  <a:srgbClr val="0D2B55"/>
                </a:solidFill>
              </a:rPr>
              <a:t>ok("Training workout saved!")
println("Log ID: " + log.id)
warn() if flagged as outlier.</a:t>
            </a:r>
          </a:p>
        </p:txBody>
      </p:sp>
      <p:sp>
        <p:nvSpPr>
          <p:cNvPr id="40" name="TextBox 39"/>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9144000" cy="594360"/>
          </a:xfrm>
          <a:prstGeom prst="rect">
            <a:avLst/>
          </a:prstGeom>
          <a:noFill/>
        </p:spPr>
        <p:txBody>
          <a:bodyPr wrap="square">
            <a:spAutoFit/>
          </a:bodyPr>
          <a:lstStyle/>
          <a:p>
            <a:pPr algn="l"/>
            <a:r>
              <a:rPr sz="2600" b="1" i="0">
                <a:solidFill>
                  <a:srgbClr val="FFFFFF"/>
                </a:solidFill>
              </a:rPr>
              <a:t>Review Preparation — Q &amp; A</a:t>
            </a:r>
          </a:p>
        </p:txBody>
      </p:sp>
      <p:sp>
        <p:nvSpPr>
          <p:cNvPr id="5" name="TextBox 4"/>
          <p:cNvSpPr txBox="1"/>
          <p:nvPr/>
        </p:nvSpPr>
        <p:spPr>
          <a:xfrm>
            <a:off x="365760" y="658368"/>
            <a:ext cx="8229600" cy="347472"/>
          </a:xfrm>
          <a:prstGeom prst="rect">
            <a:avLst/>
          </a:prstGeom>
          <a:noFill/>
        </p:spPr>
        <p:txBody>
          <a:bodyPr wrap="square">
            <a:spAutoFit/>
          </a:bodyPr>
          <a:lstStyle/>
          <a:p>
            <a:pPr algn="l"/>
            <a:r>
              <a:rPr sz="1300" b="0" i="0">
                <a:solidFill>
                  <a:srgbClr val="00BFD8"/>
                </a:solidFill>
              </a:rPr>
              <a:t>Expected invigilator questions and model answers</a:t>
            </a:r>
          </a:p>
        </p:txBody>
      </p:sp>
      <p:sp>
        <p:nvSpPr>
          <p:cNvPr id="6" name="Rectangle 5"/>
          <p:cNvSpPr/>
          <p:nvPr/>
        </p:nvSpPr>
        <p:spPr>
          <a:xfrm>
            <a:off x="228600" y="1188720"/>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88720"/>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 y="1234440"/>
            <a:ext cx="5559552" cy="256032"/>
          </a:xfrm>
          <a:prstGeom prst="rect">
            <a:avLst/>
          </a:prstGeom>
          <a:noFill/>
        </p:spPr>
        <p:txBody>
          <a:bodyPr wrap="square">
            <a:spAutoFit/>
          </a:bodyPr>
          <a:lstStyle/>
          <a:p>
            <a:pPr algn="l"/>
            <a:r>
              <a:rPr sz="1000" b="1" i="0">
                <a:solidFill>
                  <a:srgbClr val="FFFFFF"/>
                </a:solidFill>
              </a:rPr>
              <a:t>Q:  Why ArrayList?</a:t>
            </a:r>
          </a:p>
        </p:txBody>
      </p:sp>
      <p:sp>
        <p:nvSpPr>
          <p:cNvPr id="9" name="TextBox 8"/>
          <p:cNvSpPr txBox="1"/>
          <p:nvPr/>
        </p:nvSpPr>
        <p:spPr>
          <a:xfrm>
            <a:off x="301752" y="1554480"/>
            <a:ext cx="5559552" cy="594360"/>
          </a:xfrm>
          <a:prstGeom prst="rect">
            <a:avLst/>
          </a:prstGeom>
          <a:noFill/>
        </p:spPr>
        <p:txBody>
          <a:bodyPr wrap="square">
            <a:spAutoFit/>
          </a:bodyPr>
          <a:lstStyle/>
          <a:p>
            <a:pPr algn="l"/>
            <a:r>
              <a:rPr sz="950" b="0" i="0">
                <a:solidFill>
                  <a:srgbClr val="0D2B55"/>
                </a:solidFill>
              </a:rPr>
              <a:t>A:  Ordered, dynamically sized, supports iteration and sort. Best for sequential data like logs and race lists.</a:t>
            </a:r>
          </a:p>
        </p:txBody>
      </p:sp>
      <p:sp>
        <p:nvSpPr>
          <p:cNvPr id="10" name="Rectangle 9"/>
          <p:cNvSpPr/>
          <p:nvPr/>
        </p:nvSpPr>
        <p:spPr>
          <a:xfrm>
            <a:off x="6217920" y="1188720"/>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188720"/>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234440"/>
            <a:ext cx="5559552" cy="256032"/>
          </a:xfrm>
          <a:prstGeom prst="rect">
            <a:avLst/>
          </a:prstGeom>
          <a:noFill/>
        </p:spPr>
        <p:txBody>
          <a:bodyPr wrap="square">
            <a:spAutoFit/>
          </a:bodyPr>
          <a:lstStyle/>
          <a:p>
            <a:pPr algn="l"/>
            <a:r>
              <a:rPr sz="1000" b="1" i="0">
                <a:solidFill>
                  <a:srgbClr val="FFFFFF"/>
                </a:solidFill>
              </a:rPr>
              <a:t>Q:  Why HashMap for users?</a:t>
            </a:r>
          </a:p>
        </p:txBody>
      </p:sp>
      <p:sp>
        <p:nvSpPr>
          <p:cNvPr id="13" name="TextBox 12"/>
          <p:cNvSpPr txBox="1"/>
          <p:nvPr/>
        </p:nvSpPr>
        <p:spPr>
          <a:xfrm>
            <a:off x="6291072" y="1554480"/>
            <a:ext cx="5559552" cy="594360"/>
          </a:xfrm>
          <a:prstGeom prst="rect">
            <a:avLst/>
          </a:prstGeom>
          <a:noFill/>
        </p:spPr>
        <p:txBody>
          <a:bodyPr wrap="square">
            <a:spAutoFit/>
          </a:bodyPr>
          <a:lstStyle/>
          <a:p>
            <a:pPr algn="l"/>
            <a:r>
              <a:rPr sz="950" b="0" i="0">
                <a:solidFill>
                  <a:srgbClr val="0D2B55"/>
                </a:solidFill>
              </a:rPr>
              <a:t>A:  O(1) average lookup by email key. Without it, every login would require O(n) loop through users list.</a:t>
            </a:r>
          </a:p>
        </p:txBody>
      </p:sp>
      <p:sp>
        <p:nvSpPr>
          <p:cNvPr id="14" name="Rectangle 13"/>
          <p:cNvSpPr/>
          <p:nvPr/>
        </p:nvSpPr>
        <p:spPr>
          <a:xfrm>
            <a:off x="228600" y="2267712"/>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267712"/>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 y="2313432"/>
            <a:ext cx="5559552" cy="256032"/>
          </a:xfrm>
          <a:prstGeom prst="rect">
            <a:avLst/>
          </a:prstGeom>
          <a:noFill/>
        </p:spPr>
        <p:txBody>
          <a:bodyPr wrap="square">
            <a:spAutoFit/>
          </a:bodyPr>
          <a:lstStyle/>
          <a:p>
            <a:pPr algn="l"/>
            <a:r>
              <a:rPr sz="1000" b="1" i="0">
                <a:solidFill>
                  <a:srgbClr val="FFFFFF"/>
                </a:solidFill>
              </a:rPr>
              <a:t>Q:  Why HashSet for emails?</a:t>
            </a:r>
          </a:p>
        </p:txBody>
      </p:sp>
      <p:sp>
        <p:nvSpPr>
          <p:cNvPr id="17" name="TextBox 16"/>
          <p:cNvSpPr txBox="1"/>
          <p:nvPr/>
        </p:nvSpPr>
        <p:spPr>
          <a:xfrm>
            <a:off x="301752" y="2633472"/>
            <a:ext cx="5559552" cy="594360"/>
          </a:xfrm>
          <a:prstGeom prst="rect">
            <a:avLst/>
          </a:prstGeom>
          <a:noFill/>
        </p:spPr>
        <p:txBody>
          <a:bodyPr wrap="square">
            <a:spAutoFit/>
          </a:bodyPr>
          <a:lstStyle/>
          <a:p>
            <a:pPr algn="l"/>
            <a:r>
              <a:rPr sz="950" b="0" i="0">
                <a:solidFill>
                  <a:srgbClr val="0D2B55"/>
                </a:solidFill>
              </a:rPr>
              <a:t>A:  O(1) duplicate check. Adding email to set after registration prevents duplicate accounts instantly.</a:t>
            </a:r>
          </a:p>
        </p:txBody>
      </p:sp>
      <p:sp>
        <p:nvSpPr>
          <p:cNvPr id="18" name="Rectangle 17"/>
          <p:cNvSpPr/>
          <p:nvPr/>
        </p:nvSpPr>
        <p:spPr>
          <a:xfrm>
            <a:off x="6217920" y="2267712"/>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267712"/>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2313432"/>
            <a:ext cx="5559552" cy="256032"/>
          </a:xfrm>
          <a:prstGeom prst="rect">
            <a:avLst/>
          </a:prstGeom>
          <a:noFill/>
        </p:spPr>
        <p:txBody>
          <a:bodyPr wrap="square">
            <a:spAutoFit/>
          </a:bodyPr>
          <a:lstStyle/>
          <a:p>
            <a:pPr algn="l"/>
            <a:r>
              <a:rPr sz="1000" b="1" i="0">
                <a:solidFill>
                  <a:srgbClr val="FFFFFF"/>
                </a:solidFill>
              </a:rPr>
              <a:t>Q:  Why OOP?</a:t>
            </a:r>
          </a:p>
        </p:txBody>
      </p:sp>
      <p:sp>
        <p:nvSpPr>
          <p:cNvPr id="21" name="TextBox 20"/>
          <p:cNvSpPr txBox="1"/>
          <p:nvPr/>
        </p:nvSpPr>
        <p:spPr>
          <a:xfrm>
            <a:off x="6291072" y="2633472"/>
            <a:ext cx="5559552" cy="594360"/>
          </a:xfrm>
          <a:prstGeom prst="rect">
            <a:avLst/>
          </a:prstGeom>
          <a:noFill/>
        </p:spPr>
        <p:txBody>
          <a:bodyPr wrap="square">
            <a:spAutoFit/>
          </a:bodyPr>
          <a:lstStyle/>
          <a:p>
            <a:pPr algn="l"/>
            <a:r>
              <a:rPr sz="950" b="0" i="0">
                <a:solidFill>
                  <a:srgbClr val="0D2B55"/>
                </a:solidFill>
              </a:rPr>
              <a:t>A:  Encapsulation keeps data and logic together. Abstraction hides complexity. Makes code readable and maintainable.</a:t>
            </a:r>
          </a:p>
        </p:txBody>
      </p:sp>
      <p:sp>
        <p:nvSpPr>
          <p:cNvPr id="22" name="Rectangle 21"/>
          <p:cNvSpPr/>
          <p:nvPr/>
        </p:nvSpPr>
        <p:spPr>
          <a:xfrm>
            <a:off x="228600" y="3346704"/>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8600" y="3346704"/>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 y="3392424"/>
            <a:ext cx="5559552" cy="256032"/>
          </a:xfrm>
          <a:prstGeom prst="rect">
            <a:avLst/>
          </a:prstGeom>
          <a:noFill/>
        </p:spPr>
        <p:txBody>
          <a:bodyPr wrap="square">
            <a:spAutoFit/>
          </a:bodyPr>
          <a:lstStyle/>
          <a:p>
            <a:pPr algn="l"/>
            <a:r>
              <a:rPr sz="1000" b="1" i="0">
                <a:solidFill>
                  <a:srgbClr val="FFFFFF"/>
                </a:solidFill>
              </a:rPr>
              <a:t>Q:  Why Exception handling?</a:t>
            </a:r>
          </a:p>
        </p:txBody>
      </p:sp>
      <p:sp>
        <p:nvSpPr>
          <p:cNvPr id="25" name="TextBox 24"/>
          <p:cNvSpPr txBox="1"/>
          <p:nvPr/>
        </p:nvSpPr>
        <p:spPr>
          <a:xfrm>
            <a:off x="301752" y="3712464"/>
            <a:ext cx="5559552" cy="594360"/>
          </a:xfrm>
          <a:prstGeom prst="rect">
            <a:avLst/>
          </a:prstGeom>
          <a:noFill/>
        </p:spPr>
        <p:txBody>
          <a:bodyPr wrap="square">
            <a:spAutoFit/>
          </a:bodyPr>
          <a:lstStyle/>
          <a:p>
            <a:pPr algn="l"/>
            <a:r>
              <a:rPr sz="950" b="0" i="0">
                <a:solidFill>
                  <a:srgbClr val="0D2B55"/>
                </a:solidFill>
              </a:rPr>
              <a:t>A:  Prevents crashes. Manager throws descriptive exceptions, menus catch them and show user-friendly error messages.</a:t>
            </a:r>
          </a:p>
        </p:txBody>
      </p:sp>
      <p:sp>
        <p:nvSpPr>
          <p:cNvPr id="26" name="Rectangle 25"/>
          <p:cNvSpPr/>
          <p:nvPr/>
        </p:nvSpPr>
        <p:spPr>
          <a:xfrm>
            <a:off x="6217920" y="3346704"/>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346704"/>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3392424"/>
            <a:ext cx="5559552" cy="256032"/>
          </a:xfrm>
          <a:prstGeom prst="rect">
            <a:avLst/>
          </a:prstGeom>
          <a:noFill/>
        </p:spPr>
        <p:txBody>
          <a:bodyPr wrap="square">
            <a:spAutoFit/>
          </a:bodyPr>
          <a:lstStyle/>
          <a:p>
            <a:pPr algn="l"/>
            <a:r>
              <a:rPr sz="1000" b="1" i="0">
                <a:solidFill>
                  <a:srgbClr val="FFFFFF"/>
                </a:solidFill>
              </a:rPr>
              <a:t>Q:  Why no Database?</a:t>
            </a:r>
          </a:p>
        </p:txBody>
      </p:sp>
      <p:sp>
        <p:nvSpPr>
          <p:cNvPr id="29" name="TextBox 28"/>
          <p:cNvSpPr txBox="1"/>
          <p:nvPr/>
        </p:nvSpPr>
        <p:spPr>
          <a:xfrm>
            <a:off x="6291072" y="3712464"/>
            <a:ext cx="5559552" cy="594360"/>
          </a:xfrm>
          <a:prstGeom prst="rect">
            <a:avLst/>
          </a:prstGeom>
          <a:noFill/>
        </p:spPr>
        <p:txBody>
          <a:bodyPr wrap="square">
            <a:spAutoFit/>
          </a:bodyPr>
          <a:lstStyle/>
          <a:p>
            <a:pPr algn="l"/>
            <a:r>
              <a:rPr sz="950" b="0" i="0">
                <a:solidFill>
                  <a:srgbClr val="0D2B55"/>
                </a:solidFill>
              </a:rPr>
              <a:t>A:  Project scope is Core Java console only. No JDBC, no MySQL. In-memory collections reset on exit — expected behaviour.</a:t>
            </a:r>
          </a:p>
        </p:txBody>
      </p:sp>
      <p:sp>
        <p:nvSpPr>
          <p:cNvPr id="30" name="Rectangle 29"/>
          <p:cNvSpPr/>
          <p:nvPr/>
        </p:nvSpPr>
        <p:spPr>
          <a:xfrm>
            <a:off x="228600" y="4425696"/>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 y="4425696"/>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 y="4471416"/>
            <a:ext cx="5559552" cy="256032"/>
          </a:xfrm>
          <a:prstGeom prst="rect">
            <a:avLst/>
          </a:prstGeom>
          <a:noFill/>
        </p:spPr>
        <p:txBody>
          <a:bodyPr wrap="square">
            <a:spAutoFit/>
          </a:bodyPr>
          <a:lstStyle/>
          <a:p>
            <a:pPr algn="l"/>
            <a:r>
              <a:rPr sz="1000" b="1" i="0">
                <a:solidFill>
                  <a:srgbClr val="FFFFFF"/>
                </a:solidFill>
              </a:rPr>
              <a:t>Q:  Why no Spring/REST?</a:t>
            </a:r>
          </a:p>
        </p:txBody>
      </p:sp>
      <p:sp>
        <p:nvSpPr>
          <p:cNvPr id="33" name="TextBox 32"/>
          <p:cNvSpPr txBox="1"/>
          <p:nvPr/>
        </p:nvSpPr>
        <p:spPr>
          <a:xfrm>
            <a:off x="301752" y="4791456"/>
            <a:ext cx="5559552" cy="594360"/>
          </a:xfrm>
          <a:prstGeom prst="rect">
            <a:avLst/>
          </a:prstGeom>
          <a:noFill/>
        </p:spPr>
        <p:txBody>
          <a:bodyPr wrap="square">
            <a:spAutoFit/>
          </a:bodyPr>
          <a:lstStyle/>
          <a:p>
            <a:pPr algn="l"/>
            <a:r>
              <a:rPr sz="950" b="0" i="0">
                <a:solidFill>
                  <a:srgbClr val="0D2B55"/>
                </a:solidFill>
              </a:rPr>
              <a:t>A:  Spring requires external dependencies and web server. This project uses only java.util and java.time — pure JDK.</a:t>
            </a:r>
          </a:p>
        </p:txBody>
      </p:sp>
      <p:sp>
        <p:nvSpPr>
          <p:cNvPr id="34" name="Rectangle 33"/>
          <p:cNvSpPr/>
          <p:nvPr/>
        </p:nvSpPr>
        <p:spPr>
          <a:xfrm>
            <a:off x="6217920" y="4425696"/>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4425696"/>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4471416"/>
            <a:ext cx="5559552" cy="256032"/>
          </a:xfrm>
          <a:prstGeom prst="rect">
            <a:avLst/>
          </a:prstGeom>
          <a:noFill/>
        </p:spPr>
        <p:txBody>
          <a:bodyPr wrap="square">
            <a:spAutoFit/>
          </a:bodyPr>
          <a:lstStyle/>
          <a:p>
            <a:pPr algn="l"/>
            <a:r>
              <a:rPr sz="1000" b="1" i="0">
                <a:solidFill>
                  <a:srgbClr val="FFFFFF"/>
                </a:solidFill>
              </a:rPr>
              <a:t>Q:  How is security handled?</a:t>
            </a:r>
          </a:p>
        </p:txBody>
      </p:sp>
      <p:sp>
        <p:nvSpPr>
          <p:cNvPr id="37" name="TextBox 36"/>
          <p:cNvSpPr txBox="1"/>
          <p:nvPr/>
        </p:nvSpPr>
        <p:spPr>
          <a:xfrm>
            <a:off x="6291072" y="4791456"/>
            <a:ext cx="5559552" cy="594360"/>
          </a:xfrm>
          <a:prstGeom prst="rect">
            <a:avLst/>
          </a:prstGeom>
          <a:noFill/>
        </p:spPr>
        <p:txBody>
          <a:bodyPr wrap="square">
            <a:spAutoFit/>
          </a:bodyPr>
          <a:lstStyle/>
          <a:p>
            <a:pPr algn="l"/>
            <a:r>
              <a:rPr sz="950" b="0" i="0">
                <a:solidFill>
                  <a:srgbClr val="0D2B55"/>
                </a:solidFill>
              </a:rPr>
              <a:t>A:  5-attempt lockout (30 min) via LocalDateTime. Failed attempts logged to security.log with timestamp and reason.</a:t>
            </a:r>
          </a:p>
        </p:txBody>
      </p:sp>
      <p:sp>
        <p:nvSpPr>
          <p:cNvPr id="38" name="Rectangle 37"/>
          <p:cNvSpPr/>
          <p:nvPr/>
        </p:nvSpPr>
        <p:spPr>
          <a:xfrm>
            <a:off x="228600" y="5504688"/>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28600" y="5504688"/>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752" y="5550408"/>
            <a:ext cx="5559552" cy="256032"/>
          </a:xfrm>
          <a:prstGeom prst="rect">
            <a:avLst/>
          </a:prstGeom>
          <a:noFill/>
        </p:spPr>
        <p:txBody>
          <a:bodyPr wrap="square">
            <a:spAutoFit/>
          </a:bodyPr>
          <a:lstStyle/>
          <a:p>
            <a:pPr algn="l"/>
            <a:r>
              <a:rPr sz="1000" b="1" i="0">
                <a:solidFill>
                  <a:srgbClr val="FFFFFF"/>
                </a:solidFill>
              </a:rPr>
              <a:t>Q:  How does role separation work?</a:t>
            </a:r>
          </a:p>
        </p:txBody>
      </p:sp>
      <p:sp>
        <p:nvSpPr>
          <p:cNvPr id="41" name="TextBox 40"/>
          <p:cNvSpPr txBox="1"/>
          <p:nvPr/>
        </p:nvSpPr>
        <p:spPr>
          <a:xfrm>
            <a:off x="301752" y="5870448"/>
            <a:ext cx="5559552" cy="594360"/>
          </a:xfrm>
          <a:prstGeom prst="rect">
            <a:avLst/>
          </a:prstGeom>
          <a:noFill/>
        </p:spPr>
        <p:txBody>
          <a:bodyPr wrap="square">
            <a:spAutoFit/>
          </a:bodyPr>
          <a:lstStyle/>
          <a:p>
            <a:pPr algn="l"/>
            <a:r>
              <a:rPr sz="950" b="0" i="0">
                <a:solidFill>
                  <a:srgbClr val="0D2B55"/>
                </a:solidFill>
              </a:rPr>
              <a:t>A:  After login, user.role is checked. ADMIN calls showAdminMenu(), RUNNER calls showRunnerMenu(). Paths never cross.</a:t>
            </a:r>
          </a:p>
        </p:txBody>
      </p:sp>
      <p:sp>
        <p:nvSpPr>
          <p:cNvPr id="42" name="Rectangle 41"/>
          <p:cNvSpPr/>
          <p:nvPr/>
        </p:nvSpPr>
        <p:spPr>
          <a:xfrm>
            <a:off x="6217920" y="5504688"/>
            <a:ext cx="5669280" cy="1005840"/>
          </a:xfrm>
          <a:prstGeom prst="rect">
            <a:avLst/>
          </a:prstGeom>
          <a:solidFill>
            <a:srgbClr val="FFFFFF"/>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5504688"/>
            <a:ext cx="5669280" cy="3200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1072" y="5550408"/>
            <a:ext cx="5559552" cy="256032"/>
          </a:xfrm>
          <a:prstGeom prst="rect">
            <a:avLst/>
          </a:prstGeom>
          <a:noFill/>
        </p:spPr>
        <p:txBody>
          <a:bodyPr wrap="square">
            <a:spAutoFit/>
          </a:bodyPr>
          <a:lstStyle/>
          <a:p>
            <a:pPr algn="l"/>
            <a:r>
              <a:rPr sz="1000" b="1" i="0">
                <a:solidFill>
                  <a:srgbClr val="FFFFFF"/>
                </a:solidFill>
              </a:rPr>
              <a:t>Q:  What if user enters letters for age?</a:t>
            </a:r>
          </a:p>
        </p:txBody>
      </p:sp>
      <p:sp>
        <p:nvSpPr>
          <p:cNvPr id="45" name="TextBox 44"/>
          <p:cNvSpPr txBox="1"/>
          <p:nvPr/>
        </p:nvSpPr>
        <p:spPr>
          <a:xfrm>
            <a:off x="6291072" y="5870448"/>
            <a:ext cx="5559552" cy="594360"/>
          </a:xfrm>
          <a:prstGeom prst="rect">
            <a:avLst/>
          </a:prstGeom>
          <a:noFill/>
        </p:spPr>
        <p:txBody>
          <a:bodyPr wrap="square">
            <a:spAutoFit/>
          </a:bodyPr>
          <a:lstStyle/>
          <a:p>
            <a:pPr algn="l"/>
            <a:r>
              <a:rPr sz="950" b="0" i="0">
                <a:solidFill>
                  <a:srgbClr val="0D2B55"/>
                </a:solidFill>
              </a:rPr>
              <a:t>A:  readInt() catches NumberFormatException and re-prompts. No crash possible — all input is wrapped in while(true).</a:t>
            </a:r>
          </a:p>
        </p:txBody>
      </p:sp>
      <p:sp>
        <p:nvSpPr>
          <p:cNvPr id="46" name="TextBox 45"/>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457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11247120" cy="640080"/>
          </a:xfrm>
          <a:prstGeom prst="rect">
            <a:avLst/>
          </a:prstGeom>
          <a:noFill/>
        </p:spPr>
        <p:txBody>
          <a:bodyPr wrap="square">
            <a:spAutoFit/>
          </a:bodyPr>
          <a:lstStyle/>
          <a:p>
            <a:pPr algn="ctr"/>
            <a:r>
              <a:rPr sz="3600" b="1" i="0">
                <a:solidFill>
                  <a:srgbClr val="FFFFFF"/>
                </a:solidFill>
              </a:rPr>
              <a:t>SPRINT 1 — COMPLETE</a:t>
            </a:r>
          </a:p>
        </p:txBody>
      </p:sp>
      <p:sp>
        <p:nvSpPr>
          <p:cNvPr id="5" name="TextBox 4"/>
          <p:cNvSpPr txBox="1"/>
          <p:nvPr/>
        </p:nvSpPr>
        <p:spPr>
          <a:xfrm>
            <a:off x="457200" y="1298448"/>
            <a:ext cx="11247120" cy="411480"/>
          </a:xfrm>
          <a:prstGeom prst="rect">
            <a:avLst/>
          </a:prstGeom>
          <a:noFill/>
        </p:spPr>
        <p:txBody>
          <a:bodyPr wrap="square">
            <a:spAutoFit/>
          </a:bodyPr>
          <a:lstStyle/>
          <a:p>
            <a:pPr algn="ctr"/>
            <a:r>
              <a:rPr sz="1500" b="0" i="0">
                <a:solidFill>
                  <a:srgbClr val="00BFD8"/>
                </a:solidFill>
              </a:rPr>
              <a:t>Marathon Runner Portal  ·  Core Java 17  ·  Console Application</a:t>
            </a:r>
          </a:p>
        </p:txBody>
      </p:sp>
      <p:sp>
        <p:nvSpPr>
          <p:cNvPr id="6" name="Rectangle 5"/>
          <p:cNvSpPr/>
          <p:nvPr/>
        </p:nvSpPr>
        <p:spPr>
          <a:xfrm>
            <a:off x="548640" y="2834640"/>
            <a:ext cx="2011680" cy="1554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926080"/>
            <a:ext cx="1920240" cy="822960"/>
          </a:xfrm>
          <a:prstGeom prst="rect">
            <a:avLst/>
          </a:prstGeom>
          <a:noFill/>
        </p:spPr>
        <p:txBody>
          <a:bodyPr wrap="square">
            <a:spAutoFit/>
          </a:bodyPr>
          <a:lstStyle/>
          <a:p>
            <a:pPr algn="ctr"/>
            <a:r>
              <a:rPr sz="3600" b="1" i="0">
                <a:solidFill>
                  <a:srgbClr val="FFFFFF"/>
                </a:solidFill>
              </a:rPr>
              <a:t>18/20</a:t>
            </a:r>
          </a:p>
        </p:txBody>
      </p:sp>
      <p:sp>
        <p:nvSpPr>
          <p:cNvPr id="8" name="TextBox 7"/>
          <p:cNvSpPr txBox="1"/>
          <p:nvPr/>
        </p:nvSpPr>
        <p:spPr>
          <a:xfrm>
            <a:off x="594360" y="3749039"/>
            <a:ext cx="1920240" cy="502920"/>
          </a:xfrm>
          <a:prstGeom prst="rect">
            <a:avLst/>
          </a:prstGeom>
          <a:noFill/>
        </p:spPr>
        <p:txBody>
          <a:bodyPr wrap="square">
            <a:spAutoFit/>
          </a:bodyPr>
          <a:lstStyle/>
          <a:p>
            <a:pPr algn="ctr"/>
            <a:r>
              <a:rPr sz="1050" b="0" i="0">
                <a:solidFill>
                  <a:srgbClr val="00BFD8"/>
                </a:solidFill>
              </a:rPr>
              <a:t>User Stories
Implemented</a:t>
            </a:r>
          </a:p>
        </p:txBody>
      </p:sp>
      <p:sp>
        <p:nvSpPr>
          <p:cNvPr id="9" name="Rectangle 8"/>
          <p:cNvSpPr/>
          <p:nvPr/>
        </p:nvSpPr>
        <p:spPr>
          <a:xfrm>
            <a:off x="2761488" y="2834640"/>
            <a:ext cx="2011680" cy="1554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7208" y="2926080"/>
            <a:ext cx="1920240" cy="822960"/>
          </a:xfrm>
          <a:prstGeom prst="rect">
            <a:avLst/>
          </a:prstGeom>
          <a:noFill/>
        </p:spPr>
        <p:txBody>
          <a:bodyPr wrap="square">
            <a:spAutoFit/>
          </a:bodyPr>
          <a:lstStyle/>
          <a:p>
            <a:pPr algn="ctr"/>
            <a:r>
              <a:rPr sz="3600" b="1" i="0">
                <a:solidFill>
                  <a:srgbClr val="FFFFFF"/>
                </a:solidFill>
              </a:rPr>
              <a:t>14/14</a:t>
            </a:r>
          </a:p>
        </p:txBody>
      </p:sp>
      <p:sp>
        <p:nvSpPr>
          <p:cNvPr id="11" name="TextBox 10"/>
          <p:cNvSpPr txBox="1"/>
          <p:nvPr/>
        </p:nvSpPr>
        <p:spPr>
          <a:xfrm>
            <a:off x="2807208" y="3749039"/>
            <a:ext cx="1920240" cy="502920"/>
          </a:xfrm>
          <a:prstGeom prst="rect">
            <a:avLst/>
          </a:prstGeom>
          <a:noFill/>
        </p:spPr>
        <p:txBody>
          <a:bodyPr wrap="square">
            <a:spAutoFit/>
          </a:bodyPr>
          <a:lstStyle/>
          <a:p>
            <a:pPr algn="ctr"/>
            <a:r>
              <a:rPr sz="1050" b="0" i="0">
                <a:solidFill>
                  <a:srgbClr val="00BFD8"/>
                </a:solidFill>
              </a:rPr>
              <a:t>Automated
Tests PASS</a:t>
            </a:r>
          </a:p>
        </p:txBody>
      </p:sp>
      <p:sp>
        <p:nvSpPr>
          <p:cNvPr id="12" name="Rectangle 11"/>
          <p:cNvSpPr/>
          <p:nvPr/>
        </p:nvSpPr>
        <p:spPr>
          <a:xfrm>
            <a:off x="4974336" y="2834640"/>
            <a:ext cx="2011680" cy="1554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0056" y="2926080"/>
            <a:ext cx="1920240" cy="822960"/>
          </a:xfrm>
          <a:prstGeom prst="rect">
            <a:avLst/>
          </a:prstGeom>
          <a:noFill/>
        </p:spPr>
        <p:txBody>
          <a:bodyPr wrap="square">
            <a:spAutoFit/>
          </a:bodyPr>
          <a:lstStyle/>
          <a:p>
            <a:pPr algn="ctr"/>
            <a:r>
              <a:rPr sz="3600" b="1" i="0">
                <a:solidFill>
                  <a:srgbClr val="FFFFFF"/>
                </a:solidFill>
              </a:rPr>
              <a:t>1505</a:t>
            </a:r>
          </a:p>
        </p:txBody>
      </p:sp>
      <p:sp>
        <p:nvSpPr>
          <p:cNvPr id="14" name="TextBox 13"/>
          <p:cNvSpPr txBox="1"/>
          <p:nvPr/>
        </p:nvSpPr>
        <p:spPr>
          <a:xfrm>
            <a:off x="5020056" y="3749039"/>
            <a:ext cx="1920240" cy="502920"/>
          </a:xfrm>
          <a:prstGeom prst="rect">
            <a:avLst/>
          </a:prstGeom>
          <a:noFill/>
        </p:spPr>
        <p:txBody>
          <a:bodyPr wrap="square">
            <a:spAutoFit/>
          </a:bodyPr>
          <a:lstStyle/>
          <a:p>
            <a:pPr algn="ctr"/>
            <a:r>
              <a:rPr sz="1050" b="0" i="0">
                <a:solidFill>
                  <a:srgbClr val="00BFD8"/>
                </a:solidFill>
              </a:rPr>
              <a:t>Lines of
Clean Code</a:t>
            </a:r>
          </a:p>
        </p:txBody>
      </p:sp>
      <p:sp>
        <p:nvSpPr>
          <p:cNvPr id="15" name="Rectangle 14"/>
          <p:cNvSpPr/>
          <p:nvPr/>
        </p:nvSpPr>
        <p:spPr>
          <a:xfrm>
            <a:off x="7187183" y="2834640"/>
            <a:ext cx="2011680" cy="1554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3" y="2926080"/>
            <a:ext cx="1920240" cy="822960"/>
          </a:xfrm>
          <a:prstGeom prst="rect">
            <a:avLst/>
          </a:prstGeom>
          <a:noFill/>
        </p:spPr>
        <p:txBody>
          <a:bodyPr wrap="square">
            <a:spAutoFit/>
          </a:bodyPr>
          <a:lstStyle/>
          <a:p>
            <a:pPr algn="ctr"/>
            <a:r>
              <a:rPr sz="3600" b="1" i="0">
                <a:solidFill>
                  <a:srgbClr val="FFFFFF"/>
                </a:solidFill>
              </a:rPr>
              <a:t>9</a:t>
            </a:r>
          </a:p>
        </p:txBody>
      </p:sp>
      <p:sp>
        <p:nvSpPr>
          <p:cNvPr id="17" name="TextBox 16"/>
          <p:cNvSpPr txBox="1"/>
          <p:nvPr/>
        </p:nvSpPr>
        <p:spPr>
          <a:xfrm>
            <a:off x="7232903" y="3749039"/>
            <a:ext cx="1920240" cy="502920"/>
          </a:xfrm>
          <a:prstGeom prst="rect">
            <a:avLst/>
          </a:prstGeom>
          <a:noFill/>
        </p:spPr>
        <p:txBody>
          <a:bodyPr wrap="square">
            <a:spAutoFit/>
          </a:bodyPr>
          <a:lstStyle/>
          <a:p>
            <a:pPr algn="ctr"/>
            <a:r>
              <a:rPr sz="1050" b="0" i="0">
                <a:solidFill>
                  <a:srgbClr val="00BFD8"/>
                </a:solidFill>
              </a:rPr>
              <a:t>Documentation
Files</a:t>
            </a:r>
          </a:p>
        </p:txBody>
      </p:sp>
      <p:sp>
        <p:nvSpPr>
          <p:cNvPr id="18" name="Rectangle 17"/>
          <p:cNvSpPr/>
          <p:nvPr/>
        </p:nvSpPr>
        <p:spPr>
          <a:xfrm>
            <a:off x="9400032" y="2834640"/>
            <a:ext cx="2011680" cy="15544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45752" y="2926080"/>
            <a:ext cx="1920240" cy="822960"/>
          </a:xfrm>
          <a:prstGeom prst="rect">
            <a:avLst/>
          </a:prstGeom>
          <a:noFill/>
        </p:spPr>
        <p:txBody>
          <a:bodyPr wrap="square">
            <a:spAutoFit/>
          </a:bodyPr>
          <a:lstStyle/>
          <a:p>
            <a:pPr algn="ctr"/>
            <a:r>
              <a:rPr sz="3600" b="1" i="0">
                <a:solidFill>
                  <a:srgbClr val="FFFFFF"/>
                </a:solidFill>
              </a:rPr>
              <a:t>0</a:t>
            </a:r>
          </a:p>
        </p:txBody>
      </p:sp>
      <p:sp>
        <p:nvSpPr>
          <p:cNvPr id="20" name="TextBox 19"/>
          <p:cNvSpPr txBox="1"/>
          <p:nvPr/>
        </p:nvSpPr>
        <p:spPr>
          <a:xfrm>
            <a:off x="9445752" y="3749039"/>
            <a:ext cx="1920240" cy="502920"/>
          </a:xfrm>
          <a:prstGeom prst="rect">
            <a:avLst/>
          </a:prstGeom>
          <a:noFill/>
        </p:spPr>
        <p:txBody>
          <a:bodyPr wrap="square">
            <a:spAutoFit/>
          </a:bodyPr>
          <a:lstStyle/>
          <a:p>
            <a:pPr algn="ctr"/>
            <a:r>
              <a:rPr sz="1050" b="0" i="0">
                <a:solidFill>
                  <a:srgbClr val="00BFD8"/>
                </a:solidFill>
              </a:rPr>
              <a:t>Critical
Defects</a:t>
            </a:r>
          </a:p>
        </p:txBody>
      </p:sp>
      <p:sp>
        <p:nvSpPr>
          <p:cNvPr id="21" name="TextBox 20"/>
          <p:cNvSpPr txBox="1"/>
          <p:nvPr/>
        </p:nvSpPr>
        <p:spPr>
          <a:xfrm>
            <a:off x="457200" y="4663440"/>
            <a:ext cx="11155680" cy="320040"/>
          </a:xfrm>
          <a:prstGeom prst="rect">
            <a:avLst/>
          </a:prstGeom>
          <a:noFill/>
        </p:spPr>
        <p:txBody>
          <a:bodyPr wrap="square">
            <a:spAutoFit/>
          </a:bodyPr>
          <a:lstStyle/>
          <a:p>
            <a:pPr algn="ctr"/>
            <a:r>
              <a:rPr sz="1300" b="1" i="0">
                <a:solidFill>
                  <a:srgbClr val="00BFD8"/>
                </a:solidFill>
              </a:rPr>
              <a:t>LEARNING OUTCOMES</a:t>
            </a:r>
          </a:p>
        </p:txBody>
      </p:sp>
      <p:sp>
        <p:nvSpPr>
          <p:cNvPr id="22" name="TextBox 21"/>
          <p:cNvSpPr txBox="1"/>
          <p:nvPr/>
        </p:nvSpPr>
        <p:spPr>
          <a:xfrm>
            <a:off x="457200" y="5029200"/>
            <a:ext cx="11155680" cy="320040"/>
          </a:xfrm>
          <a:prstGeom prst="rect">
            <a:avLst/>
          </a:prstGeom>
          <a:noFill/>
        </p:spPr>
        <p:txBody>
          <a:bodyPr wrap="square">
            <a:spAutoFit/>
          </a:bodyPr>
          <a:lstStyle/>
          <a:p>
            <a:pPr algn="ctr"/>
            <a:r>
              <a:rPr sz="1200" b="0" i="0">
                <a:solidFill>
                  <a:srgbClr val="FFFFFF"/>
                </a:solidFill>
              </a:rPr>
              <a:t>OOP Principles  ·  Layered Architecture  ·  Java Collections  ·  Exception Handling  ·  File I/O  ·  Time API  ·  Agile Development</a:t>
            </a:r>
          </a:p>
        </p:txBody>
      </p:sp>
      <p:sp>
        <p:nvSpPr>
          <p:cNvPr id="23" name="TextBox 22"/>
          <p:cNvSpPr txBox="1"/>
          <p:nvPr/>
        </p:nvSpPr>
        <p:spPr>
          <a:xfrm>
            <a:off x="457200" y="5486400"/>
            <a:ext cx="11155680" cy="274320"/>
          </a:xfrm>
          <a:prstGeom prst="rect">
            <a:avLst/>
          </a:prstGeom>
          <a:noFill/>
        </p:spPr>
        <p:txBody>
          <a:bodyPr wrap="square">
            <a:spAutoFit/>
          </a:bodyPr>
          <a:lstStyle/>
          <a:p>
            <a:pPr algn="ctr"/>
            <a:r>
              <a:rPr sz="1200" b="1" i="0">
                <a:solidFill>
                  <a:srgbClr val="00BFD8"/>
                </a:solidFill>
              </a:rPr>
              <a:t>FUTURE SCOPE</a:t>
            </a:r>
          </a:p>
        </p:txBody>
      </p:sp>
      <p:sp>
        <p:nvSpPr>
          <p:cNvPr id="24" name="TextBox 23"/>
          <p:cNvSpPr txBox="1"/>
          <p:nvPr/>
        </p:nvSpPr>
        <p:spPr>
          <a:xfrm>
            <a:off x="457200" y="5806440"/>
            <a:ext cx="11155680" cy="274320"/>
          </a:xfrm>
          <a:prstGeom prst="rect">
            <a:avLst/>
          </a:prstGeom>
          <a:noFill/>
        </p:spPr>
        <p:txBody>
          <a:bodyPr wrap="square">
            <a:spAutoFit/>
          </a:bodyPr>
          <a:lstStyle/>
          <a:p>
            <a:pPr algn="ctr"/>
            <a:r>
              <a:rPr sz="1050" b="0" i="0">
                <a:solidFill>
                  <a:srgbClr val="CCDDFF"/>
                </a:solidFill>
              </a:rPr>
              <a:t>Top 3 Leaderboard  ·  Forum Posts Export  ·  Force Race Cancellation with Refund  ·  Admin Activity Audit Trail  ·  File-Based Persistence</a:t>
            </a:r>
          </a:p>
        </p:txBody>
      </p:sp>
      <p:sp>
        <p:nvSpPr>
          <p:cNvPr id="25" name="TextBox 24"/>
          <p:cNvSpPr txBox="1"/>
          <p:nvPr/>
        </p:nvSpPr>
        <p:spPr>
          <a:xfrm>
            <a:off x="457200" y="6263640"/>
            <a:ext cx="11155680" cy="411480"/>
          </a:xfrm>
          <a:prstGeom prst="rect">
            <a:avLst/>
          </a:prstGeom>
          <a:noFill/>
        </p:spPr>
        <p:txBody>
          <a:bodyPr wrap="square">
            <a:spAutoFit/>
          </a:bodyPr>
          <a:lstStyle/>
          <a:p>
            <a:pPr algn="ctr"/>
            <a:r>
              <a:rPr sz="2000" b="1" i="0">
                <a:solidFill>
                  <a:srgbClr val="FFFFFF"/>
                </a:solidFill>
              </a:rPr>
              <a:t>Thank You  🙏</a:t>
            </a:r>
          </a:p>
        </p:txBody>
      </p:sp>
      <p:sp>
        <p:nvSpPr>
          <p:cNvPr id="26" name="TextBox 25"/>
          <p:cNvSpPr txBox="1"/>
          <p:nvPr/>
        </p:nvSpPr>
        <p:spPr>
          <a:xfrm>
            <a:off x="11183112" y="6510528"/>
            <a:ext cx="822960" cy="274320"/>
          </a:xfrm>
          <a:prstGeom prst="rect">
            <a:avLst/>
          </a:prstGeom>
          <a:noFill/>
        </p:spPr>
        <p:txBody>
          <a:bodyPr wrap="square">
            <a:spAutoFit/>
          </a:bodyPr>
          <a:lstStyle/>
          <a:p>
            <a:pPr algn="r"/>
            <a:r>
              <a:rPr sz="900" b="0" i="0">
                <a:solidFill>
                  <a:srgbClr val="9E9E9E"/>
                </a:solidFill>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